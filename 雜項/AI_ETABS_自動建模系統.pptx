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343" r:id="rId2"/>
    <p:sldId id="344" r:id="rId3"/>
    <p:sldId id="348" r:id="rId4"/>
    <p:sldId id="346" r:id="rId5"/>
    <p:sldId id="330" r:id="rId6"/>
    <p:sldId id="331" r:id="rId7"/>
    <p:sldId id="332" r:id="rId8"/>
    <p:sldId id="333" r:id="rId9"/>
    <p:sldId id="334" r:id="rId10"/>
    <p:sldId id="335" r:id="rId11"/>
    <p:sldId id="337" r:id="rId12"/>
    <p:sldId id="338" r:id="rId13"/>
    <p:sldId id="339" r:id="rId14"/>
    <p:sldId id="340" r:id="rId15"/>
    <p:sldId id="34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7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E5F02-34D6-497E-9AF4-8E66B05254AD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73C71-34AA-4747-9D6A-DB522F0899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832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Microsoft JhengHei"/>
              </a:defRPr>
            </a:pPr>
            <a:r>
              <a:rPr dirty="0">
                <a:solidFill>
                  <a:srgbClr val="000000"/>
                </a:solidFill>
              </a:rPr>
              <a:t>用 AI Agent </a:t>
            </a:r>
            <a:r>
              <a:rPr dirty="0" err="1">
                <a:solidFill>
                  <a:srgbClr val="000000"/>
                </a:solidFill>
              </a:rPr>
              <a:t>打造智能工作流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從概念到落地——分層架構的力量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47695" cy="3657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2026 | Structural AI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22653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從 ChatBot 到 Agent — AI 的進化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被動問答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互動模式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9260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你問一句、它答一句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工具能力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611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只能產生文字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協作方式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2976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單一對話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983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一段回答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52160" y="3200400"/>
            <a:ext cx="54864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進化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主動執行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互動模式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9260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給任務，自己拆解步驟完成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6751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工具能力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6118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讀寫檔案、執行程式、操作工具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協作方式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2976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多 Agent 分工合作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結果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9834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實際成果 — 檔案、模型、報告</a:t>
            </a:r>
          </a:p>
        </p:txBody>
      </p:sp>
    </p:spTree>
    <p:extLst>
      <p:ext uri="{BB962C8B-B14F-4D97-AF65-F5344CB8AC3E}">
        <p14:creationId xmlns:p14="http://schemas.microsoft.com/office/powerpoint/2010/main" val="1865021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Claude Code：讓 Agent 落地的平台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Microsoft JhengHei"/>
              </a:defRPr>
            </a:pPr>
            <a:r>
              <a:rPr lang="zh-TW" dirty="0">
                <a:solidFill>
                  <a:srgbClr val="888888"/>
                </a:solidFill>
              </a:rPr>
              <a:t>概念篇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Microsoft JhengHei"/>
              </a:defRPr>
            </a:pPr>
            <a:r>
              <a:rPr lang="zh-TW" dirty="0">
                <a:solidFill>
                  <a:srgbClr val="888888"/>
                </a:solidFill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命令列工具（CLI）</a:t>
            </a:r>
          </a:p>
          <a:p>
            <a:pPr algn="l">
              <a:spcAft>
                <a:spcPts val="760"/>
              </a:spcAft>
              <a:defRPr sz="1800" b="0">
                <a:solidFill>
                  <a:srgbClr val="A5A5A5"/>
                </a:solidFill>
                <a:latin typeface="Microsoft JhengHei"/>
              </a:defRPr>
            </a:pPr>
            <a:r>
              <a:rPr lang="zh-TW" dirty="0">
                <a:solidFill>
                  <a:srgbClr val="A5A5A5"/>
                </a:solidFill>
              </a:rPr>
              <a:t>在</a:t>
            </a:r>
            <a:r>
              <a:rPr lang="zh-TW" dirty="0"/>
              <a:t>終端機直接與 AI 對話、下達任務</a:t>
            </a:r>
          </a:p>
          <a:p>
            <a:pPr algn="l">
              <a:spcAft>
                <a:spcPts val="760"/>
              </a:spcAft>
              <a:defRPr sz="18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不是通用聊天工具，是專業工作平台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2560320" cy="1097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399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讀寫任何檔案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063240"/>
            <a:ext cx="2560320" cy="1097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00399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執行程式碼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2560320" cy="1097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操作外部工具與軟體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434840"/>
            <a:ext cx="2560320" cy="1097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45262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572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自訂指令 · Agent · 技能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463040"/>
            <a:ext cx="5303520" cy="48463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0" y="1463040"/>
            <a:ext cx="5303520" cy="411480"/>
          </a:xfrm>
          <a:prstGeom prst="round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A5A5"/>
                </a:solidFill>
                <a:latin typeface="Consolas"/>
              </a:defRPr>
            </a:pPr>
            <a:r>
              <a:rPr lang="zh-TW" dirty="0">
                <a:solidFill>
                  <a:srgbClr val="A5A5A5"/>
                </a:solidFill>
              </a:rPr>
              <a:t>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84632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CCCCCC"/>
                </a:solidFill>
                <a:latin typeface="Consolas"/>
              </a:defRPr>
            </a:pPr>
            <a:r>
              <a:rPr lang="zh-TW" dirty="0"/>
              <a:t>&gt; 請幫我讀取結構平面圖並建立模型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CCCCC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400" b="0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正在讀取 A21_3F.pdf ...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辨識到 Grid: X 5軸, Y 5軸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辨識到 柱: 12 種斷面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辨識到 梁: 8 種斷面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CCCCC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400" b="0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生成 model_config.json ...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啟動 Golden Scripts 建模 ...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CCCCC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Step 01/11: 材料定義 ✓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Step 02/11: 斷面展開 ✓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Step 03/11: Grid+樓層 ✓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888888"/>
                </a:solidFill>
                <a:latin typeface="Consolas"/>
              </a:defRPr>
            </a:pPr>
            <a:r>
              <a:rPr lang="zh-TW" dirty="0">
                <a:solidFill>
                  <a:srgbClr val="888888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160708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六層架構</a:t>
            </a:r>
            <a:r>
              <a:rPr dirty="0">
                <a:solidFill>
                  <a:srgbClr val="000000"/>
                </a:solidFill>
              </a:rPr>
              <a:t> — </a:t>
            </a:r>
            <a:r>
              <a:rPr dirty="0" err="1">
                <a:solidFill>
                  <a:srgbClr val="000000"/>
                </a:solidFill>
              </a:rPr>
              <a:t>從知識到執行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190" y="5413248"/>
            <a:ext cx="10058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26210" y="5550408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層：專案說明書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MARKDOWN.MD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00062" y="5458968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工作手冊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1990" y="4608576"/>
            <a:ext cx="86868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03450" y="4769685"/>
            <a:ext cx="477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2 層：工作流命令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90334" y="465429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一鍵啟動流程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7790" y="3803904"/>
            <a:ext cx="73152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20670" y="3986784"/>
            <a:ext cx="40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3 層：AI 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80606" y="3849623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多專家分工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3590" y="2999232"/>
            <a:ext cx="59436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01898" y="3144085"/>
            <a:ext cx="347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4 層：專業技能模組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70878" y="30449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可複用知識庫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09390" y="2194559"/>
            <a:ext cx="45720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92270" y="224027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5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確定性執行腳本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150" y="224027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同輸入 = 同輸出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5190" y="1389887"/>
            <a:ext cx="3200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78070" y="1435607"/>
            <a:ext cx="17602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6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自動化驗證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422" y="1435607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dirty="0" err="1">
                <a:solidFill>
                  <a:srgbClr val="70AD47"/>
                </a:solidFill>
              </a:rPr>
              <a:t>每次自動品質檢查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91870" y="6316763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每一層解決一個問題：知識 → 流程 → 分工 → 專業 → 執行 → 品管</a:t>
            </a:r>
          </a:p>
        </p:txBody>
      </p:sp>
    </p:spTree>
    <p:extLst>
      <p:ext uri="{BB962C8B-B14F-4D97-AF65-F5344CB8AC3E}">
        <p14:creationId xmlns:p14="http://schemas.microsoft.com/office/powerpoint/2010/main" val="2520502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層：AI 的工作手冊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0390" y="32004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0390" y="365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44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58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687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280160"/>
            <a:ext cx="5303520" cy="48463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194560"/>
            <a:ext cx="45720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23774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不可建立 SDL 載重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309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</p:spTree>
    <p:extLst>
      <p:ext uri="{BB962C8B-B14F-4D97-AF65-F5344CB8AC3E}">
        <p14:creationId xmlns:p14="http://schemas.microsoft.com/office/powerpoint/2010/main" val="2054490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2 層：一鍵啟動完整流程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35661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38138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93214"/>
            <a:ext cx="2286000" cy="1371600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58974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7247" y="2550414"/>
            <a:ext cx="73152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4164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7367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7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7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輸入完整？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9729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61887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07607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7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7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組建 Agent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717535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88212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27848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步驟自動編排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3777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0236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48088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自動驗證結果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一個命令 = 一條完整的生產線</a:t>
            </a:r>
          </a:p>
          <a:p>
            <a:pPr algn="l">
              <a:spcAft>
                <a:spcPts val="760"/>
              </a:spcAft>
              <a:defRPr sz="18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使用者只需一行指令，系統自動編排所有步驟</a:t>
            </a:r>
          </a:p>
          <a:p>
            <a:pPr algn="l">
              <a:spcAft>
                <a:spcPts val="760"/>
              </a:spcAft>
              <a:defRPr sz="8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760"/>
              </a:spcAft>
              <a:defRPr sz="18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類比：工廠的生產線按鈕 — 按一下，整條產線啟動</a:t>
            </a:r>
          </a:p>
        </p:txBody>
      </p:sp>
    </p:spTree>
    <p:extLst>
      <p:ext uri="{BB962C8B-B14F-4D97-AF65-F5344CB8AC3E}">
        <p14:creationId xmlns:p14="http://schemas.microsoft.com/office/powerpoint/2010/main" val="290233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讀圖專家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017520"/>
            <a:ext cx="237744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判讀圖紙、辨識構件</a:t>
            </a:r>
            <a:br/>
            <a:r>
              <a:rPr lang="zh-TW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017520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精準定位座標</a:t>
            </a:r>
            <a:br/>
            <a:r>
              <a:rPr lang="zh-TW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整合專家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3017520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彙整所有資訊</a:t>
            </a:r>
            <a:br/>
            <a:r>
              <a:rPr lang="zh-TW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297680" y="2286000"/>
            <a:ext cx="27432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51960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138160" y="2286000"/>
            <a:ext cx="27432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</p:spTree>
    <p:extLst>
      <p:ext uri="{BB962C8B-B14F-4D97-AF65-F5344CB8AC3E}">
        <p14:creationId xmlns:p14="http://schemas.microsoft.com/office/powerpoint/2010/main" val="1978814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4 層：可複用的知識庫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技能模組 = 封裝好的專業知識</a:t>
            </a:r>
          </a:p>
          <a:p>
            <a:pPr algn="l">
              <a:spcAft>
                <a:spcPts val="760"/>
              </a:spcAft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Domain Knowledge，打包成可重複使用的模組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跨專案共享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同一份專業知識</a:t>
            </a:r>
            <a:br>
              <a:rPr dirty="0"/>
            </a:br>
            <a:r>
              <a:rPr lang="zh-TW" dirty="0">
                <a:solidFill>
                  <a:srgbClr val="555555"/>
                </a:solidFill>
              </a:rPr>
              <a:t>可用於不同案件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隨時更新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規則變了改一處</a:t>
            </a:r>
            <a:br/>
            <a:r>
              <a:rPr lang="zh-TW" dirty="0">
                <a:solidFill>
                  <a:srgbClr val="555555"/>
                </a:solidFill>
              </a:rPr>
              <a:t>全案生效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標準化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所有 Agent 引用同一套知識</a:t>
            </a:r>
            <a:br/>
            <a:r>
              <a:rPr lang="zh-TW" dirty="0">
                <a:solidFill>
                  <a:srgbClr val="555555"/>
                </a:solidFill>
              </a:rPr>
              <a:t>不會各說各話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280160"/>
            <a:ext cx="5303520" cy="13716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類比：專業教科書 / 參考手冊 — 每個工程師桌上都有一本，翻開就能查</a:t>
            </a:r>
          </a:p>
        </p:txBody>
      </p:sp>
    </p:spTree>
    <p:extLst>
      <p:ext uri="{BB962C8B-B14F-4D97-AF65-F5344CB8AC3E}">
        <p14:creationId xmlns:p14="http://schemas.microsoft.com/office/powerpoint/2010/main" val="3083420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5 層：AI 理解，程式執行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3141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37713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🧠 AI 負責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108960" cy="1408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dirty="0" err="1">
                <a:solidFill>
                  <a:srgbClr val="444444"/>
                </a:solidFill>
              </a:rPr>
              <a:t>讀懂需求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理解自然語言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判讀圖紙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處理模糊資訊</a:t>
            </a:r>
            <a:endParaRPr dirty="0"/>
          </a:p>
        </p:txBody>
      </p:sp>
      <p:sp>
        <p:nvSpPr>
          <p:cNvPr id="11" name="Right Arrow 10"/>
          <p:cNvSpPr/>
          <p:nvPr/>
        </p:nvSpPr>
        <p:spPr>
          <a:xfrm>
            <a:off x="4297680" y="2743200"/>
            <a:ext cx="548640" cy="36576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37760" y="1828800"/>
            <a:ext cx="2286000" cy="27432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規格書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設定檔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結構化資料</a:t>
            </a:r>
          </a:p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JSON 格式</a:t>
            </a:r>
          </a:p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可版控追溯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15200" y="2743200"/>
            <a:ext cx="548640" cy="36576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55279" y="1645920"/>
            <a:ext cx="347472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⚙️ 程式負責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dirty="0" err="1">
                <a:solidFill>
                  <a:srgbClr val="444444"/>
                </a:solidFill>
              </a:rPr>
              <a:t>精準動作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數值計算零誤差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同輸入</a:t>
            </a:r>
            <a:r>
              <a:rPr dirty="0">
                <a:solidFill>
                  <a:srgbClr val="555555"/>
                </a:solidFill>
              </a:rPr>
              <a:t> = </a:t>
            </a:r>
            <a:r>
              <a:rPr dirty="0" err="1">
                <a:solidFill>
                  <a:srgbClr val="555555"/>
                </a:solidFill>
              </a:rPr>
              <a:t>同輸出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大量重複操作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確定性 = 同樣的輸入，永遠得到同樣的結果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類比：AI 是建築師，腳本是施工隊 — 建築師畫好圖，施工隊照圖施工，不會自己改設計</a:t>
            </a:r>
          </a:p>
        </p:txBody>
      </p:sp>
    </p:spTree>
    <p:extLst>
      <p:ext uri="{BB962C8B-B14F-4D97-AF65-F5344CB8AC3E}">
        <p14:creationId xmlns:p14="http://schemas.microsoft.com/office/powerpoint/2010/main" val="143151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6 層：每次執行，自動品質檢查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10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每次執行完成後，自動跑品質檢測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2082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122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122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數值正確性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780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所有參數、設定值是否正確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1810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095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9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完整性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753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該有的東西是否都有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1538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068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068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725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結果是否與規格書吻合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1266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404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04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不通過時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9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精確指出哪裡有問題，不是模糊的「有錯」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463040"/>
            <a:ext cx="50292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品質檢測報告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1031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數值正確性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參數值在合理範圍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設定值與規則一致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完整性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所有必要構件已建立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載重型態完整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一致性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結果與規格書吻合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命名規則正確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════ ALL PASSED ════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類比：出廠品管 — 每一件產品離開產線前都要過 QC，不合格不出貨</a:t>
            </a:r>
          </a:p>
        </p:txBody>
      </p:sp>
    </p:spTree>
    <p:extLst>
      <p:ext uri="{BB962C8B-B14F-4D97-AF65-F5344CB8AC3E}">
        <p14:creationId xmlns:p14="http://schemas.microsoft.com/office/powerpoint/2010/main" val="882465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各取所長 — AI 理解 + 程式執行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 · 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11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57200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🧠 AI 擅長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理解自然語言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判讀圖紙與文件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處理模糊、不完整的資訊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跨領域知識整合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463040"/>
            <a:ext cx="457200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1554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⚙️ 程式擅長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286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精準執行指令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數值計算零誤差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同輸入 = 同輸出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931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毫秒級大量重複操作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937760"/>
            <a:ext cx="3931920" cy="13716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50292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結構化設定檔（規格書）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5778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AI 產出 ←→ 程式讀取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743200" y="4754880"/>
            <a:ext cx="365760" cy="548640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16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產出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961120" y="4754880"/>
            <a:ext cx="365760" cy="548640"/>
          </a:xfrm>
          <a:prstGeom prst="down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程式讀取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核心原則：讓 AI 做 AI 擅長的事，讓程式做程式擅長的事</a:t>
            </a:r>
          </a:p>
        </p:txBody>
      </p:sp>
    </p:spTree>
    <p:extLst>
      <p:ext uri="{BB962C8B-B14F-4D97-AF65-F5344CB8AC3E}">
        <p14:creationId xmlns:p14="http://schemas.microsoft.com/office/powerpoint/2010/main" val="511877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1828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痛點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99"/>
              </a:spcAft>
              <a:defRPr sz="17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一棟 20 層建築 → ETABS 建模需 </a:t>
            </a:r>
            <a:r>
              <a:rPr lang="en-US" altLang="zh-TW" dirty="0">
                <a:solidFill>
                  <a:srgbClr val="444444"/>
                </a:solidFill>
              </a:rPr>
              <a:t>1</a:t>
            </a:r>
            <a:r>
              <a:rPr lang="zh-TW" dirty="0">
                <a:solidFill>
                  <a:srgbClr val="444444"/>
                </a:solidFill>
              </a:rPr>
              <a:t>-</a:t>
            </a:r>
            <a:r>
              <a:rPr lang="en-US" altLang="zh-TW" dirty="0">
                <a:solidFill>
                  <a:srgbClr val="444444"/>
                </a:solidFill>
              </a:rPr>
              <a:t>2</a:t>
            </a:r>
            <a:r>
              <a:rPr lang="zh-TW" dirty="0">
                <a:solidFill>
                  <a:srgbClr val="444444"/>
                </a:solidFill>
              </a:rPr>
              <a:t> 天</a:t>
            </a:r>
          </a:p>
          <a:p>
            <a:pPr algn="l">
              <a:spcAft>
                <a:spcPts val="699"/>
              </a:spcAft>
              <a:defRPr sz="15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讀圖→Grid→斷面→柱梁牆→配筋→載重→檢查，</a:t>
            </a:r>
            <a:endParaRPr lang="en-US" altLang="zh-TW" dirty="0">
              <a:solidFill>
                <a:srgbClr val="555555"/>
              </a:solidFill>
            </a:endParaRPr>
          </a:p>
          <a:p>
            <a:pPr algn="l">
              <a:spcAft>
                <a:spcPts val="699"/>
              </a:spcAft>
              <a:defRPr sz="15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全程</a:t>
            </a:r>
            <a:r>
              <a:rPr lang="zh-TW" altLang="en-US" dirty="0">
                <a:solidFill>
                  <a:srgbClr val="555555"/>
                </a:solidFill>
              </a:rPr>
              <a:t>人工</a:t>
            </a:r>
            <a:r>
              <a:rPr lang="zh-TW" dirty="0">
                <a:solidFill>
                  <a:srgbClr val="555555"/>
                </a:solidFill>
              </a:rPr>
              <a:t>手動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1828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解決方案：套用六層架構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34366"/>
            <a:ext cx="5120640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99"/>
              </a:spcAft>
              <a:defRPr sz="17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全程 </a:t>
            </a:r>
            <a:r>
              <a:rPr lang="en-US" altLang="zh-TW" dirty="0">
                <a:solidFill>
                  <a:srgbClr val="444444"/>
                </a:solidFill>
              </a:rPr>
              <a:t>30</a:t>
            </a:r>
            <a:r>
              <a:rPr lang="zh-TW" dirty="0">
                <a:solidFill>
                  <a:srgbClr val="444444"/>
                </a:solidFill>
              </a:rPr>
              <a:t>-</a:t>
            </a:r>
            <a:r>
              <a:rPr lang="en-US" altLang="zh-TW" dirty="0">
                <a:solidFill>
                  <a:srgbClr val="444444"/>
                </a:solidFill>
              </a:rPr>
              <a:t>60</a:t>
            </a:r>
            <a:r>
              <a:rPr lang="zh-TW" dirty="0">
                <a:solidFill>
                  <a:srgbClr val="444444"/>
                </a:solidFill>
              </a:rPr>
              <a:t> 分鐘，零手動</a:t>
            </a:r>
          </a:p>
          <a:p>
            <a:pPr algn="l">
              <a:spcAft>
                <a:spcPts val="699"/>
              </a:spcAft>
              <a:defRPr sz="15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讀圖理解 + 確定性程式碼建模 + 自動驗證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讀圖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判讀結構圖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~</a:t>
            </a:r>
            <a:r>
              <a:rPr lang="en-US" altLang="zh-TW" dirty="0">
                <a:solidFill>
                  <a:srgbClr val="FFC000"/>
                </a:solidFill>
              </a:rPr>
              <a:t>10</a:t>
            </a:r>
            <a:r>
              <a:rPr lang="zh-TW" dirty="0">
                <a:solidFill>
                  <a:srgbClr val="FFC000"/>
                </a:solidFill>
              </a:rPr>
              <a:t> 分鐘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60520" y="4846320"/>
            <a:ext cx="274320" cy="36576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AI 整合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生成規格書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303520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~</a:t>
            </a:r>
            <a:r>
              <a:rPr lang="en-US" altLang="zh-TW" dirty="0">
                <a:solidFill>
                  <a:srgbClr val="FFC000"/>
                </a:solidFill>
              </a:rPr>
              <a:t>15</a:t>
            </a:r>
            <a:r>
              <a:rPr lang="zh-TW" dirty="0">
                <a:solidFill>
                  <a:srgbClr val="FFC000"/>
                </a:solidFill>
              </a:rPr>
              <a:t>分鐘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01000" y="4846320"/>
            <a:ext cx="274320" cy="36576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98205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程式建模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8205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11 步確定性執行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8205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~10 分鐘</a:t>
            </a:r>
          </a:p>
        </p:txBody>
      </p:sp>
    </p:spTree>
    <p:extLst>
      <p:ext uri="{BB962C8B-B14F-4D97-AF65-F5344CB8AC3E}">
        <p14:creationId xmlns:p14="http://schemas.microsoft.com/office/powerpoint/2010/main" val="1036535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真實專案成果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778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7026"/>
                </a:solidFill>
                <a:latin typeface="Microsoft JhengHei"/>
              </a:defRPr>
            </a:pPr>
            <a:r>
              <a:rPr lang="zh-TW" altLang="en-US" dirty="0">
                <a:solidFill>
                  <a:srgbClr val="E27026"/>
                </a:solidFill>
              </a:rPr>
              <a:t>範例模型</a:t>
            </a:r>
            <a:endParaRPr lang="zh-TW" dirty="0">
              <a:solidFill>
                <a:srgbClr val="E2702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486400" cy="4114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規模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18 層（B3F–PRF，含 3 層地下室 + 屋突）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X: 5 軸  /  Y: 5 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斷面種類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15+ 種（柱/梁/小梁/牆梁/基礎梁）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混凝土強度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2976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C280–C490（分層配置）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建模時間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37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~ 15 分鐘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品質驗證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577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9/9 自動測試全數通過 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463040"/>
            <a:ext cx="5029200" cy="48463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30175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[ ETABS 3D 模型截圖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8404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請替換為實際模型渲染圖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698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Demo：拿到圖紙 </a:t>
            </a:r>
            <a:r>
              <a:rPr lang="zh-TW" altLang="zh-TW" dirty="0">
                <a:solidFill>
                  <a:srgbClr val="4472C4"/>
                </a:solidFill>
              </a:rPr>
              <a:t>→ </a:t>
            </a:r>
            <a:r>
              <a:rPr lang="zh-TW" altLang="en-US" dirty="0">
                <a:solidFill>
                  <a:srgbClr val="4472C4"/>
                </a:solidFill>
              </a:rPr>
              <a:t>畫上結構配置</a:t>
            </a:r>
            <a:r>
              <a:rPr lang="zh-TW" dirty="0">
                <a:solidFill>
                  <a:srgbClr val="4472C4"/>
                </a:solidFill>
              </a:rPr>
              <a:t>→ 一鍵啟動 → AI 讀圖 → 生成規格書 → 自動建模 → 驗證通過 → 完成</a:t>
            </a:r>
          </a:p>
        </p:txBody>
      </p:sp>
    </p:spTree>
    <p:extLst>
      <p:ext uri="{BB962C8B-B14F-4D97-AF65-F5344CB8AC3E}">
        <p14:creationId xmlns:p14="http://schemas.microsoft.com/office/powerpoint/2010/main" val="1957171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數字會說話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8300" y="6419215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100" y="1270000"/>
            <a:ext cx="11099800" cy="558800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3100" y="1320800"/>
            <a:ext cx="254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0100" y="1320800"/>
            <a:ext cx="368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🔴 傳統方式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100" y="1320800"/>
            <a:ext cx="4749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🟢 AI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6100" y="182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3100" y="193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建模時間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0100" y="1930400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ED7D31"/>
                </a:solidFill>
              </a:rPr>
              <a:t>1</a:t>
            </a:r>
            <a:r>
              <a:rPr lang="zh-TW" dirty="0">
                <a:solidFill>
                  <a:srgbClr val="ED7D31"/>
                </a:solidFill>
              </a:rPr>
              <a:t>–</a:t>
            </a:r>
            <a:r>
              <a:rPr lang="en-US" altLang="zh-TW" dirty="0">
                <a:solidFill>
                  <a:srgbClr val="ED7D31"/>
                </a:solidFill>
              </a:rPr>
              <a:t>2</a:t>
            </a:r>
            <a:r>
              <a:rPr lang="zh-TW" dirty="0">
                <a:solidFill>
                  <a:srgbClr val="ED7D31"/>
                </a:solidFill>
              </a:rPr>
              <a:t>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100" y="1930400"/>
            <a:ext cx="474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70AD47"/>
                </a:solidFill>
              </a:rPr>
              <a:t>30-60</a:t>
            </a:r>
            <a:r>
              <a:rPr lang="zh-TW" dirty="0">
                <a:solidFill>
                  <a:srgbClr val="70AD47"/>
                </a:solidFill>
              </a:rPr>
              <a:t>分鐘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100" y="2463800"/>
            <a:ext cx="11099800" cy="6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100" y="2565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人工介入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0100" y="2565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全程手動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100" y="2565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僅審圖確認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6100" y="309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100" y="320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參數錯誤率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0100" y="3200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偶發（難全檢）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100" y="3200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sz="1600" b="1" dirty="0">
                <a:solidFill>
                  <a:srgbClr val="70AD47"/>
                </a:solidFill>
                <a:latin typeface="Microsoft JhengHei"/>
              </a:rPr>
              <a:t>0（規則寫在程式碼裡）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6100" y="3733800"/>
            <a:ext cx="11099800" cy="6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100" y="3835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可重現性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0100" y="3835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低（因人而異）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100" y="3835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sz="1600" b="1" dirty="0">
                <a:solidFill>
                  <a:srgbClr val="70AD47"/>
                </a:solidFill>
                <a:latin typeface="Microsoft JhengHei"/>
              </a:rPr>
              <a:t>100%（同規格＝同結果）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6100" y="436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3100" y="447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品質驗證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0100" y="4470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人工目視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100" y="4470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自動化測試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9100" y="5252105"/>
            <a:ext cx="444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省 100+ 天/年 工程師工時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9500" y="5232400"/>
            <a:ext cx="5486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又快又準，每次一致</a:t>
            </a:r>
          </a:p>
        </p:txBody>
      </p:sp>
    </p:spTree>
    <p:extLst>
      <p:ext uri="{BB962C8B-B14F-4D97-AF65-F5344CB8AC3E}">
        <p14:creationId xmlns:p14="http://schemas.microsoft.com/office/powerpoint/2010/main" val="3112621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不只是結構建模 — 架構可移植到任何場景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15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六層架構的核心邏輯：AI 理解 + 確定性執行 + 自動驗證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只要符合這個模式的工作流，都能套用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🏗️  結構建模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74720"/>
            <a:ext cx="19659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讀懂結構圖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自動建 ETABS 模型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參數/構件品質檢查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834640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926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 報告生成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3474720"/>
            <a:ext cx="196596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36576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讀懂分析結果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自動排版出報告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格式/內容完整性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834640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79" y="2926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📐  圖紙審查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474720"/>
            <a:ext cx="196596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6576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讀懂圖紙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自動比對規範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違規項目清單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2834640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926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📊  數據處理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3474720"/>
            <a:ext cx="1965960" cy="27432"/>
          </a:xfrm>
          <a:prstGeom prst="rect">
            <a:avLst/>
          </a:prstGeom>
          <a:solidFill>
            <a:srgbClr val="B4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36576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理解數據意義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批次清洗/轉換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資料一致性檢查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關鍵：架構是通用的，專業知識是可抽換的</a:t>
            </a:r>
          </a:p>
        </p:txBody>
      </p:sp>
    </p:spTree>
    <p:extLst>
      <p:ext uri="{BB962C8B-B14F-4D97-AF65-F5344CB8AC3E}">
        <p14:creationId xmlns:p14="http://schemas.microsoft.com/office/powerpoint/2010/main" val="1265279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AC048EB-2646-45CA-BCA2-E989F96C6C17}">
  <we:reference id="wa200010001" version="1.0.0.0" store="zh-TW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1570</Words>
  <Application>Microsoft Office PowerPoint</Application>
  <PresentationFormat>寬螢幕</PresentationFormat>
  <Paragraphs>346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Microsoft JhengHei</vt:lpstr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User9 Elements</cp:lastModifiedBy>
  <cp:revision>34</cp:revision>
  <dcterms:created xsi:type="dcterms:W3CDTF">2013-01-27T09:14:16Z</dcterms:created>
  <dcterms:modified xsi:type="dcterms:W3CDTF">2026-03-09T10:39:27Z</dcterms:modified>
  <cp:category/>
</cp:coreProperties>
</file>