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  <p:sldMasterId id="2147483683" r:id="rId2"/>
    <p:sldMasterId id="2147483693" r:id="rId3"/>
  </p:sldMasterIdLst>
  <p:notesMasterIdLst>
    <p:notesMasterId r:id="rId29"/>
  </p:notesMasterIdLst>
  <p:sldIdLst>
    <p:sldId id="343" r:id="rId4"/>
    <p:sldId id="344" r:id="rId5"/>
    <p:sldId id="346" r:id="rId6"/>
    <p:sldId id="330" r:id="rId7"/>
    <p:sldId id="331" r:id="rId8"/>
    <p:sldId id="357" r:id="rId9"/>
    <p:sldId id="350" r:id="rId10"/>
    <p:sldId id="332" r:id="rId11"/>
    <p:sldId id="355" r:id="rId12"/>
    <p:sldId id="351" r:id="rId13"/>
    <p:sldId id="352" r:id="rId14"/>
    <p:sldId id="353" r:id="rId15"/>
    <p:sldId id="333" r:id="rId16"/>
    <p:sldId id="356" r:id="rId17"/>
    <p:sldId id="354" r:id="rId18"/>
    <p:sldId id="334" r:id="rId19"/>
    <p:sldId id="335" r:id="rId20"/>
    <p:sldId id="358" r:id="rId21"/>
    <p:sldId id="337" r:id="rId22"/>
    <p:sldId id="338" r:id="rId23"/>
    <p:sldId id="347" r:id="rId24"/>
    <p:sldId id="348" r:id="rId25"/>
    <p:sldId id="349" r:id="rId26"/>
    <p:sldId id="340" r:id="rId27"/>
    <p:sldId id="341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367" autoAdjust="0"/>
  </p:normalViewPr>
  <p:slideViewPr>
    <p:cSldViewPr snapToGrid="0" snapToObjects="1">
      <p:cViewPr varScale="1">
        <p:scale>
          <a:sx n="79" d="100"/>
          <a:sy n="79" d="100"/>
        </p:scale>
        <p:origin x="2112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theme" Target="theme/theme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presProps" Target="presProps.xml"/><Relationship Id="rId8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DE5F02-34D6-497E-9AF4-8E66B05254AD}" type="datetimeFigureOut">
              <a:rPr lang="zh-TW" altLang="en-US" smtClean="0"/>
              <a:t>2026/3/11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373C71-34AA-4747-9D6A-DB522F08992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83275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373C71-34AA-4747-9D6A-DB522F08992C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475780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lements-str.com/" TargetMode="External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lements-str.com/" TargetMode="External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字方塊 7">
            <a:extLst>
              <a:ext uri="{FF2B5EF4-FFF2-40B4-BE49-F238E27FC236}">
                <a16:creationId xmlns:a16="http://schemas.microsoft.com/office/drawing/2014/main" id="{3DF12075-E9E7-4D2F-89C3-6FD38F97472B}"/>
              </a:ext>
            </a:extLst>
          </p:cNvPr>
          <p:cNvSpPr txBox="1"/>
          <p:nvPr/>
        </p:nvSpPr>
        <p:spPr>
          <a:xfrm>
            <a:off x="10048039" y="1416524"/>
            <a:ext cx="1930400" cy="307777"/>
          </a:xfrm>
          <a:prstGeom prst="rect">
            <a:avLst/>
          </a:prstGeom>
          <a:solidFill>
            <a:schemeClr val="bg1">
              <a:lumMod val="85000"/>
              <a:alpha val="73000"/>
            </a:schemeClr>
          </a:solidFill>
        </p:spPr>
        <p:txBody>
          <a:bodyPr wrap="square" rtlCol="0">
            <a:spAutoFit/>
          </a:bodyPr>
          <a:lstStyle/>
          <a:p>
            <a:pPr algn="ctr"/>
            <a:endParaRPr lang="zh-TW" altLang="en-US" sz="1400" dirty="0">
              <a:solidFill>
                <a:schemeClr val="bg1">
                  <a:lumMod val="50000"/>
                </a:schemeClr>
              </a:solidFill>
              <a:latin typeface="Arial Unicode MS" panose="020B0604020202020204" pitchFamily="34" charset="-120"/>
              <a:ea typeface="Arial Unicode MS" panose="020B0604020202020204" pitchFamily="34" charset="-120"/>
              <a:cs typeface="Arial Unicode MS" panose="020B0604020202020204" pitchFamily="34" charset="-12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DEE4517-A2F0-492E-8319-6146762A7F5A}"/>
              </a:ext>
            </a:extLst>
          </p:cNvPr>
          <p:cNvSpPr/>
          <p:nvPr/>
        </p:nvSpPr>
        <p:spPr>
          <a:xfrm>
            <a:off x="-12700" y="1237904"/>
            <a:ext cx="1240367" cy="448023"/>
          </a:xfrm>
          <a:prstGeom prst="rect">
            <a:avLst/>
          </a:prstGeom>
          <a:gradFill>
            <a:gsLst>
              <a:gs pos="23000">
                <a:srgbClr val="E27026"/>
              </a:gs>
              <a:gs pos="99000">
                <a:srgbClr val="F6D4BE">
                  <a:alpha val="64000"/>
                </a:srgb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800" dirty="0"/>
          </a:p>
        </p:txBody>
      </p:sp>
      <p:sp>
        <p:nvSpPr>
          <p:cNvPr id="12" name="等腰三角形 11">
            <a:extLst>
              <a:ext uri="{FF2B5EF4-FFF2-40B4-BE49-F238E27FC236}">
                <a16:creationId xmlns:a16="http://schemas.microsoft.com/office/drawing/2014/main" id="{86B5E1CA-260A-4FE4-AAC2-61D5B88CD63B}"/>
              </a:ext>
            </a:extLst>
          </p:cNvPr>
          <p:cNvSpPr/>
          <p:nvPr/>
        </p:nvSpPr>
        <p:spPr>
          <a:xfrm rot="9756150">
            <a:off x="711285" y="849259"/>
            <a:ext cx="1435100" cy="927866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800"/>
          </a:p>
        </p:txBody>
      </p:sp>
      <p:cxnSp>
        <p:nvCxnSpPr>
          <p:cNvPr id="14" name="直線接點 13">
            <a:extLst>
              <a:ext uri="{FF2B5EF4-FFF2-40B4-BE49-F238E27FC236}">
                <a16:creationId xmlns:a16="http://schemas.microsoft.com/office/drawing/2014/main" id="{FBCF0C51-5C97-4BDC-B26C-9259ECFC1A1A}"/>
              </a:ext>
            </a:extLst>
          </p:cNvPr>
          <p:cNvCxnSpPr>
            <a:cxnSpLocks/>
          </p:cNvCxnSpPr>
          <p:nvPr/>
        </p:nvCxnSpPr>
        <p:spPr>
          <a:xfrm>
            <a:off x="0" y="1680905"/>
            <a:ext cx="11991139" cy="38100"/>
          </a:xfrm>
          <a:prstGeom prst="line">
            <a:avLst/>
          </a:prstGeom>
          <a:ln>
            <a:solidFill>
              <a:srgbClr val="E3783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itle 1">
            <a:extLst>
              <a:ext uri="{FF2B5EF4-FFF2-40B4-BE49-F238E27FC236}">
                <a16:creationId xmlns:a16="http://schemas.microsoft.com/office/drawing/2014/main" id="{CCEC7675-5F5A-46D5-A79E-B446E12EA71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9433" y="1244010"/>
            <a:ext cx="5181600" cy="480017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2400">
                <a:solidFill>
                  <a:schemeClr val="tx1"/>
                </a:solidFill>
              </a:defRPr>
            </a:lvl1pPr>
          </a:lstStyle>
          <a:p>
            <a:r>
              <a:rPr lang="en-US" altLang="zh-TW" dirty="0"/>
              <a:t>2022</a:t>
            </a:r>
            <a:r>
              <a:rPr lang="zh-TW" altLang="en-US" dirty="0"/>
              <a:t>第四季投影片母版</a:t>
            </a:r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CC115552-C611-4D54-ADE1-18503D0F92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59359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01043610-FCAC-4CEF-A683-1355ECAD878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048039" y="1392624"/>
            <a:ext cx="1930400" cy="355574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5pPr marL="1828800" indent="0" algn="l">
              <a:buNone/>
              <a:defRPr/>
            </a:lvl5pPr>
          </a:lstStyle>
          <a:p>
            <a:pPr lvl="0"/>
            <a:r>
              <a:rPr lang="en-US" altLang="zh-TW" dirty="0"/>
              <a:t>2023/xx/xx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683502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13905"/>
            <a:ext cx="10515600" cy="5063058"/>
          </a:xfrm>
          <a:prstGeom prst="rect">
            <a:avLst/>
          </a:prstGeom>
        </p:spPr>
        <p:txBody>
          <a:bodyPr/>
          <a:lstStyle>
            <a:lvl1pPr>
              <a:defRPr>
                <a:latin typeface="+mj-ea"/>
                <a:ea typeface="+mj-ea"/>
              </a:defRPr>
            </a:lvl1pPr>
            <a:lvl2pPr>
              <a:defRPr>
                <a:latin typeface="+mj-ea"/>
                <a:ea typeface="+mj-ea"/>
              </a:defRPr>
            </a:lvl2pPr>
            <a:lvl3pPr>
              <a:defRPr>
                <a:latin typeface="+mj-ea"/>
                <a:ea typeface="+mj-ea"/>
              </a:defRPr>
            </a:lvl3pPr>
            <a:lvl4pPr>
              <a:defRPr>
                <a:latin typeface="+mj-ea"/>
                <a:ea typeface="+mj-ea"/>
              </a:defRPr>
            </a:lvl4pPr>
            <a:lvl5pPr>
              <a:defRPr>
                <a:latin typeface="+mj-ea"/>
                <a:ea typeface="+mj-ea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632401"/>
          </a:xfrm>
          <a:prstGeom prst="rect">
            <a:avLst/>
          </a:prstGeo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448800" y="6593597"/>
            <a:ext cx="27432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6635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113905"/>
            <a:ext cx="5181600" cy="5063058"/>
          </a:xfrm>
          <a:prstGeom prst="rect">
            <a:avLst/>
          </a:prstGeom>
        </p:spPr>
        <p:txBody>
          <a:bodyPr/>
          <a:lstStyle>
            <a:lvl1pPr>
              <a:defRPr>
                <a:latin typeface="+mj-ea"/>
                <a:ea typeface="+mj-ea"/>
              </a:defRPr>
            </a:lvl1pPr>
            <a:lvl2pPr>
              <a:defRPr>
                <a:latin typeface="+mj-ea"/>
                <a:ea typeface="+mj-ea"/>
              </a:defRPr>
            </a:lvl2pPr>
            <a:lvl3pPr>
              <a:defRPr>
                <a:latin typeface="+mj-ea"/>
                <a:ea typeface="+mj-ea"/>
              </a:defRPr>
            </a:lvl3pPr>
            <a:lvl4pPr>
              <a:defRPr>
                <a:latin typeface="+mj-ea"/>
                <a:ea typeface="+mj-ea"/>
              </a:defRPr>
            </a:lvl4pPr>
            <a:lvl5pPr>
              <a:defRPr>
                <a:latin typeface="+mj-ea"/>
                <a:ea typeface="+mj-ea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113905"/>
            <a:ext cx="5181600" cy="5063058"/>
          </a:xfrm>
          <a:prstGeom prst="rect">
            <a:avLst/>
          </a:prstGeom>
        </p:spPr>
        <p:txBody>
          <a:bodyPr/>
          <a:lstStyle>
            <a:lvl1pPr>
              <a:defRPr>
                <a:latin typeface="+mj-ea"/>
                <a:ea typeface="+mj-ea"/>
              </a:defRPr>
            </a:lvl1pPr>
            <a:lvl2pPr>
              <a:defRPr>
                <a:latin typeface="+mj-ea"/>
                <a:ea typeface="+mj-ea"/>
              </a:defRPr>
            </a:lvl2pPr>
            <a:lvl3pPr>
              <a:defRPr>
                <a:latin typeface="+mj-ea"/>
                <a:ea typeface="+mj-ea"/>
              </a:defRPr>
            </a:lvl3pPr>
            <a:lvl4pPr>
              <a:defRPr>
                <a:latin typeface="+mj-ea"/>
                <a:ea typeface="+mj-ea"/>
              </a:defRPr>
            </a:lvl4pPr>
            <a:lvl5pPr>
              <a:defRPr>
                <a:latin typeface="+mj-ea"/>
                <a:ea typeface="+mj-ea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C2B685A-85C8-48C0-8AE0-53F044C13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632401"/>
          </a:xfrm>
          <a:prstGeom prst="rect">
            <a:avLst/>
          </a:prstGeo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53812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D34D37C-E78C-47B9-86BD-788F51869B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632401"/>
          </a:xfrm>
          <a:prstGeom prst="rect">
            <a:avLst/>
          </a:prstGeo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7151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865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章節標題">
    <p:bg>
      <p:bgPr>
        <a:solidFill>
          <a:srgbClr val="E271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59EC344A-E158-4CE8-814B-39A25F12E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E7A692B-2129-4034-A74C-EDD2A55B851F}"/>
              </a:ext>
            </a:extLst>
          </p:cNvPr>
          <p:cNvSpPr/>
          <p:nvPr/>
        </p:nvSpPr>
        <p:spPr>
          <a:xfrm>
            <a:off x="0" y="4021585"/>
            <a:ext cx="12192000" cy="1562470"/>
          </a:xfrm>
          <a:prstGeom prst="rect">
            <a:avLst/>
          </a:prstGeom>
          <a:gradFill>
            <a:gsLst>
              <a:gs pos="0">
                <a:srgbClr val="E17227"/>
              </a:gs>
              <a:gs pos="99000">
                <a:srgbClr val="F6D4BE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800"/>
          </a:p>
        </p:txBody>
      </p:sp>
      <p:pic>
        <p:nvPicPr>
          <p:cNvPr id="12" name="圖形 11">
            <a:extLst>
              <a:ext uri="{FF2B5EF4-FFF2-40B4-BE49-F238E27FC236}">
                <a16:creationId xmlns:a16="http://schemas.microsoft.com/office/drawing/2014/main" id="{2C14CBC8-A31A-4CA8-93F3-A8D0434A84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2174" y="5896582"/>
            <a:ext cx="1599812" cy="679489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35E6279D-AC90-4C7B-9F9D-99E657A42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4390" y="4168576"/>
            <a:ext cx="11103221" cy="81896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內容版面配置區 6">
            <a:extLst>
              <a:ext uri="{FF2B5EF4-FFF2-40B4-BE49-F238E27FC236}">
                <a16:creationId xmlns:a16="http://schemas.microsoft.com/office/drawing/2014/main" id="{1476C643-4A40-4F9C-ADC0-0A430F16C3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44389" y="5108010"/>
            <a:ext cx="1930400" cy="355574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bg1"/>
                </a:solidFill>
                <a:latin typeface="+mn-ea"/>
                <a:ea typeface="+mn-ea"/>
              </a:defRPr>
            </a:lvl1pPr>
            <a:lvl5pPr marL="1828800" indent="0" algn="l">
              <a:buNone/>
              <a:defRPr/>
            </a:lvl5pPr>
          </a:lstStyle>
          <a:p>
            <a:pPr lvl="0"/>
            <a:r>
              <a:rPr lang="en-US" altLang="zh-TW" dirty="0"/>
              <a:t>2023.xx.xx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997288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457201"/>
            <a:ext cx="6172200" cy="5403851"/>
          </a:xfrm>
          <a:prstGeom prst="rect">
            <a:avLst/>
          </a:prstGeom>
        </p:spPr>
        <p:txBody>
          <a:bodyPr/>
          <a:lstStyle>
            <a:lvl1pPr>
              <a:defRPr sz="3200">
                <a:latin typeface="+mj-ea"/>
                <a:ea typeface="+mj-ea"/>
              </a:defRPr>
            </a:lvl1pPr>
            <a:lvl2pPr>
              <a:defRPr sz="2800">
                <a:latin typeface="+mj-ea"/>
                <a:ea typeface="+mj-ea"/>
              </a:defRPr>
            </a:lvl2pPr>
            <a:lvl3pPr>
              <a:defRPr sz="2400">
                <a:latin typeface="+mj-ea"/>
                <a:ea typeface="+mj-ea"/>
              </a:defRPr>
            </a:lvl3pPr>
            <a:lvl4pPr>
              <a:defRPr sz="2000">
                <a:latin typeface="+mj-ea"/>
                <a:ea typeface="+mj-ea"/>
              </a:defRPr>
            </a:lvl4pPr>
            <a:lvl5pPr>
              <a:defRPr sz="2000">
                <a:latin typeface="+mj-ea"/>
                <a:ea typeface="+mj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2B184D4-3E9D-4A1E-A11E-0CA0A3ED8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064029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DC0FC06-A926-425C-88E2-CFBF6D2565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654234"/>
            <a:ext cx="3932237" cy="421475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latin typeface="+mj-ea"/>
                <a:ea typeface="+mj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5281461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064029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457201"/>
            <a:ext cx="6172200" cy="5403851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1654234"/>
            <a:ext cx="3932237" cy="421475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6174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末頁配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59EC344A-E158-4CE8-814B-39A25F12E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1BE133C-0010-4782-AAA4-593D58B73B3A}"/>
              </a:ext>
            </a:extLst>
          </p:cNvPr>
          <p:cNvSpPr/>
          <p:nvPr/>
        </p:nvSpPr>
        <p:spPr>
          <a:xfrm>
            <a:off x="0" y="1292352"/>
            <a:ext cx="12192000" cy="1353312"/>
          </a:xfrm>
          <a:prstGeom prst="rect">
            <a:avLst/>
          </a:prstGeom>
          <a:gradFill>
            <a:gsLst>
              <a:gs pos="0">
                <a:srgbClr val="E17227"/>
              </a:gs>
              <a:gs pos="99000">
                <a:srgbClr val="F6D4BE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80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C0EB6DD-F70F-484E-8A64-4F7F3047A6E9}"/>
              </a:ext>
            </a:extLst>
          </p:cNvPr>
          <p:cNvSpPr txBox="1"/>
          <p:nvPr/>
        </p:nvSpPr>
        <p:spPr>
          <a:xfrm>
            <a:off x="5670581" y="2008974"/>
            <a:ext cx="538379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28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圓方結構 </a:t>
            </a:r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工程顧問有限公司</a:t>
            </a:r>
          </a:p>
          <a:p>
            <a:endParaRPr lang="zh-TW" altLang="en-US" sz="1400" dirty="0"/>
          </a:p>
        </p:txBody>
      </p:sp>
      <p:pic>
        <p:nvPicPr>
          <p:cNvPr id="8" name="圖形 7">
            <a:extLst>
              <a:ext uri="{FF2B5EF4-FFF2-40B4-BE49-F238E27FC236}">
                <a16:creationId xmlns:a16="http://schemas.microsoft.com/office/drawing/2014/main" id="{74EEC956-7FBA-4A4D-82E8-C7686046204A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0914" y="1521594"/>
            <a:ext cx="2265815" cy="964767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004810C8-CF51-4785-AC26-09BB3C1E5EB4}"/>
              </a:ext>
            </a:extLst>
          </p:cNvPr>
          <p:cNvSpPr txBox="1"/>
          <p:nvPr/>
        </p:nvSpPr>
        <p:spPr>
          <a:xfrm>
            <a:off x="2270760" y="6118674"/>
            <a:ext cx="805918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T. +886 2 2592 6882 </a:t>
            </a:r>
          </a:p>
          <a:p>
            <a:pPr algn="ctr"/>
            <a:r>
              <a:rPr lang="en-US" altLang="zh-TW" sz="1600" dirty="0">
                <a:solidFill>
                  <a:schemeClr val="accent4"/>
                </a:solidFill>
                <a:latin typeface="+mn-ea"/>
                <a:ea typeface="+mn-ea"/>
                <a:cs typeface="Arial" panose="020B0604020202020204" pitchFamily="34" charset="0"/>
              </a:rPr>
              <a:t>elements@elements-structure.com  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2F, No.22, Ln. 393, Jilin Rd., </a:t>
            </a:r>
            <a:r>
              <a:rPr lang="en-US" altLang="zh-TW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Jhongshan</a:t>
            </a:r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 Dist., Taipei City 10470, Taiwan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E2B35445-7396-42FB-934C-20E59D7A173A}"/>
              </a:ext>
            </a:extLst>
          </p:cNvPr>
          <p:cNvSpPr txBox="1"/>
          <p:nvPr/>
        </p:nvSpPr>
        <p:spPr>
          <a:xfrm>
            <a:off x="3542582" y="4221089"/>
            <a:ext cx="47962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altLang="zh-TW" sz="1400" dirty="0">
                <a:solidFill>
                  <a:srgbClr val="F79646">
                    <a:lumMod val="7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Explore</a:t>
            </a:r>
            <a:r>
              <a:rPr lang="zh-TW" altLang="en-US" sz="1400" dirty="0">
                <a:solidFill>
                  <a:srgbClr val="F79646">
                    <a:lumMod val="7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altLang="zh-TW" sz="1400" dirty="0">
                <a:solidFill>
                  <a:srgbClr val="F79646">
                    <a:lumMod val="7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</a:t>
            </a:r>
            <a:r>
              <a:rPr lang="zh-TW" altLang="en-US" sz="1400" dirty="0">
                <a:solidFill>
                  <a:srgbClr val="F79646">
                    <a:lumMod val="7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solidFill>
                  <a:srgbClr val="F79646">
                    <a:lumMod val="7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r>
              <a:rPr lang="zh-TW" altLang="en-US" sz="1400" dirty="0">
                <a:solidFill>
                  <a:srgbClr val="F79646">
                    <a:lumMod val="7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altLang="zh-TW" sz="1400" dirty="0">
                <a:solidFill>
                  <a:srgbClr val="F79646">
                    <a:lumMod val="7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Structure </a:t>
            </a:r>
            <a:r>
              <a:rPr lang="zh-TW" altLang="en-US" sz="1400" dirty="0">
                <a:solidFill>
                  <a:srgbClr val="F79646">
                    <a:lumMod val="7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solidFill>
                  <a:srgbClr val="F79646">
                    <a:lumMod val="7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Solution </a:t>
            </a:r>
            <a:endParaRPr lang="zh-TW" altLang="en-US" sz="1400" dirty="0">
              <a:solidFill>
                <a:srgbClr val="F79646">
                  <a:lumMod val="75000"/>
                </a:srgb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C862D7C-059A-4FF2-805B-7E109F58C1C4}"/>
              </a:ext>
            </a:extLst>
          </p:cNvPr>
          <p:cNvSpPr/>
          <p:nvPr/>
        </p:nvSpPr>
        <p:spPr>
          <a:xfrm>
            <a:off x="3407701" y="3933056"/>
            <a:ext cx="5184576" cy="72008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/>
              <a:ea typeface="微軟正黑體 Light"/>
              <a:cs typeface="+mn-cs"/>
            </a:endParaRPr>
          </a:p>
        </p:txBody>
      </p:sp>
      <p:sp>
        <p:nvSpPr>
          <p:cNvPr id="13" name="標題 4">
            <a:extLst>
              <a:ext uri="{FF2B5EF4-FFF2-40B4-BE49-F238E27FC236}">
                <a16:creationId xmlns:a16="http://schemas.microsoft.com/office/drawing/2014/main" id="{918E36EC-B911-42D6-A570-98B402404832}"/>
              </a:ext>
            </a:extLst>
          </p:cNvPr>
          <p:cNvSpPr txBox="1">
            <a:spLocks/>
          </p:cNvSpPr>
          <p:nvPr/>
        </p:nvSpPr>
        <p:spPr>
          <a:xfrm>
            <a:off x="-528736" y="5411585"/>
            <a:ext cx="13034664" cy="99916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rgbClr val="E27128"/>
                </a:solidFill>
                <a:latin typeface="+mn-lt"/>
                <a:ea typeface="+mj-ea"/>
                <a:cs typeface="Calibri Light" panose="020F030202020403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 Light"/>
                <a:ea typeface="微軟正黑體"/>
                <a:cs typeface="Calibri Light" panose="020F0302020204030204" pitchFamily="34" charset="0"/>
              </a:rPr>
              <a:t>Visit Us   </a:t>
            </a:r>
            <a:r>
              <a:rPr kumimoji="0" lang="zh-TW" altLang="en-US" sz="1600" b="1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 Light"/>
                <a:ea typeface="微軟正黑體"/>
                <a:cs typeface="Calibri Light" panose="020F030202020403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https://www.elements-str.com/</a:t>
            </a:r>
            <a:b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 Light"/>
                <a:ea typeface="微軟正黑體"/>
                <a:cs typeface="Calibri Light" panose="020F0302020204030204" pitchFamily="34" charset="0"/>
              </a:rPr>
            </a:br>
            <a:endParaRPr kumimoji="0" lang="zh-TW" altLang="en-US" sz="16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 Light"/>
              <a:ea typeface="微軟正黑體"/>
              <a:cs typeface="Calibri Light" panose="020F0302020204030204" pitchFamily="34" charset="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A9233942-2A8E-4844-8D67-0E69E3361492}"/>
              </a:ext>
            </a:extLst>
          </p:cNvPr>
          <p:cNvSpPr txBox="1"/>
          <p:nvPr/>
        </p:nvSpPr>
        <p:spPr>
          <a:xfrm>
            <a:off x="2351584" y="3573016"/>
            <a:ext cx="72968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altLang="zh-TW" sz="4000" b="1" dirty="0">
                <a:solidFill>
                  <a:srgbClr val="F79646">
                    <a:lumMod val="75000"/>
                  </a:srgb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WE ADD VALUE</a:t>
            </a:r>
            <a:endParaRPr lang="zh-TW" altLang="en-US" sz="4000" b="1" dirty="0">
              <a:solidFill>
                <a:srgbClr val="F79646">
                  <a:lumMod val="75000"/>
                </a:srgb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手繪多邊形: 圖案 14">
            <a:extLst>
              <a:ext uri="{FF2B5EF4-FFF2-40B4-BE49-F238E27FC236}">
                <a16:creationId xmlns:a16="http://schemas.microsoft.com/office/drawing/2014/main" id="{BFE30864-C501-4271-B924-8619645B86D2}"/>
              </a:ext>
            </a:extLst>
          </p:cNvPr>
          <p:cNvSpPr/>
          <p:nvPr/>
        </p:nvSpPr>
        <p:spPr>
          <a:xfrm>
            <a:off x="4981576" y="3840957"/>
            <a:ext cx="317499" cy="326232"/>
          </a:xfrm>
          <a:custGeom>
            <a:avLst/>
            <a:gdLst>
              <a:gd name="connsiteX0" fmla="*/ 0 w 202406"/>
              <a:gd name="connsiteY0" fmla="*/ 295275 h 297657"/>
              <a:gd name="connsiteX1" fmla="*/ 100012 w 202406"/>
              <a:gd name="connsiteY1" fmla="*/ 0 h 297657"/>
              <a:gd name="connsiteX2" fmla="*/ 202406 w 202406"/>
              <a:gd name="connsiteY2" fmla="*/ 297657 h 297657"/>
              <a:gd name="connsiteX3" fmla="*/ 0 w 202406"/>
              <a:gd name="connsiteY3" fmla="*/ 295275 h 297657"/>
              <a:gd name="connsiteX0" fmla="*/ 0 w 216693"/>
              <a:gd name="connsiteY0" fmla="*/ 323850 h 323850"/>
              <a:gd name="connsiteX1" fmla="*/ 114299 w 216693"/>
              <a:gd name="connsiteY1" fmla="*/ 0 h 323850"/>
              <a:gd name="connsiteX2" fmla="*/ 216693 w 216693"/>
              <a:gd name="connsiteY2" fmla="*/ 297657 h 323850"/>
              <a:gd name="connsiteX3" fmla="*/ 0 w 216693"/>
              <a:gd name="connsiteY3" fmla="*/ 323850 h 323850"/>
              <a:gd name="connsiteX0" fmla="*/ 0 w 238124"/>
              <a:gd name="connsiteY0" fmla="*/ 323850 h 326232"/>
              <a:gd name="connsiteX1" fmla="*/ 114299 w 238124"/>
              <a:gd name="connsiteY1" fmla="*/ 0 h 326232"/>
              <a:gd name="connsiteX2" fmla="*/ 238124 w 238124"/>
              <a:gd name="connsiteY2" fmla="*/ 326232 h 326232"/>
              <a:gd name="connsiteX3" fmla="*/ 0 w 238124"/>
              <a:gd name="connsiteY3" fmla="*/ 323850 h 326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4" h="326232">
                <a:moveTo>
                  <a:pt x="0" y="323850"/>
                </a:moveTo>
                <a:lnTo>
                  <a:pt x="114299" y="0"/>
                </a:lnTo>
                <a:lnTo>
                  <a:pt x="238124" y="326232"/>
                </a:lnTo>
                <a:lnTo>
                  <a:pt x="0" y="323850"/>
                </a:lnTo>
                <a:close/>
              </a:path>
            </a:pathLst>
          </a:custGeom>
          <a:solidFill>
            <a:sysClr val="window" lastClr="FFFF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/>
              <a:ea typeface="微軟正黑體 Light"/>
              <a:cs typeface="+mn-cs"/>
            </a:endParaRPr>
          </a:p>
        </p:txBody>
      </p:sp>
      <p:sp>
        <p:nvSpPr>
          <p:cNvPr id="16" name="手繪多邊形: 圖案 15">
            <a:extLst>
              <a:ext uri="{FF2B5EF4-FFF2-40B4-BE49-F238E27FC236}">
                <a16:creationId xmlns:a16="http://schemas.microsoft.com/office/drawing/2014/main" id="{CE446294-88C3-4D56-9014-F4CDD677D9EB}"/>
              </a:ext>
            </a:extLst>
          </p:cNvPr>
          <p:cNvSpPr/>
          <p:nvPr/>
        </p:nvSpPr>
        <p:spPr>
          <a:xfrm>
            <a:off x="6768075" y="3834854"/>
            <a:ext cx="311149" cy="330995"/>
          </a:xfrm>
          <a:custGeom>
            <a:avLst/>
            <a:gdLst>
              <a:gd name="connsiteX0" fmla="*/ 0 w 202406"/>
              <a:gd name="connsiteY0" fmla="*/ 295275 h 297657"/>
              <a:gd name="connsiteX1" fmla="*/ 100012 w 202406"/>
              <a:gd name="connsiteY1" fmla="*/ 0 h 297657"/>
              <a:gd name="connsiteX2" fmla="*/ 202406 w 202406"/>
              <a:gd name="connsiteY2" fmla="*/ 297657 h 297657"/>
              <a:gd name="connsiteX3" fmla="*/ 0 w 202406"/>
              <a:gd name="connsiteY3" fmla="*/ 295275 h 297657"/>
              <a:gd name="connsiteX0" fmla="*/ 0 w 216693"/>
              <a:gd name="connsiteY0" fmla="*/ 323850 h 323850"/>
              <a:gd name="connsiteX1" fmla="*/ 114299 w 216693"/>
              <a:gd name="connsiteY1" fmla="*/ 0 h 323850"/>
              <a:gd name="connsiteX2" fmla="*/ 216693 w 216693"/>
              <a:gd name="connsiteY2" fmla="*/ 297657 h 323850"/>
              <a:gd name="connsiteX3" fmla="*/ 0 w 216693"/>
              <a:gd name="connsiteY3" fmla="*/ 323850 h 323850"/>
              <a:gd name="connsiteX0" fmla="*/ 0 w 238124"/>
              <a:gd name="connsiteY0" fmla="*/ 323850 h 326232"/>
              <a:gd name="connsiteX1" fmla="*/ 114299 w 238124"/>
              <a:gd name="connsiteY1" fmla="*/ 0 h 326232"/>
              <a:gd name="connsiteX2" fmla="*/ 238124 w 238124"/>
              <a:gd name="connsiteY2" fmla="*/ 326232 h 326232"/>
              <a:gd name="connsiteX3" fmla="*/ 0 w 238124"/>
              <a:gd name="connsiteY3" fmla="*/ 323850 h 326232"/>
              <a:gd name="connsiteX0" fmla="*/ 0 w 242887"/>
              <a:gd name="connsiteY0" fmla="*/ 311943 h 326232"/>
              <a:gd name="connsiteX1" fmla="*/ 119062 w 242887"/>
              <a:gd name="connsiteY1" fmla="*/ 0 h 326232"/>
              <a:gd name="connsiteX2" fmla="*/ 242887 w 242887"/>
              <a:gd name="connsiteY2" fmla="*/ 326232 h 326232"/>
              <a:gd name="connsiteX3" fmla="*/ 0 w 242887"/>
              <a:gd name="connsiteY3" fmla="*/ 311943 h 326232"/>
              <a:gd name="connsiteX0" fmla="*/ 0 w 242887"/>
              <a:gd name="connsiteY0" fmla="*/ 338137 h 352426"/>
              <a:gd name="connsiteX1" fmla="*/ 111919 w 242887"/>
              <a:gd name="connsiteY1" fmla="*/ 0 h 352426"/>
              <a:gd name="connsiteX2" fmla="*/ 242887 w 242887"/>
              <a:gd name="connsiteY2" fmla="*/ 352426 h 352426"/>
              <a:gd name="connsiteX3" fmla="*/ 0 w 242887"/>
              <a:gd name="connsiteY3" fmla="*/ 338137 h 352426"/>
              <a:gd name="connsiteX0" fmla="*/ 0 w 238125"/>
              <a:gd name="connsiteY0" fmla="*/ 338137 h 338137"/>
              <a:gd name="connsiteX1" fmla="*/ 111919 w 238125"/>
              <a:gd name="connsiteY1" fmla="*/ 0 h 338137"/>
              <a:gd name="connsiteX2" fmla="*/ 238125 w 238125"/>
              <a:gd name="connsiteY2" fmla="*/ 330995 h 338137"/>
              <a:gd name="connsiteX3" fmla="*/ 0 w 238125"/>
              <a:gd name="connsiteY3" fmla="*/ 338137 h 338137"/>
              <a:gd name="connsiteX0" fmla="*/ 0 w 233362"/>
              <a:gd name="connsiteY0" fmla="*/ 328612 h 330995"/>
              <a:gd name="connsiteX1" fmla="*/ 107156 w 233362"/>
              <a:gd name="connsiteY1" fmla="*/ 0 h 330995"/>
              <a:gd name="connsiteX2" fmla="*/ 233362 w 233362"/>
              <a:gd name="connsiteY2" fmla="*/ 330995 h 330995"/>
              <a:gd name="connsiteX3" fmla="*/ 0 w 233362"/>
              <a:gd name="connsiteY3" fmla="*/ 328612 h 3309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3362" h="330995">
                <a:moveTo>
                  <a:pt x="0" y="328612"/>
                </a:moveTo>
                <a:lnTo>
                  <a:pt x="107156" y="0"/>
                </a:lnTo>
                <a:lnTo>
                  <a:pt x="233362" y="330995"/>
                </a:lnTo>
                <a:lnTo>
                  <a:pt x="0" y="328612"/>
                </a:lnTo>
                <a:close/>
              </a:path>
            </a:pathLst>
          </a:custGeom>
          <a:solidFill>
            <a:sysClr val="window" lastClr="FFFF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/>
              <a:ea typeface="微軟正黑體 Light"/>
              <a:cs typeface="+mn-cs"/>
            </a:endParaRPr>
          </a:p>
        </p:txBody>
      </p:sp>
      <p:cxnSp>
        <p:nvCxnSpPr>
          <p:cNvPr id="17" name="直線接點 16">
            <a:extLst>
              <a:ext uri="{FF2B5EF4-FFF2-40B4-BE49-F238E27FC236}">
                <a16:creationId xmlns:a16="http://schemas.microsoft.com/office/drawing/2014/main" id="{D38CF7DD-A004-448C-9BED-2CCFB700E5A6}"/>
              </a:ext>
            </a:extLst>
          </p:cNvPr>
          <p:cNvCxnSpPr/>
          <p:nvPr/>
        </p:nvCxnSpPr>
        <p:spPr>
          <a:xfrm>
            <a:off x="3599723" y="4221088"/>
            <a:ext cx="4896544" cy="0"/>
          </a:xfrm>
          <a:prstGeom prst="line">
            <a:avLst/>
          </a:prstGeom>
          <a:noFill/>
          <a:ln w="6350" cap="flat" cmpd="sng" algn="ctr">
            <a:solidFill>
              <a:srgbClr val="D9D9D9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20154887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84871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ED136F5C-5E08-47FF-91AE-F57EC5AE933A}"/>
              </a:ext>
            </a:extLst>
          </p:cNvPr>
          <p:cNvSpPr/>
          <p:nvPr/>
        </p:nvSpPr>
        <p:spPr>
          <a:xfrm>
            <a:off x="0" y="1237903"/>
            <a:ext cx="1227667" cy="446493"/>
          </a:xfrm>
          <a:prstGeom prst="rect">
            <a:avLst/>
          </a:prstGeom>
          <a:gradFill>
            <a:gsLst>
              <a:gs pos="0">
                <a:srgbClr val="00B050"/>
              </a:gs>
              <a:gs pos="99000">
                <a:srgbClr val="FBFDED">
                  <a:alpha val="86000"/>
                </a:srgb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800"/>
          </a:p>
        </p:txBody>
      </p:sp>
      <p:grpSp>
        <p:nvGrpSpPr>
          <p:cNvPr id="7" name="群組 6">
            <a:extLst>
              <a:ext uri="{FF2B5EF4-FFF2-40B4-BE49-F238E27FC236}">
                <a16:creationId xmlns:a16="http://schemas.microsoft.com/office/drawing/2014/main" id="{AA950245-5EC2-462E-8CA4-9FEB371A5FAE}"/>
              </a:ext>
            </a:extLst>
          </p:cNvPr>
          <p:cNvGrpSpPr/>
          <p:nvPr/>
        </p:nvGrpSpPr>
        <p:grpSpPr>
          <a:xfrm>
            <a:off x="711285" y="849259"/>
            <a:ext cx="11480716" cy="1002146"/>
            <a:chOff x="533463" y="849259"/>
            <a:chExt cx="8610537" cy="1002146"/>
          </a:xfrm>
        </p:grpSpPr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3DF12075-E9E7-4D2F-89C3-6FD38F97472B}"/>
                </a:ext>
              </a:extLst>
            </p:cNvPr>
            <p:cNvSpPr txBox="1"/>
            <p:nvPr/>
          </p:nvSpPr>
          <p:spPr>
            <a:xfrm>
              <a:off x="7696200" y="1543628"/>
              <a:ext cx="1447800" cy="307777"/>
            </a:xfrm>
            <a:prstGeom prst="rect">
              <a:avLst/>
            </a:prstGeom>
            <a:solidFill>
              <a:schemeClr val="bg1">
                <a:lumMod val="85000"/>
                <a:alpha val="73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endParaRPr lang="zh-TW" altLang="en-US" sz="1400" dirty="0">
                <a:solidFill>
                  <a:schemeClr val="bg1">
                    <a:lumMod val="50000"/>
                  </a:schemeClr>
                </a:solidFill>
                <a:latin typeface="Arial Unicode MS" panose="020B0604020202020204" pitchFamily="34" charset="-120"/>
                <a:ea typeface="Arial Unicode MS" panose="020B0604020202020204" pitchFamily="34" charset="-120"/>
                <a:cs typeface="Arial Unicode MS" panose="020B0604020202020204" pitchFamily="34" charset="-120"/>
              </a:endParaRPr>
            </a:p>
          </p:txBody>
        </p:sp>
        <p:sp>
          <p:nvSpPr>
            <p:cNvPr id="12" name="等腰三角形 11">
              <a:extLst>
                <a:ext uri="{FF2B5EF4-FFF2-40B4-BE49-F238E27FC236}">
                  <a16:creationId xmlns:a16="http://schemas.microsoft.com/office/drawing/2014/main" id="{86B5E1CA-260A-4FE4-AAC2-61D5B88CD63B}"/>
                </a:ext>
              </a:extLst>
            </p:cNvPr>
            <p:cNvSpPr/>
            <p:nvPr/>
          </p:nvSpPr>
          <p:spPr>
            <a:xfrm rot="9756150">
              <a:off x="533463" y="849259"/>
              <a:ext cx="1076325" cy="92786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9433" y="1244010"/>
            <a:ext cx="5181600" cy="480017"/>
          </a:xfrm>
        </p:spPr>
        <p:txBody>
          <a:bodyPr anchor="b">
            <a:normAutofit/>
          </a:bodyPr>
          <a:lstStyle>
            <a:lvl1pPr algn="l">
              <a:defRPr sz="240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cxnSp>
        <p:nvCxnSpPr>
          <p:cNvPr id="14" name="直線接點 13">
            <a:extLst>
              <a:ext uri="{FF2B5EF4-FFF2-40B4-BE49-F238E27FC236}">
                <a16:creationId xmlns:a16="http://schemas.microsoft.com/office/drawing/2014/main" id="{00A03714-762D-44FE-9F03-7BB8BC157093}"/>
              </a:ext>
            </a:extLst>
          </p:cNvPr>
          <p:cNvCxnSpPr>
            <a:cxnSpLocks/>
          </p:cNvCxnSpPr>
          <p:nvPr/>
        </p:nvCxnSpPr>
        <p:spPr>
          <a:xfrm>
            <a:off x="-12699" y="1684397"/>
            <a:ext cx="10274300" cy="11591"/>
          </a:xfrm>
          <a:prstGeom prst="line">
            <a:avLst/>
          </a:prstGeom>
          <a:ln>
            <a:solidFill>
              <a:srgbClr val="06B15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內容版面配置區 6">
            <a:extLst>
              <a:ext uri="{FF2B5EF4-FFF2-40B4-BE49-F238E27FC236}">
                <a16:creationId xmlns:a16="http://schemas.microsoft.com/office/drawing/2014/main" id="{0EBA2089-3C58-417E-AE0D-D9AEC53D050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261600" y="1555988"/>
            <a:ext cx="1930400" cy="355574"/>
          </a:xfrm>
        </p:spPr>
        <p:txBody>
          <a:bodyPr>
            <a:noAutofit/>
          </a:bodyPr>
          <a:lstStyle>
            <a:lvl1pPr marL="0" indent="0">
              <a:buNone/>
              <a:defRPr sz="1800">
                <a:latin typeface="+mn-ea"/>
                <a:ea typeface="+mn-ea"/>
              </a:defRPr>
            </a:lvl1pPr>
            <a:lvl5pPr marL="1828800" indent="0" algn="l">
              <a:buNone/>
              <a:defRPr/>
            </a:lvl5pPr>
          </a:lstStyle>
          <a:p>
            <a:pPr lvl="0"/>
            <a:r>
              <a:rPr lang="en-US" altLang="zh-TW" dirty="0"/>
              <a:t>2018/xx/xx</a:t>
            </a:r>
            <a:endParaRPr lang="zh-TW" alt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8862F88B-DAE1-4197-94F2-4DC66E910F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59359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F5B54E-D686-4015-93F2-94C458F353E2}" type="slidenum">
              <a:rPr lang="zh-TW" altLang="en-US" smtClean="0"/>
              <a:t>‹#›</a:t>
            </a:fld>
            <a:endParaRPr lang="zh-TW" altLang="en-US" dirty="0"/>
          </a:p>
        </p:txBody>
      </p:sp>
      <p:pic>
        <p:nvPicPr>
          <p:cNvPr id="10" name="圖形 6">
            <a:extLst>
              <a:ext uri="{FF2B5EF4-FFF2-40B4-BE49-F238E27FC236}">
                <a16:creationId xmlns:a16="http://schemas.microsoft.com/office/drawing/2014/main" id="{162A5ED6-AA37-4866-B535-2B19D89DAA7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2808" y="6079676"/>
            <a:ext cx="943347" cy="401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8813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1E3E8D2-A6EB-4129-AAC2-C8F0378AC5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59359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F5B54E-D686-4015-93F2-94C458F353E2}" type="slidenum">
              <a:rPr lang="zh-TW" altLang="en-US" smtClean="0"/>
              <a:t>‹#›</a:t>
            </a:fld>
            <a:endParaRPr lang="zh-TW" alt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755371C-D64D-43F3-87BC-CFD7CEF00B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632401"/>
          </a:xfrm>
          <a:prstGeom prst="rect">
            <a:avLst/>
          </a:prstGeo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54CD9AF-D50D-4382-8E91-B4703BE21C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13905"/>
            <a:ext cx="10515600" cy="506305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pic>
        <p:nvPicPr>
          <p:cNvPr id="5" name="圖形 6">
            <a:extLst>
              <a:ext uri="{FF2B5EF4-FFF2-40B4-BE49-F238E27FC236}">
                <a16:creationId xmlns:a16="http://schemas.microsoft.com/office/drawing/2014/main" id="{CBBBB4FB-4FD4-45F5-937D-70D8E6612C50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2808" y="6079676"/>
            <a:ext cx="943347" cy="401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8332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717A303B-9EEF-43C8-BF8A-C7DB85784A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59359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F5B54E-D686-4015-93F2-94C458F353E2}" type="slidenum">
              <a:rPr lang="zh-TW" altLang="en-US" smtClean="0"/>
              <a:t>‹#›</a:t>
            </a:fld>
            <a:endParaRPr lang="zh-TW" alt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9AECEED-7ECD-45B3-B02F-D48DCA3CB9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113905"/>
            <a:ext cx="5181600" cy="506305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D3AE1DAB-44EB-4B56-A6A8-46CF395E16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113905"/>
            <a:ext cx="5181600" cy="506305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pic>
        <p:nvPicPr>
          <p:cNvPr id="6" name="圖形 6">
            <a:extLst>
              <a:ext uri="{FF2B5EF4-FFF2-40B4-BE49-F238E27FC236}">
                <a16:creationId xmlns:a16="http://schemas.microsoft.com/office/drawing/2014/main" id="{09D45C17-72FB-4EB7-8A1F-A84422FDE268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2808" y="6079676"/>
            <a:ext cx="943347" cy="401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82555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17ED18-F54E-494E-B926-E5B7F587E5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59359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F5B54E-D686-4015-93F2-94C458F353E2}" type="slidenum">
              <a:rPr lang="zh-TW" altLang="en-US" smtClean="0"/>
              <a:t>‹#›</a:t>
            </a:fld>
            <a:endParaRPr lang="zh-TW" altLang="en-US" dirty="0"/>
          </a:p>
        </p:txBody>
      </p:sp>
      <p:pic>
        <p:nvPicPr>
          <p:cNvPr id="4" name="圖形 6">
            <a:extLst>
              <a:ext uri="{FF2B5EF4-FFF2-40B4-BE49-F238E27FC236}">
                <a16:creationId xmlns:a16="http://schemas.microsoft.com/office/drawing/2014/main" id="{0DB6A092-8599-403C-A373-7925C0D3BBD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2808" y="6079676"/>
            <a:ext cx="943347" cy="401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00433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75ECEBEE-7B36-4171-969C-60AFFF8F2D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59359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F5B54E-D686-4015-93F2-94C458F353E2}" type="slidenum">
              <a:rPr lang="zh-TW" altLang="en-US" smtClean="0"/>
              <a:t>‹#›</a:t>
            </a:fld>
            <a:endParaRPr lang="zh-TW" altLang="en-US" dirty="0"/>
          </a:p>
        </p:txBody>
      </p:sp>
      <p:pic>
        <p:nvPicPr>
          <p:cNvPr id="3" name="圖形 6">
            <a:extLst>
              <a:ext uri="{FF2B5EF4-FFF2-40B4-BE49-F238E27FC236}">
                <a16:creationId xmlns:a16="http://schemas.microsoft.com/office/drawing/2014/main" id="{75D73862-9C64-495D-A83C-EE156BAA83A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2808" y="6079676"/>
            <a:ext cx="943347" cy="401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746649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章節標題">
    <p:bg>
      <p:bgPr>
        <a:solidFill>
          <a:srgbClr val="02B0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33B0862F-FD5C-41B4-B0B7-6A00F56DC666}"/>
              </a:ext>
            </a:extLst>
          </p:cNvPr>
          <p:cNvSpPr/>
          <p:nvPr/>
        </p:nvSpPr>
        <p:spPr>
          <a:xfrm>
            <a:off x="0" y="4021584"/>
            <a:ext cx="12192000" cy="1562470"/>
          </a:xfrm>
          <a:prstGeom prst="rect">
            <a:avLst/>
          </a:prstGeom>
          <a:gradFill>
            <a:gsLst>
              <a:gs pos="0">
                <a:srgbClr val="00B050"/>
              </a:gs>
              <a:gs pos="99000">
                <a:srgbClr val="FBFDED">
                  <a:alpha val="86000"/>
                </a:srgb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800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DB60EE67-AB91-491B-A6B6-346E30295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4390" y="4168576"/>
            <a:ext cx="11103221" cy="818964"/>
          </a:xfrm>
        </p:spPr>
        <p:txBody>
          <a:bodyPr anchor="b">
            <a:no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8" name="內容版面配置區 6">
            <a:extLst>
              <a:ext uri="{FF2B5EF4-FFF2-40B4-BE49-F238E27FC236}">
                <a16:creationId xmlns:a16="http://schemas.microsoft.com/office/drawing/2014/main" id="{FB4486E8-EFC0-46A1-AF7D-8A2F7A4F277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44389" y="5108010"/>
            <a:ext cx="1930400" cy="355574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bg1"/>
                </a:solidFill>
                <a:latin typeface="+mn-ea"/>
                <a:ea typeface="+mn-ea"/>
              </a:defRPr>
            </a:lvl1pPr>
            <a:lvl5pPr marL="1828800" indent="0" algn="l">
              <a:buNone/>
              <a:defRPr/>
            </a:lvl5pPr>
          </a:lstStyle>
          <a:p>
            <a:pPr lvl="0"/>
            <a:r>
              <a:rPr lang="en-US" altLang="zh-TW" dirty="0"/>
              <a:t>2019.xx.xx</a:t>
            </a:r>
            <a:endParaRPr lang="zh-TW" alt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4541140A-B5B0-4C9E-9F4C-8AC473C0FD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59359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F5B54E-D686-4015-93F2-94C458F353E2}" type="slidenum">
              <a:rPr lang="zh-TW" altLang="en-US" smtClean="0"/>
              <a:t>‹#›</a:t>
            </a:fld>
            <a:endParaRPr lang="zh-TW" altLang="en-US" dirty="0"/>
          </a:p>
        </p:txBody>
      </p:sp>
      <p:pic>
        <p:nvPicPr>
          <p:cNvPr id="9" name="圖形 11">
            <a:extLst>
              <a:ext uri="{FF2B5EF4-FFF2-40B4-BE49-F238E27FC236}">
                <a16:creationId xmlns:a16="http://schemas.microsoft.com/office/drawing/2014/main" id="{BF377461-B6D0-4518-A805-F3DB285DF1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2174" y="5896582"/>
            <a:ext cx="1599812" cy="679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9716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1EBFB3F-E913-4A7A-8BA0-3DF36B5F7E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59359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F5B54E-D686-4015-93F2-94C458F353E2}" type="slidenum">
              <a:rPr lang="zh-TW" altLang="en-US" smtClean="0"/>
              <a:t>‹#›</a:t>
            </a:fld>
            <a:endParaRPr lang="zh-TW" alt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E7C778E-B9AD-4B21-81C2-EC210DDFB0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172200" cy="5403851"/>
          </a:xfrm>
          <a:prstGeom prst="rect">
            <a:avLst/>
          </a:prstGeom>
        </p:spPr>
        <p:txBody>
          <a:bodyPr/>
          <a:lstStyle>
            <a:lvl1pPr>
              <a:defRPr sz="3200">
                <a:latin typeface="+mj-ea"/>
                <a:ea typeface="+mj-ea"/>
              </a:defRPr>
            </a:lvl1pPr>
            <a:lvl2pPr>
              <a:defRPr sz="2800">
                <a:latin typeface="+mj-ea"/>
                <a:ea typeface="+mj-ea"/>
              </a:defRPr>
            </a:lvl2pPr>
            <a:lvl3pPr>
              <a:defRPr sz="2400">
                <a:latin typeface="+mj-ea"/>
                <a:ea typeface="+mj-ea"/>
              </a:defRPr>
            </a:lvl3pPr>
            <a:lvl4pPr>
              <a:defRPr sz="2000">
                <a:latin typeface="+mj-ea"/>
                <a:ea typeface="+mj-ea"/>
              </a:defRPr>
            </a:lvl4pPr>
            <a:lvl5pPr>
              <a:defRPr sz="2000">
                <a:latin typeface="+mj-ea"/>
                <a:ea typeface="+mj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78683331-C949-44B5-853A-A65F85FD10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064029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42DC96BA-EE22-4650-9FEA-F553D54663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654234"/>
            <a:ext cx="3932237" cy="421475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latin typeface="+mj-ea"/>
                <a:ea typeface="+mj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pic>
        <p:nvPicPr>
          <p:cNvPr id="6" name="圖形 6">
            <a:extLst>
              <a:ext uri="{FF2B5EF4-FFF2-40B4-BE49-F238E27FC236}">
                <a16:creationId xmlns:a16="http://schemas.microsoft.com/office/drawing/2014/main" id="{67ADA16D-1628-426D-907F-4A250B9632B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2808" y="6079676"/>
            <a:ext cx="943347" cy="401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30365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A69C6DA-56AE-4D53-914C-AC532EBF1A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064029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98073FCF-1387-4A6B-83EC-502D1B21CFEE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457201"/>
            <a:ext cx="6172200" cy="5403851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D7279E2F-783E-421E-AC22-C82A0D86B0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654234"/>
            <a:ext cx="3932237" cy="421475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D99F852-148A-4DEA-8F03-52DC492ABE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59359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F5B54E-D686-4015-93F2-94C458F353E2}" type="slidenum">
              <a:rPr lang="zh-TW" altLang="en-US" smtClean="0"/>
              <a:t>‹#›</a:t>
            </a:fld>
            <a:endParaRPr lang="zh-TW" altLang="en-US" dirty="0"/>
          </a:p>
        </p:txBody>
      </p:sp>
      <p:pic>
        <p:nvPicPr>
          <p:cNvPr id="6" name="圖形 6">
            <a:extLst>
              <a:ext uri="{FF2B5EF4-FFF2-40B4-BE49-F238E27FC236}">
                <a16:creationId xmlns:a16="http://schemas.microsoft.com/office/drawing/2014/main" id="{F7024431-5A96-4990-8B02-B0B02076B97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2808" y="6079676"/>
            <a:ext cx="943347" cy="401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956669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末頁配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1BDD944A-C8CB-4EAC-AEA9-EFC5F150CD6F}"/>
              </a:ext>
            </a:extLst>
          </p:cNvPr>
          <p:cNvSpPr/>
          <p:nvPr/>
        </p:nvSpPr>
        <p:spPr>
          <a:xfrm>
            <a:off x="0" y="1292352"/>
            <a:ext cx="12192000" cy="1353312"/>
          </a:xfrm>
          <a:prstGeom prst="rect">
            <a:avLst/>
          </a:prstGeom>
          <a:gradFill>
            <a:gsLst>
              <a:gs pos="0">
                <a:srgbClr val="00B050"/>
              </a:gs>
              <a:gs pos="99000">
                <a:srgbClr val="FBFDED">
                  <a:alpha val="86000"/>
                </a:srgb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80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CF629BB2-ED75-4C83-ABCE-1CC25849BE0A}"/>
              </a:ext>
            </a:extLst>
          </p:cNvPr>
          <p:cNvSpPr txBox="1"/>
          <p:nvPr/>
        </p:nvSpPr>
        <p:spPr>
          <a:xfrm>
            <a:off x="5670581" y="2008974"/>
            <a:ext cx="538379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8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圓方結構</a:t>
            </a:r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工程顧問有限公司</a:t>
            </a:r>
          </a:p>
          <a:p>
            <a:endParaRPr lang="zh-TW" altLang="en-US" sz="1400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1F25188B-60DE-4F6A-9530-321F5FF05B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59359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F5B54E-D686-4015-93F2-94C458F353E2}" type="slidenum">
              <a:rPr lang="zh-TW" altLang="en-US" smtClean="0"/>
              <a:t>‹#›</a:t>
            </a:fld>
            <a:endParaRPr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C4EEFDF1-F57F-4A88-A650-031EFDABFD3F}"/>
              </a:ext>
            </a:extLst>
          </p:cNvPr>
          <p:cNvSpPr txBox="1"/>
          <p:nvPr/>
        </p:nvSpPr>
        <p:spPr>
          <a:xfrm>
            <a:off x="2758441" y="6006718"/>
            <a:ext cx="667511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T. +886 2 2592 6882</a:t>
            </a:r>
          </a:p>
          <a:p>
            <a:pPr algn="ctr"/>
            <a:r>
              <a:rPr lang="en-US" altLang="zh-TW" sz="1600" dirty="0">
                <a:solidFill>
                  <a:schemeClr val="accent4"/>
                </a:solidFill>
                <a:latin typeface="+mn-ea"/>
                <a:ea typeface="+mn-ea"/>
                <a:cs typeface="Arial" panose="020B0604020202020204" pitchFamily="34" charset="0"/>
              </a:rPr>
              <a:t>elements@elements-structure.com  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2F, No.22, Ln. 393, Jilin Rd., </a:t>
            </a:r>
            <a:r>
              <a:rPr lang="en-US" altLang="zh-TW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Jhongshan</a:t>
            </a:r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 Dist., Taipei City 10470, Taiwan</a:t>
            </a:r>
          </a:p>
        </p:txBody>
      </p:sp>
      <p:pic>
        <p:nvPicPr>
          <p:cNvPr id="10" name="圖形 7">
            <a:extLst>
              <a:ext uri="{FF2B5EF4-FFF2-40B4-BE49-F238E27FC236}">
                <a16:creationId xmlns:a16="http://schemas.microsoft.com/office/drawing/2014/main" id="{5E90B2CC-A12D-47FA-9D4F-9B423961A6A7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0914" y="1521594"/>
            <a:ext cx="2265815" cy="964767"/>
          </a:xfrm>
          <a:prstGeom prst="rect">
            <a:avLst/>
          </a:prstGeom>
        </p:spPr>
      </p:pic>
      <p:sp>
        <p:nvSpPr>
          <p:cNvPr id="20" name="文字方塊 19">
            <a:extLst>
              <a:ext uri="{FF2B5EF4-FFF2-40B4-BE49-F238E27FC236}">
                <a16:creationId xmlns:a16="http://schemas.microsoft.com/office/drawing/2014/main" id="{196270A2-C0DA-499C-ABD3-3E4BD7E83BD0}"/>
              </a:ext>
            </a:extLst>
          </p:cNvPr>
          <p:cNvSpPr txBox="1"/>
          <p:nvPr userDrawn="1"/>
        </p:nvSpPr>
        <p:spPr>
          <a:xfrm>
            <a:off x="3542582" y="4221089"/>
            <a:ext cx="47962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altLang="zh-TW" sz="14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Explore</a:t>
            </a:r>
            <a:r>
              <a:rPr lang="zh-TW" altLang="en-US" sz="14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altLang="zh-TW" sz="14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</a:t>
            </a:r>
            <a:r>
              <a:rPr lang="zh-TW" altLang="en-US" sz="14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r>
              <a:rPr lang="zh-TW" altLang="en-US" sz="14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altLang="zh-TW" sz="14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Structure </a:t>
            </a:r>
            <a:r>
              <a:rPr lang="zh-TW" altLang="en-US" sz="14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Solution </a:t>
            </a:r>
            <a:endParaRPr lang="zh-TW" altLang="en-US" sz="140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46C04D6-864F-4D4E-B001-E8ADA8C9D32A}"/>
              </a:ext>
            </a:extLst>
          </p:cNvPr>
          <p:cNvSpPr/>
          <p:nvPr userDrawn="1"/>
        </p:nvSpPr>
        <p:spPr>
          <a:xfrm>
            <a:off x="3348436" y="4222724"/>
            <a:ext cx="5184576" cy="72008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/>
              <a:ea typeface="微軟正黑體 Light"/>
              <a:cs typeface="+mn-cs"/>
            </a:endParaRPr>
          </a:p>
        </p:txBody>
      </p:sp>
      <p:sp>
        <p:nvSpPr>
          <p:cNvPr id="22" name="標題 4">
            <a:extLst>
              <a:ext uri="{FF2B5EF4-FFF2-40B4-BE49-F238E27FC236}">
                <a16:creationId xmlns:a16="http://schemas.microsoft.com/office/drawing/2014/main" id="{C5B345B3-68AE-4CDD-8F54-5D8DCB03EBE1}"/>
              </a:ext>
            </a:extLst>
          </p:cNvPr>
          <p:cNvSpPr txBox="1">
            <a:spLocks/>
          </p:cNvSpPr>
          <p:nvPr userDrawn="1"/>
        </p:nvSpPr>
        <p:spPr>
          <a:xfrm>
            <a:off x="-528736" y="5085185"/>
            <a:ext cx="1303466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rgbClr val="E27128"/>
                </a:solidFill>
                <a:latin typeface="+mn-lt"/>
                <a:ea typeface="+mj-ea"/>
                <a:cs typeface="Calibri Light" panose="020F030202020403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 Light"/>
                <a:ea typeface="微軟正黑體"/>
                <a:cs typeface="Calibri Light" panose="020F0302020204030204" pitchFamily="34" charset="0"/>
              </a:rPr>
              <a:t>Visit Us   </a:t>
            </a:r>
            <a:r>
              <a:rPr kumimoji="0" lang="zh-TW" altLang="en-US" sz="1600" b="1" i="0" u="none" strike="noStrike" kern="120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 Light"/>
                <a:ea typeface="微軟正黑體"/>
                <a:cs typeface="Calibri Light" panose="020F030202020403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https://www.elements-str.com/</a:t>
            </a:r>
            <a:br>
              <a:rPr kumimoji="0" lang="en-US" altLang="zh-TW" sz="1600" b="1" i="0" u="none" strike="noStrike" kern="120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 Light"/>
                <a:ea typeface="微軟正黑體"/>
                <a:cs typeface="Calibri Light" panose="020F0302020204030204" pitchFamily="34" charset="0"/>
              </a:rPr>
            </a:br>
            <a:endParaRPr kumimoji="0" lang="zh-TW" altLang="en-US" sz="16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 Light"/>
              <a:ea typeface="微軟正黑體"/>
              <a:cs typeface="Calibri Light" panose="020F0302020204030204" pitchFamily="34" charset="0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152482F5-D257-4E6C-A2EA-5028E34B4C87}"/>
              </a:ext>
            </a:extLst>
          </p:cNvPr>
          <p:cNvSpPr txBox="1"/>
          <p:nvPr userDrawn="1"/>
        </p:nvSpPr>
        <p:spPr>
          <a:xfrm>
            <a:off x="2351584" y="3573016"/>
            <a:ext cx="72968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altLang="zh-TW" sz="4000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WE ADD VALUE</a:t>
            </a:r>
            <a:endParaRPr lang="zh-TW" altLang="en-US" sz="4000" b="1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手繪多邊形: 圖案 23">
            <a:extLst>
              <a:ext uri="{FF2B5EF4-FFF2-40B4-BE49-F238E27FC236}">
                <a16:creationId xmlns:a16="http://schemas.microsoft.com/office/drawing/2014/main" id="{4404C177-1392-4661-AD7D-AE3141CC8394}"/>
              </a:ext>
            </a:extLst>
          </p:cNvPr>
          <p:cNvSpPr/>
          <p:nvPr userDrawn="1"/>
        </p:nvSpPr>
        <p:spPr>
          <a:xfrm>
            <a:off x="4981576" y="3840957"/>
            <a:ext cx="317499" cy="326232"/>
          </a:xfrm>
          <a:custGeom>
            <a:avLst/>
            <a:gdLst>
              <a:gd name="connsiteX0" fmla="*/ 0 w 202406"/>
              <a:gd name="connsiteY0" fmla="*/ 295275 h 297657"/>
              <a:gd name="connsiteX1" fmla="*/ 100012 w 202406"/>
              <a:gd name="connsiteY1" fmla="*/ 0 h 297657"/>
              <a:gd name="connsiteX2" fmla="*/ 202406 w 202406"/>
              <a:gd name="connsiteY2" fmla="*/ 297657 h 297657"/>
              <a:gd name="connsiteX3" fmla="*/ 0 w 202406"/>
              <a:gd name="connsiteY3" fmla="*/ 295275 h 297657"/>
              <a:gd name="connsiteX0" fmla="*/ 0 w 216693"/>
              <a:gd name="connsiteY0" fmla="*/ 323850 h 323850"/>
              <a:gd name="connsiteX1" fmla="*/ 114299 w 216693"/>
              <a:gd name="connsiteY1" fmla="*/ 0 h 323850"/>
              <a:gd name="connsiteX2" fmla="*/ 216693 w 216693"/>
              <a:gd name="connsiteY2" fmla="*/ 297657 h 323850"/>
              <a:gd name="connsiteX3" fmla="*/ 0 w 216693"/>
              <a:gd name="connsiteY3" fmla="*/ 323850 h 323850"/>
              <a:gd name="connsiteX0" fmla="*/ 0 w 238124"/>
              <a:gd name="connsiteY0" fmla="*/ 323850 h 326232"/>
              <a:gd name="connsiteX1" fmla="*/ 114299 w 238124"/>
              <a:gd name="connsiteY1" fmla="*/ 0 h 326232"/>
              <a:gd name="connsiteX2" fmla="*/ 238124 w 238124"/>
              <a:gd name="connsiteY2" fmla="*/ 326232 h 326232"/>
              <a:gd name="connsiteX3" fmla="*/ 0 w 238124"/>
              <a:gd name="connsiteY3" fmla="*/ 323850 h 326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4" h="326232">
                <a:moveTo>
                  <a:pt x="0" y="323850"/>
                </a:moveTo>
                <a:lnTo>
                  <a:pt x="114299" y="0"/>
                </a:lnTo>
                <a:lnTo>
                  <a:pt x="238124" y="326232"/>
                </a:lnTo>
                <a:lnTo>
                  <a:pt x="0" y="323850"/>
                </a:lnTo>
                <a:close/>
              </a:path>
            </a:pathLst>
          </a:custGeom>
          <a:solidFill>
            <a:sysClr val="window" lastClr="FFFF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/>
              <a:ea typeface="微軟正黑體 Light"/>
              <a:cs typeface="+mn-cs"/>
            </a:endParaRPr>
          </a:p>
        </p:txBody>
      </p:sp>
      <p:sp>
        <p:nvSpPr>
          <p:cNvPr id="25" name="手繪多邊形: 圖案 24">
            <a:extLst>
              <a:ext uri="{FF2B5EF4-FFF2-40B4-BE49-F238E27FC236}">
                <a16:creationId xmlns:a16="http://schemas.microsoft.com/office/drawing/2014/main" id="{C4C56F13-A488-484E-B7FD-9C91FC3EA9E4}"/>
              </a:ext>
            </a:extLst>
          </p:cNvPr>
          <p:cNvSpPr/>
          <p:nvPr userDrawn="1"/>
        </p:nvSpPr>
        <p:spPr>
          <a:xfrm>
            <a:off x="6768075" y="3834854"/>
            <a:ext cx="311149" cy="330995"/>
          </a:xfrm>
          <a:custGeom>
            <a:avLst/>
            <a:gdLst>
              <a:gd name="connsiteX0" fmla="*/ 0 w 202406"/>
              <a:gd name="connsiteY0" fmla="*/ 295275 h 297657"/>
              <a:gd name="connsiteX1" fmla="*/ 100012 w 202406"/>
              <a:gd name="connsiteY1" fmla="*/ 0 h 297657"/>
              <a:gd name="connsiteX2" fmla="*/ 202406 w 202406"/>
              <a:gd name="connsiteY2" fmla="*/ 297657 h 297657"/>
              <a:gd name="connsiteX3" fmla="*/ 0 w 202406"/>
              <a:gd name="connsiteY3" fmla="*/ 295275 h 297657"/>
              <a:gd name="connsiteX0" fmla="*/ 0 w 216693"/>
              <a:gd name="connsiteY0" fmla="*/ 323850 h 323850"/>
              <a:gd name="connsiteX1" fmla="*/ 114299 w 216693"/>
              <a:gd name="connsiteY1" fmla="*/ 0 h 323850"/>
              <a:gd name="connsiteX2" fmla="*/ 216693 w 216693"/>
              <a:gd name="connsiteY2" fmla="*/ 297657 h 323850"/>
              <a:gd name="connsiteX3" fmla="*/ 0 w 216693"/>
              <a:gd name="connsiteY3" fmla="*/ 323850 h 323850"/>
              <a:gd name="connsiteX0" fmla="*/ 0 w 238124"/>
              <a:gd name="connsiteY0" fmla="*/ 323850 h 326232"/>
              <a:gd name="connsiteX1" fmla="*/ 114299 w 238124"/>
              <a:gd name="connsiteY1" fmla="*/ 0 h 326232"/>
              <a:gd name="connsiteX2" fmla="*/ 238124 w 238124"/>
              <a:gd name="connsiteY2" fmla="*/ 326232 h 326232"/>
              <a:gd name="connsiteX3" fmla="*/ 0 w 238124"/>
              <a:gd name="connsiteY3" fmla="*/ 323850 h 326232"/>
              <a:gd name="connsiteX0" fmla="*/ 0 w 242887"/>
              <a:gd name="connsiteY0" fmla="*/ 311943 h 326232"/>
              <a:gd name="connsiteX1" fmla="*/ 119062 w 242887"/>
              <a:gd name="connsiteY1" fmla="*/ 0 h 326232"/>
              <a:gd name="connsiteX2" fmla="*/ 242887 w 242887"/>
              <a:gd name="connsiteY2" fmla="*/ 326232 h 326232"/>
              <a:gd name="connsiteX3" fmla="*/ 0 w 242887"/>
              <a:gd name="connsiteY3" fmla="*/ 311943 h 326232"/>
              <a:gd name="connsiteX0" fmla="*/ 0 w 242887"/>
              <a:gd name="connsiteY0" fmla="*/ 338137 h 352426"/>
              <a:gd name="connsiteX1" fmla="*/ 111919 w 242887"/>
              <a:gd name="connsiteY1" fmla="*/ 0 h 352426"/>
              <a:gd name="connsiteX2" fmla="*/ 242887 w 242887"/>
              <a:gd name="connsiteY2" fmla="*/ 352426 h 352426"/>
              <a:gd name="connsiteX3" fmla="*/ 0 w 242887"/>
              <a:gd name="connsiteY3" fmla="*/ 338137 h 352426"/>
              <a:gd name="connsiteX0" fmla="*/ 0 w 238125"/>
              <a:gd name="connsiteY0" fmla="*/ 338137 h 338137"/>
              <a:gd name="connsiteX1" fmla="*/ 111919 w 238125"/>
              <a:gd name="connsiteY1" fmla="*/ 0 h 338137"/>
              <a:gd name="connsiteX2" fmla="*/ 238125 w 238125"/>
              <a:gd name="connsiteY2" fmla="*/ 330995 h 338137"/>
              <a:gd name="connsiteX3" fmla="*/ 0 w 238125"/>
              <a:gd name="connsiteY3" fmla="*/ 338137 h 338137"/>
              <a:gd name="connsiteX0" fmla="*/ 0 w 233362"/>
              <a:gd name="connsiteY0" fmla="*/ 328612 h 330995"/>
              <a:gd name="connsiteX1" fmla="*/ 107156 w 233362"/>
              <a:gd name="connsiteY1" fmla="*/ 0 h 330995"/>
              <a:gd name="connsiteX2" fmla="*/ 233362 w 233362"/>
              <a:gd name="connsiteY2" fmla="*/ 330995 h 330995"/>
              <a:gd name="connsiteX3" fmla="*/ 0 w 233362"/>
              <a:gd name="connsiteY3" fmla="*/ 328612 h 3309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3362" h="330995">
                <a:moveTo>
                  <a:pt x="0" y="328612"/>
                </a:moveTo>
                <a:lnTo>
                  <a:pt x="107156" y="0"/>
                </a:lnTo>
                <a:lnTo>
                  <a:pt x="233362" y="330995"/>
                </a:lnTo>
                <a:lnTo>
                  <a:pt x="0" y="328612"/>
                </a:lnTo>
                <a:close/>
              </a:path>
            </a:pathLst>
          </a:custGeom>
          <a:solidFill>
            <a:sysClr val="window" lastClr="FFFF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/>
              <a:ea typeface="微軟正黑體 Light"/>
              <a:cs typeface="+mn-cs"/>
            </a:endParaRPr>
          </a:p>
        </p:txBody>
      </p:sp>
      <p:cxnSp>
        <p:nvCxnSpPr>
          <p:cNvPr id="26" name="直線接點 25">
            <a:extLst>
              <a:ext uri="{FF2B5EF4-FFF2-40B4-BE49-F238E27FC236}">
                <a16:creationId xmlns:a16="http://schemas.microsoft.com/office/drawing/2014/main" id="{4D990F40-26F7-483E-8B61-117C0BE21BC7}"/>
              </a:ext>
            </a:extLst>
          </p:cNvPr>
          <p:cNvCxnSpPr/>
          <p:nvPr userDrawn="1"/>
        </p:nvCxnSpPr>
        <p:spPr>
          <a:xfrm>
            <a:off x="3599723" y="4221088"/>
            <a:ext cx="4896544" cy="0"/>
          </a:xfrm>
          <a:prstGeom prst="line">
            <a:avLst/>
          </a:prstGeom>
          <a:noFill/>
          <a:ln w="6350" cap="flat" cmpd="sng" algn="ctr">
            <a:solidFill>
              <a:srgbClr val="D9D9D9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39126359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字方塊 9">
            <a:extLst>
              <a:ext uri="{FF2B5EF4-FFF2-40B4-BE49-F238E27FC236}">
                <a16:creationId xmlns:a16="http://schemas.microsoft.com/office/drawing/2014/main" id="{B74C6FEF-945E-48FE-AB9D-3BA45BBAD303}"/>
              </a:ext>
            </a:extLst>
          </p:cNvPr>
          <p:cNvSpPr txBox="1"/>
          <p:nvPr/>
        </p:nvSpPr>
        <p:spPr>
          <a:xfrm>
            <a:off x="1" y="1236375"/>
            <a:ext cx="1240367" cy="246221"/>
          </a:xfrm>
          <a:prstGeom prst="rect">
            <a:avLst/>
          </a:prstGeom>
          <a:gradFill>
            <a:gsLst>
              <a:gs pos="0">
                <a:srgbClr val="532476"/>
              </a:gs>
              <a:gs pos="99000">
                <a:srgbClr val="F5F9DF">
                  <a:alpha val="19000"/>
                </a:srgbClr>
              </a:gs>
            </a:gsLst>
            <a:lin ang="0" scaled="1"/>
          </a:gradFill>
        </p:spPr>
        <p:txBody>
          <a:bodyPr wrap="square" rtlCol="0">
            <a:spAutoFit/>
          </a:bodyPr>
          <a:lstStyle/>
          <a:p>
            <a:endParaRPr lang="zh-TW" altLang="en-US" sz="10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7" name="群組 6">
            <a:extLst>
              <a:ext uri="{FF2B5EF4-FFF2-40B4-BE49-F238E27FC236}">
                <a16:creationId xmlns:a16="http://schemas.microsoft.com/office/drawing/2014/main" id="{AA950245-5EC2-462E-8CA4-9FEB371A5FAE}"/>
              </a:ext>
            </a:extLst>
          </p:cNvPr>
          <p:cNvGrpSpPr/>
          <p:nvPr/>
        </p:nvGrpSpPr>
        <p:grpSpPr>
          <a:xfrm>
            <a:off x="711285" y="849259"/>
            <a:ext cx="11480716" cy="1002146"/>
            <a:chOff x="533463" y="849259"/>
            <a:chExt cx="8610537" cy="1002146"/>
          </a:xfrm>
        </p:grpSpPr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3DF12075-E9E7-4D2F-89C3-6FD38F97472B}"/>
                </a:ext>
              </a:extLst>
            </p:cNvPr>
            <p:cNvSpPr txBox="1"/>
            <p:nvPr/>
          </p:nvSpPr>
          <p:spPr>
            <a:xfrm>
              <a:off x="7696200" y="1543628"/>
              <a:ext cx="1447800" cy="307777"/>
            </a:xfrm>
            <a:prstGeom prst="rect">
              <a:avLst/>
            </a:prstGeom>
            <a:solidFill>
              <a:schemeClr val="bg1">
                <a:lumMod val="85000"/>
                <a:alpha val="73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endParaRPr lang="zh-TW" altLang="en-US" sz="1400" dirty="0">
                <a:solidFill>
                  <a:schemeClr val="bg1">
                    <a:lumMod val="50000"/>
                  </a:schemeClr>
                </a:solidFill>
                <a:latin typeface="Arial Unicode MS" panose="020B0604020202020204" pitchFamily="34" charset="-120"/>
                <a:ea typeface="Arial Unicode MS" panose="020B0604020202020204" pitchFamily="34" charset="-120"/>
                <a:cs typeface="Arial Unicode MS" panose="020B0604020202020204" pitchFamily="34" charset="-120"/>
              </a:endParaRPr>
            </a:p>
          </p:txBody>
        </p:sp>
        <p:sp>
          <p:nvSpPr>
            <p:cNvPr id="12" name="等腰三角形 11">
              <a:extLst>
                <a:ext uri="{FF2B5EF4-FFF2-40B4-BE49-F238E27FC236}">
                  <a16:creationId xmlns:a16="http://schemas.microsoft.com/office/drawing/2014/main" id="{86B5E1CA-260A-4FE4-AAC2-61D5B88CD63B}"/>
                </a:ext>
              </a:extLst>
            </p:cNvPr>
            <p:cNvSpPr/>
            <p:nvPr/>
          </p:nvSpPr>
          <p:spPr>
            <a:xfrm rot="9756150">
              <a:off x="533463" y="849259"/>
              <a:ext cx="1076325" cy="92786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9433" y="1244010"/>
            <a:ext cx="5181600" cy="480017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240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cxnSp>
        <p:nvCxnSpPr>
          <p:cNvPr id="14" name="直線接點 13">
            <a:extLst>
              <a:ext uri="{FF2B5EF4-FFF2-40B4-BE49-F238E27FC236}">
                <a16:creationId xmlns:a16="http://schemas.microsoft.com/office/drawing/2014/main" id="{00A03714-762D-44FE-9F03-7BB8BC157093}"/>
              </a:ext>
            </a:extLst>
          </p:cNvPr>
          <p:cNvCxnSpPr>
            <a:cxnSpLocks/>
          </p:cNvCxnSpPr>
          <p:nvPr/>
        </p:nvCxnSpPr>
        <p:spPr>
          <a:xfrm>
            <a:off x="-12699" y="1684397"/>
            <a:ext cx="10274300" cy="11591"/>
          </a:xfrm>
          <a:prstGeom prst="line">
            <a:avLst/>
          </a:prstGeom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內容版面配置區 6">
            <a:extLst>
              <a:ext uri="{FF2B5EF4-FFF2-40B4-BE49-F238E27FC236}">
                <a16:creationId xmlns:a16="http://schemas.microsoft.com/office/drawing/2014/main" id="{0EBA2089-3C58-417E-AE0D-D9AEC53D050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261600" y="1555988"/>
            <a:ext cx="1930400" cy="355574"/>
          </a:xfrm>
        </p:spPr>
        <p:txBody>
          <a:bodyPr>
            <a:noAutofit/>
          </a:bodyPr>
          <a:lstStyle>
            <a:lvl1pPr marL="0" indent="0">
              <a:buNone/>
              <a:defRPr sz="1800">
                <a:latin typeface="+mn-ea"/>
                <a:ea typeface="+mn-ea"/>
              </a:defRPr>
            </a:lvl1pPr>
            <a:lvl5pPr marL="1828800" indent="0" algn="l">
              <a:buNone/>
              <a:defRPr/>
            </a:lvl5pPr>
          </a:lstStyle>
          <a:p>
            <a:pPr lvl="0"/>
            <a:r>
              <a:rPr lang="en-US" altLang="zh-TW" dirty="0"/>
              <a:t>2018/xx/xx</a:t>
            </a:r>
            <a:endParaRPr lang="zh-TW" altLang="en-US" dirty="0"/>
          </a:p>
        </p:txBody>
      </p:sp>
      <p:pic>
        <p:nvPicPr>
          <p:cNvPr id="9" name="圖形 6">
            <a:extLst>
              <a:ext uri="{FF2B5EF4-FFF2-40B4-BE49-F238E27FC236}">
                <a16:creationId xmlns:a16="http://schemas.microsoft.com/office/drawing/2014/main" id="{8DC5CF17-185F-487A-8B8D-2031CAA5E5E0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2808" y="6079676"/>
            <a:ext cx="943347" cy="401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306090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448800" y="-47184"/>
            <a:ext cx="2743200" cy="365125"/>
          </a:xfrm>
          <a:prstGeom prst="rect">
            <a:avLst/>
          </a:prstGeom>
        </p:spPr>
        <p:txBody>
          <a:bodyPr/>
          <a:lstStyle/>
          <a:p>
            <a:fld id="{83F5B54E-D686-4015-93F2-94C458F353E2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B4348FA-ED8A-491C-9290-9EE8EC7700FE}"/>
              </a:ext>
            </a:extLst>
          </p:cNvPr>
          <p:cNvSpPr txBox="1">
            <a:spLocks/>
          </p:cNvSpPr>
          <p:nvPr/>
        </p:nvSpPr>
        <p:spPr>
          <a:xfrm>
            <a:off x="9448800" y="659359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3F5B54E-D686-4015-93F2-94C458F353E2}" type="slidenum">
              <a:rPr lang="zh-TW" altLang="en-US" sz="1200" smtClean="0"/>
              <a:pPr/>
              <a:t>‹#›</a:t>
            </a:fld>
            <a:endParaRPr lang="zh-TW" altLang="en-US" sz="1200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0F715FE4-1748-40AC-8827-F66837169C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3440"/>
            <a:ext cx="10515600" cy="6195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pic>
        <p:nvPicPr>
          <p:cNvPr id="9" name="圖形 6">
            <a:extLst>
              <a:ext uri="{FF2B5EF4-FFF2-40B4-BE49-F238E27FC236}">
                <a16:creationId xmlns:a16="http://schemas.microsoft.com/office/drawing/2014/main" id="{D6C53828-0AEB-4C29-83A7-8D6DDC0BF853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2808" y="6079676"/>
            <a:ext cx="943347" cy="401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372161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899EB4F5-16AF-437E-96D3-7DF3A2DE85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59359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F5B54E-D686-4015-93F2-94C458F353E2}" type="slidenum">
              <a:rPr lang="zh-TW" altLang="en-US" smtClean="0"/>
              <a:t>‹#›</a:t>
            </a:fld>
            <a:endParaRPr lang="zh-TW" altLang="en-US" dirty="0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8B9C2854-41C9-4D6B-8D56-F7E02D8C64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3440"/>
            <a:ext cx="10515600" cy="6195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3EEFC93-CBB8-4942-9BF1-D14C2BDDB2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113905"/>
            <a:ext cx="5181600" cy="506305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11AADBBD-67B3-4D66-88D3-11367A5129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113905"/>
            <a:ext cx="5181600" cy="506305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pic>
        <p:nvPicPr>
          <p:cNvPr id="6" name="圖形 6">
            <a:extLst>
              <a:ext uri="{FF2B5EF4-FFF2-40B4-BE49-F238E27FC236}">
                <a16:creationId xmlns:a16="http://schemas.microsoft.com/office/drawing/2014/main" id="{A8C0AF48-A29E-4015-814A-FDECC2E331F7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2808" y="6079676"/>
            <a:ext cx="943347" cy="401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52028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BDA7EC-CA79-4C4F-899A-5CEBE526D0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59359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F5B54E-D686-4015-93F2-94C458F353E2}" type="slidenum">
              <a:rPr lang="zh-TW" altLang="en-US" smtClean="0"/>
              <a:t>‹#›</a:t>
            </a:fld>
            <a:endParaRPr lang="zh-TW" altLang="en-US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A2FAB0E-EA1D-45E4-A85C-5D52FF715A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3440"/>
            <a:ext cx="10515600" cy="6195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pic>
        <p:nvPicPr>
          <p:cNvPr id="4" name="圖形 6">
            <a:extLst>
              <a:ext uri="{FF2B5EF4-FFF2-40B4-BE49-F238E27FC236}">
                <a16:creationId xmlns:a16="http://schemas.microsoft.com/office/drawing/2014/main" id="{2BDD1A88-D87F-4932-ADDA-5C9B654A7597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2808" y="6079676"/>
            <a:ext cx="943347" cy="401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868589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CE5F295-0A65-449A-8E65-F9B1D08449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59359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F5B54E-D686-4015-93F2-94C458F353E2}" type="slidenum">
              <a:rPr lang="zh-TW" altLang="en-US" smtClean="0"/>
              <a:t>‹#›</a:t>
            </a:fld>
            <a:endParaRPr lang="zh-TW" altLang="en-US" dirty="0"/>
          </a:p>
        </p:txBody>
      </p:sp>
      <p:pic>
        <p:nvPicPr>
          <p:cNvPr id="3" name="圖形 6">
            <a:extLst>
              <a:ext uri="{FF2B5EF4-FFF2-40B4-BE49-F238E27FC236}">
                <a16:creationId xmlns:a16="http://schemas.microsoft.com/office/drawing/2014/main" id="{E674D72A-13D9-4756-A9ED-3E701BE9D70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2808" y="6079676"/>
            <a:ext cx="943347" cy="401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6793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章節標題">
    <p:bg>
      <p:bgPr>
        <a:solidFill>
          <a:srgbClr val="53247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字方塊 8">
            <a:extLst>
              <a:ext uri="{FF2B5EF4-FFF2-40B4-BE49-F238E27FC236}">
                <a16:creationId xmlns:a16="http://schemas.microsoft.com/office/drawing/2014/main" id="{6293BDCD-9BF2-4BB6-B17B-B816C0EB13D2}"/>
              </a:ext>
            </a:extLst>
          </p:cNvPr>
          <p:cNvSpPr txBox="1"/>
          <p:nvPr/>
        </p:nvSpPr>
        <p:spPr>
          <a:xfrm>
            <a:off x="0" y="4021584"/>
            <a:ext cx="12192000" cy="246221"/>
          </a:xfrm>
          <a:prstGeom prst="rect">
            <a:avLst/>
          </a:prstGeom>
          <a:gradFill>
            <a:gsLst>
              <a:gs pos="0">
                <a:srgbClr val="532476"/>
              </a:gs>
              <a:gs pos="99000">
                <a:srgbClr val="F5F9DF">
                  <a:alpha val="40000"/>
                </a:srgbClr>
              </a:gs>
            </a:gsLst>
            <a:lin ang="0" scaled="1"/>
          </a:gradFill>
        </p:spPr>
        <p:txBody>
          <a:bodyPr wrap="square" rtlCol="0">
            <a:spAutoFit/>
          </a:bodyPr>
          <a:lstStyle/>
          <a:p>
            <a:endParaRPr lang="zh-TW" altLang="en-US" sz="10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DB60EE67-AB91-491B-A6B6-346E30295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4390" y="4168576"/>
            <a:ext cx="11103221" cy="81896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8" name="內容版面配置區 6">
            <a:extLst>
              <a:ext uri="{FF2B5EF4-FFF2-40B4-BE49-F238E27FC236}">
                <a16:creationId xmlns:a16="http://schemas.microsoft.com/office/drawing/2014/main" id="{FB4486E8-EFC0-46A1-AF7D-8A2F7A4F277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44389" y="5108010"/>
            <a:ext cx="1930400" cy="355574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bg1"/>
                </a:solidFill>
                <a:latin typeface="+mn-ea"/>
                <a:ea typeface="+mn-ea"/>
              </a:defRPr>
            </a:lvl1pPr>
            <a:lvl5pPr marL="1828800" indent="0" algn="l">
              <a:buNone/>
              <a:defRPr/>
            </a:lvl5pPr>
          </a:lstStyle>
          <a:p>
            <a:pPr lvl="0"/>
            <a:r>
              <a:rPr lang="en-US" altLang="zh-TW" dirty="0"/>
              <a:t>2019.xx.xx</a:t>
            </a:r>
            <a:endParaRPr lang="zh-TW" alt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3B6F877-B313-4E1A-92D4-54E741361F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59359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F5B54E-D686-4015-93F2-94C458F353E2}" type="slidenum">
              <a:rPr lang="zh-TW" altLang="en-US" smtClean="0"/>
              <a:t>‹#›</a:t>
            </a:fld>
            <a:endParaRPr lang="zh-TW" altLang="en-US" dirty="0"/>
          </a:p>
        </p:txBody>
      </p:sp>
      <p:pic>
        <p:nvPicPr>
          <p:cNvPr id="11" name="圖形 11">
            <a:extLst>
              <a:ext uri="{FF2B5EF4-FFF2-40B4-BE49-F238E27FC236}">
                <a16:creationId xmlns:a16="http://schemas.microsoft.com/office/drawing/2014/main" id="{9A41A926-7479-4447-8D62-061D5C0215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2174" y="5896582"/>
            <a:ext cx="1599812" cy="679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38127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BDF8A4F6-FBB9-48EB-B18B-45604C5454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59359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F5B54E-D686-4015-93F2-94C458F353E2}" type="slidenum">
              <a:rPr lang="zh-TW" altLang="en-US" smtClean="0"/>
              <a:t>‹#›</a:t>
            </a:fld>
            <a:endParaRPr lang="zh-TW" alt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B0D4968-EDA9-4855-BF79-E2676507FF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172200" cy="5403851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EC0DA916-BEDC-43B9-B776-130ACD7EAD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064029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BE276D3E-81F2-4A21-AAF3-BBDB115869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654234"/>
            <a:ext cx="3932237" cy="421475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pic>
        <p:nvPicPr>
          <p:cNvPr id="6" name="圖形 6">
            <a:extLst>
              <a:ext uri="{FF2B5EF4-FFF2-40B4-BE49-F238E27FC236}">
                <a16:creationId xmlns:a16="http://schemas.microsoft.com/office/drawing/2014/main" id="{6B24ADB8-C9DF-41EE-BE61-79EE6C1ED9E7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2808" y="6079676"/>
            <a:ext cx="943347" cy="401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94920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EB553DF6-C355-4033-AE38-779C7379D7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59359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F5B54E-D686-4015-93F2-94C458F353E2}" type="slidenum">
              <a:rPr lang="zh-TW" altLang="en-US" smtClean="0"/>
              <a:t>‹#›</a:t>
            </a:fld>
            <a:endParaRPr lang="zh-TW" alt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1DEFF5B-181D-4A7C-A7AC-4E15DF8F26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064029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AAFAB4DA-C1AB-48C9-ABEE-85FE8AC1637B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457201"/>
            <a:ext cx="6172200" cy="5403851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FC9AAD78-A2C8-4E9F-8E20-8D45AD99D1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654234"/>
            <a:ext cx="3932237" cy="421475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pic>
        <p:nvPicPr>
          <p:cNvPr id="6" name="圖形 6">
            <a:extLst>
              <a:ext uri="{FF2B5EF4-FFF2-40B4-BE49-F238E27FC236}">
                <a16:creationId xmlns:a16="http://schemas.microsoft.com/office/drawing/2014/main" id="{FAD43334-E132-43E2-B4F0-C4FC9735662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2808" y="6079676"/>
            <a:ext cx="943347" cy="401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10178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末頁配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字方塊 11">
            <a:extLst>
              <a:ext uri="{FF2B5EF4-FFF2-40B4-BE49-F238E27FC236}">
                <a16:creationId xmlns:a16="http://schemas.microsoft.com/office/drawing/2014/main" id="{AFF5D310-19C4-4FCB-847A-AF0726887657}"/>
              </a:ext>
            </a:extLst>
          </p:cNvPr>
          <p:cNvSpPr txBox="1"/>
          <p:nvPr/>
        </p:nvSpPr>
        <p:spPr>
          <a:xfrm>
            <a:off x="-2" y="1290385"/>
            <a:ext cx="12192003" cy="246221"/>
          </a:xfrm>
          <a:prstGeom prst="rect">
            <a:avLst/>
          </a:prstGeom>
          <a:gradFill>
            <a:gsLst>
              <a:gs pos="7000">
                <a:srgbClr val="532476"/>
              </a:gs>
              <a:gs pos="99000">
                <a:srgbClr val="F5F9DF">
                  <a:lumMod val="100000"/>
                  <a:alpha val="33000"/>
                </a:srgbClr>
              </a:gs>
            </a:gsLst>
            <a:lin ang="0" scaled="1"/>
          </a:gradFill>
        </p:spPr>
        <p:txBody>
          <a:bodyPr wrap="square" rtlCol="0">
            <a:spAutoFit/>
          </a:bodyPr>
          <a:lstStyle/>
          <a:p>
            <a:endParaRPr lang="zh-TW" altLang="en-US" sz="10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1CEF5CA1-0B62-4B53-8015-9FB355394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447582"/>
            <a:ext cx="10515600" cy="1325563"/>
          </a:xfrm>
          <a:prstGeom prst="rect">
            <a:avLst/>
          </a:prstGeom>
        </p:spPr>
        <p:txBody>
          <a:bodyPr/>
          <a:lstStyle>
            <a:lvl1pPr algn="ctr"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altLang="zh-TW" dirty="0"/>
              <a:t>Thank you</a:t>
            </a:r>
            <a:endParaRPr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CF629BB2-ED75-4C83-ABCE-1CC25849BE0A}"/>
              </a:ext>
            </a:extLst>
          </p:cNvPr>
          <p:cNvSpPr txBox="1"/>
          <p:nvPr/>
        </p:nvSpPr>
        <p:spPr>
          <a:xfrm>
            <a:off x="5670581" y="2008974"/>
            <a:ext cx="538379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8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圓方結構</a:t>
            </a:r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工程顧問有限公司</a:t>
            </a:r>
          </a:p>
          <a:p>
            <a:endParaRPr lang="zh-TW" altLang="en-US" sz="1400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2F13F4DD-0302-40EA-A0F0-B3587A0290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59359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F5B54E-D686-4015-93F2-94C458F353E2}" type="slidenum">
              <a:rPr lang="zh-TW" altLang="en-US" smtClean="0"/>
              <a:t>‹#›</a:t>
            </a:fld>
            <a:endParaRPr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98B0B80F-8285-46AE-BC84-8E02778221B0}"/>
              </a:ext>
            </a:extLst>
          </p:cNvPr>
          <p:cNvSpPr txBox="1"/>
          <p:nvPr/>
        </p:nvSpPr>
        <p:spPr>
          <a:xfrm>
            <a:off x="2758441" y="6006718"/>
            <a:ext cx="667511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T. +886 2 2592 6882</a:t>
            </a:r>
          </a:p>
          <a:p>
            <a:pPr algn="ctr"/>
            <a:r>
              <a:rPr lang="en-US" altLang="zh-TW" sz="1600" dirty="0">
                <a:solidFill>
                  <a:srgbClr val="552677"/>
                </a:solidFill>
                <a:latin typeface="+mn-ea"/>
                <a:ea typeface="+mn-ea"/>
                <a:cs typeface="Arial" panose="020B0604020202020204" pitchFamily="34" charset="0"/>
              </a:rPr>
              <a:t>elements@elements-structure.com  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2F, No.22, Ln. 393, Jilin Rd., </a:t>
            </a:r>
            <a:r>
              <a:rPr lang="en-US" altLang="zh-TW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Jhongshan</a:t>
            </a:r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 Dist., Taipei City 10470, Taiwan</a:t>
            </a:r>
          </a:p>
        </p:txBody>
      </p:sp>
      <p:pic>
        <p:nvPicPr>
          <p:cNvPr id="9" name="圖形 7">
            <a:extLst>
              <a:ext uri="{FF2B5EF4-FFF2-40B4-BE49-F238E27FC236}">
                <a16:creationId xmlns:a16="http://schemas.microsoft.com/office/drawing/2014/main" id="{DD708447-D1FD-42D7-9126-A48ECA5A7542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0914" y="1521594"/>
            <a:ext cx="2265815" cy="964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4053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15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3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4.xml"/><Relationship Id="rId10" Type="http://schemas.openxmlformats.org/officeDocument/2006/relationships/theme" Target="../theme/theme3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7355E66F-6A9E-9DCE-14B0-69B5D4CDA3E4}"/>
              </a:ext>
            </a:extLst>
          </p:cNvPr>
          <p:cNvSpPr/>
          <p:nvPr/>
        </p:nvSpPr>
        <p:spPr>
          <a:xfrm>
            <a:off x="9414973" y="6519648"/>
            <a:ext cx="2777027" cy="172015"/>
          </a:xfrm>
          <a:prstGeom prst="rect">
            <a:avLst/>
          </a:prstGeom>
          <a:solidFill>
            <a:sysClr val="windowText" lastClr="000000">
              <a:lumMod val="75000"/>
              <a:lumOff val="2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微軟正黑體" panose="020B0604030504040204" pitchFamily="34" charset="-120"/>
                <a:cs typeface="+mn-cs"/>
              </a:rPr>
              <a:t>Elements Str. Eng. Cons. CO., LTD.</a:t>
            </a:r>
            <a:endParaRPr kumimoji="0" lang="zh-TW" altLang="en-US" sz="1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73440"/>
            <a:ext cx="10515600" cy="6143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117354"/>
            <a:ext cx="10515600" cy="50180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dirty="0"/>
              <a:t>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48800" y="659359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1BEFD8CD-4535-4460-8736-6F1517D2594B}"/>
              </a:ext>
            </a:extLst>
          </p:cNvPr>
          <p:cNvGrpSpPr/>
          <p:nvPr/>
        </p:nvGrpSpPr>
        <p:grpSpPr>
          <a:xfrm>
            <a:off x="0" y="6064682"/>
            <a:ext cx="11326155" cy="656795"/>
            <a:chOff x="-324196" y="4603171"/>
            <a:chExt cx="8494616" cy="656795"/>
          </a:xfrm>
        </p:grpSpPr>
        <p:pic>
          <p:nvPicPr>
            <p:cNvPr id="7" name="圖形 6">
              <a:extLst>
                <a:ext uri="{FF2B5EF4-FFF2-40B4-BE49-F238E27FC236}">
                  <a16:creationId xmlns:a16="http://schemas.microsoft.com/office/drawing/2014/main" id="{698F6DAA-8866-487B-93BB-FEDE2A6C664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62910" y="4603171"/>
              <a:ext cx="707510" cy="401670"/>
            </a:xfrm>
            <a:prstGeom prst="rect">
              <a:avLst/>
            </a:prstGeom>
          </p:spPr>
        </p:pic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E366D06A-7C23-4B14-95BA-F4CCB0523813}"/>
                </a:ext>
              </a:extLst>
            </p:cNvPr>
            <p:cNvSpPr txBox="1"/>
            <p:nvPr/>
          </p:nvSpPr>
          <p:spPr>
            <a:xfrm>
              <a:off x="-324196" y="4838642"/>
              <a:ext cx="7161291" cy="246221"/>
            </a:xfrm>
            <a:prstGeom prst="rect">
              <a:avLst/>
            </a:prstGeom>
            <a:gradFill>
              <a:gsLst>
                <a:gs pos="0">
                  <a:srgbClr val="E27026"/>
                </a:gs>
                <a:gs pos="99000">
                  <a:srgbClr val="F6D4BE">
                    <a:alpha val="64000"/>
                  </a:srgbClr>
                </a:gs>
              </a:gsLst>
              <a:lin ang="0" scaled="1"/>
            </a:gradFill>
          </p:spPr>
          <p:txBody>
            <a:bodyPr wrap="square" rtlCol="0">
              <a:spAutoFit/>
            </a:bodyPr>
            <a:lstStyle/>
            <a:p>
              <a:endParaRPr lang="zh-TW" altLang="en-US" sz="10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A4361992-A2EE-47AE-817E-7F82B6D40FF1}"/>
                </a:ext>
              </a:extLst>
            </p:cNvPr>
            <p:cNvSpPr txBox="1"/>
            <p:nvPr/>
          </p:nvSpPr>
          <p:spPr>
            <a:xfrm>
              <a:off x="-323665" y="4813690"/>
              <a:ext cx="4037845" cy="4462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400" b="1" dirty="0">
                  <a:solidFill>
                    <a:schemeClr val="bg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圓方結構</a:t>
              </a:r>
              <a:r>
                <a:rPr lang="zh-TW" altLang="en-US" sz="900" b="1" dirty="0">
                  <a:solidFill>
                    <a:schemeClr val="bg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工程顧問有限公司</a:t>
              </a:r>
            </a:p>
            <a:p>
              <a:endParaRPr lang="zh-TW" altLang="en-US" sz="900" dirty="0"/>
            </a:p>
          </p:txBody>
        </p:sp>
      </p:grpSp>
      <p:sp>
        <p:nvSpPr>
          <p:cNvPr id="12" name="平行四邊形 11">
            <a:extLst>
              <a:ext uri="{FF2B5EF4-FFF2-40B4-BE49-F238E27FC236}">
                <a16:creationId xmlns:a16="http://schemas.microsoft.com/office/drawing/2014/main" id="{627DFC4F-6EF0-4C0D-A758-80F8BBFD5B17}"/>
              </a:ext>
            </a:extLst>
          </p:cNvPr>
          <p:cNvSpPr/>
          <p:nvPr/>
        </p:nvSpPr>
        <p:spPr>
          <a:xfrm>
            <a:off x="9153238" y="6348543"/>
            <a:ext cx="591124" cy="387928"/>
          </a:xfrm>
          <a:prstGeom prst="parallelogram">
            <a:avLst>
              <a:gd name="adj" fmla="val 87234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800"/>
          </a:p>
        </p:txBody>
      </p:sp>
    </p:spTree>
    <p:extLst>
      <p:ext uri="{BB962C8B-B14F-4D97-AF65-F5344CB8AC3E}">
        <p14:creationId xmlns:p14="http://schemas.microsoft.com/office/powerpoint/2010/main" val="4234779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E27128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j-ea"/>
          <a:ea typeface="+mj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j-ea"/>
          <a:ea typeface="+mj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j-ea"/>
          <a:ea typeface="+mj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j-ea"/>
          <a:ea typeface="+mj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j-ea"/>
          <a:ea typeface="+mj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48D32D6F-D684-8886-6F9D-8C21ACB9B28A}"/>
              </a:ext>
            </a:extLst>
          </p:cNvPr>
          <p:cNvSpPr/>
          <p:nvPr/>
        </p:nvSpPr>
        <p:spPr>
          <a:xfrm>
            <a:off x="9414973" y="6519648"/>
            <a:ext cx="2777027" cy="172015"/>
          </a:xfrm>
          <a:prstGeom prst="rect">
            <a:avLst/>
          </a:prstGeom>
          <a:solidFill>
            <a:sysClr val="windowText" lastClr="000000">
              <a:lumMod val="75000"/>
              <a:lumOff val="2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微軟正黑體" panose="020B0604030504040204" pitchFamily="34" charset="-120"/>
                <a:cs typeface="+mn-cs"/>
              </a:rPr>
              <a:t>Elements Str. Eng. Cons. CO., LTD.</a:t>
            </a:r>
            <a:endParaRPr kumimoji="0" lang="zh-TW" altLang="en-US" sz="1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3329A3E-B3A9-463D-827A-55072D6C89E8}"/>
              </a:ext>
            </a:extLst>
          </p:cNvPr>
          <p:cNvSpPr/>
          <p:nvPr/>
        </p:nvSpPr>
        <p:spPr>
          <a:xfrm>
            <a:off x="1" y="6296286"/>
            <a:ext cx="9548388" cy="246221"/>
          </a:xfrm>
          <a:prstGeom prst="rect">
            <a:avLst/>
          </a:prstGeom>
          <a:gradFill>
            <a:gsLst>
              <a:gs pos="0">
                <a:srgbClr val="00B050"/>
              </a:gs>
              <a:gs pos="99000">
                <a:srgbClr val="FBFDED">
                  <a:alpha val="86000"/>
                </a:srgb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80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81753"/>
            <a:ext cx="10515600" cy="6008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118753"/>
            <a:ext cx="10515600" cy="49917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dirty="0"/>
              <a:t>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  <a:endParaRPr lang="en-US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4361992-A2EE-47AE-817E-7F82B6D40FF1}"/>
              </a:ext>
            </a:extLst>
          </p:cNvPr>
          <p:cNvSpPr txBox="1"/>
          <p:nvPr/>
        </p:nvSpPr>
        <p:spPr>
          <a:xfrm>
            <a:off x="709" y="6275201"/>
            <a:ext cx="53837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圓方結構</a:t>
            </a:r>
            <a:r>
              <a:rPr lang="zh-TW" altLang="en-US" sz="9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工程顧問有限公司</a:t>
            </a:r>
            <a:endParaRPr lang="zh-TW" altLang="en-US" sz="900" dirty="0"/>
          </a:p>
        </p:txBody>
      </p:sp>
      <p:sp>
        <p:nvSpPr>
          <p:cNvPr id="14" name="平行四邊形 13">
            <a:extLst>
              <a:ext uri="{FF2B5EF4-FFF2-40B4-BE49-F238E27FC236}">
                <a16:creationId xmlns:a16="http://schemas.microsoft.com/office/drawing/2014/main" id="{56601F3C-7BDC-4E2A-8DD3-65036309AA42}"/>
              </a:ext>
            </a:extLst>
          </p:cNvPr>
          <p:cNvSpPr/>
          <p:nvPr/>
        </p:nvSpPr>
        <p:spPr>
          <a:xfrm>
            <a:off x="9153238" y="6348543"/>
            <a:ext cx="591124" cy="387928"/>
          </a:xfrm>
          <a:prstGeom prst="parallelogram">
            <a:avLst>
              <a:gd name="adj" fmla="val 87234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80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9BBCE2F3-9C2E-4264-8F1F-C40EECDC7D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59359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F5B54E-D686-4015-93F2-94C458F353E2}" type="slidenum">
              <a:rPr lang="zh-TW" altLang="en-US" smtClean="0"/>
              <a:t>‹#›</a:t>
            </a:fld>
            <a:endParaRPr lang="zh-TW" altLang="en-US" dirty="0"/>
          </a:p>
        </p:txBody>
      </p:sp>
      <p:pic>
        <p:nvPicPr>
          <p:cNvPr id="13" name="圖形 6">
            <a:extLst>
              <a:ext uri="{FF2B5EF4-FFF2-40B4-BE49-F238E27FC236}">
                <a16:creationId xmlns:a16="http://schemas.microsoft.com/office/drawing/2014/main" id="{41CEFA9C-983F-4DE1-9FCD-022AEFB17DE9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2808" y="6079676"/>
            <a:ext cx="943347" cy="401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4377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  <p:sldLayoutId id="2147483690" r:id="rId7"/>
    <p:sldLayoutId id="2147483691" r:id="rId8"/>
    <p:sldLayoutId id="2147483692" r:id="rId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1B05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j-ea"/>
          <a:ea typeface="+mj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j-ea"/>
          <a:ea typeface="+mj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j-ea"/>
          <a:ea typeface="+mj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j-ea"/>
          <a:ea typeface="+mj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j-ea"/>
          <a:ea typeface="+mj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26B12262-2F09-B7FF-3954-0BC4B0BDA060}"/>
              </a:ext>
            </a:extLst>
          </p:cNvPr>
          <p:cNvSpPr/>
          <p:nvPr/>
        </p:nvSpPr>
        <p:spPr>
          <a:xfrm>
            <a:off x="9414973" y="6519648"/>
            <a:ext cx="2777027" cy="172015"/>
          </a:xfrm>
          <a:prstGeom prst="rect">
            <a:avLst/>
          </a:prstGeom>
          <a:solidFill>
            <a:sysClr val="windowText" lastClr="000000">
              <a:lumMod val="75000"/>
              <a:lumOff val="2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微軟正黑體" panose="020B0604030504040204" pitchFamily="34" charset="-120"/>
                <a:cs typeface="+mn-cs"/>
              </a:rPr>
              <a:t>Elements Str. Eng. Cons. CO., LTD.</a:t>
            </a:r>
            <a:endParaRPr kumimoji="0" lang="zh-TW" altLang="en-US" sz="1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5298983-4F30-41EF-8090-A13E2AC9D6EA}"/>
              </a:ext>
            </a:extLst>
          </p:cNvPr>
          <p:cNvSpPr txBox="1"/>
          <p:nvPr/>
        </p:nvSpPr>
        <p:spPr>
          <a:xfrm>
            <a:off x="-1" y="6306502"/>
            <a:ext cx="9548388" cy="246221"/>
          </a:xfrm>
          <a:prstGeom prst="rect">
            <a:avLst/>
          </a:prstGeom>
          <a:gradFill>
            <a:gsLst>
              <a:gs pos="0">
                <a:srgbClr val="532476"/>
              </a:gs>
              <a:gs pos="99000">
                <a:srgbClr val="F5F9DF">
                  <a:alpha val="40000"/>
                </a:srgbClr>
              </a:gs>
            </a:gsLst>
            <a:lin ang="0" scaled="1"/>
          </a:gradFill>
        </p:spPr>
        <p:txBody>
          <a:bodyPr wrap="square" rtlCol="0">
            <a:spAutoFit/>
          </a:bodyPr>
          <a:lstStyle/>
          <a:p>
            <a:endParaRPr lang="zh-TW" altLang="en-US" sz="1000" b="1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73440"/>
            <a:ext cx="10515600" cy="6195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114240"/>
            <a:ext cx="10515600" cy="50211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dirty="0"/>
              <a:t>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  <a:endParaRPr lang="en-US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4361992-A2EE-47AE-817E-7F82B6D40FF1}"/>
              </a:ext>
            </a:extLst>
          </p:cNvPr>
          <p:cNvSpPr txBox="1"/>
          <p:nvPr/>
        </p:nvSpPr>
        <p:spPr>
          <a:xfrm>
            <a:off x="709" y="6275201"/>
            <a:ext cx="53837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1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圓方結構</a:t>
            </a:r>
            <a:r>
              <a:rPr lang="zh-TW" altLang="en-US" sz="9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工程顧問有限公司</a:t>
            </a:r>
            <a:endParaRPr lang="zh-TW" altLang="en-US" sz="900" dirty="0"/>
          </a:p>
        </p:txBody>
      </p:sp>
      <p:sp>
        <p:nvSpPr>
          <p:cNvPr id="14" name="平行四邊形 13">
            <a:extLst>
              <a:ext uri="{FF2B5EF4-FFF2-40B4-BE49-F238E27FC236}">
                <a16:creationId xmlns:a16="http://schemas.microsoft.com/office/drawing/2014/main" id="{56601F3C-7BDC-4E2A-8DD3-65036309AA42}"/>
              </a:ext>
            </a:extLst>
          </p:cNvPr>
          <p:cNvSpPr/>
          <p:nvPr/>
        </p:nvSpPr>
        <p:spPr>
          <a:xfrm>
            <a:off x="9153238" y="6348543"/>
            <a:ext cx="591124" cy="387928"/>
          </a:xfrm>
          <a:prstGeom prst="parallelogram">
            <a:avLst>
              <a:gd name="adj" fmla="val 87234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80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546927C8-E459-49B8-9FCC-2D500339A7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59359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F5B54E-D686-4015-93F2-94C458F353E2}" type="slidenum">
              <a:rPr lang="zh-TW" altLang="en-US" smtClean="0"/>
              <a:t>‹#›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3749716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9" r:id="rId6"/>
    <p:sldLayoutId id="2147483700" r:id="rId7"/>
    <p:sldLayoutId id="2147483701" r:id="rId8"/>
    <p:sldLayoutId id="2147483702" r:id="rId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53247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j-ea"/>
          <a:ea typeface="+mj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j-ea"/>
          <a:ea typeface="+mj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j-ea"/>
          <a:ea typeface="+mj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j-ea"/>
          <a:ea typeface="+mj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j-ea"/>
          <a:ea typeface="+mj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8.png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0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0000"/>
                </a:solidFill>
                <a:latin typeface="Microsoft JhengHei"/>
              </a:defRPr>
            </a:pPr>
            <a:r>
              <a:rPr dirty="0">
                <a:solidFill>
                  <a:srgbClr val="000000"/>
                </a:solidFill>
              </a:rPr>
              <a:t>用 AI Agent </a:t>
            </a:r>
            <a:r>
              <a:rPr dirty="0" err="1">
                <a:solidFill>
                  <a:srgbClr val="000000"/>
                </a:solidFill>
              </a:rPr>
              <a:t>打造智能工作流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1371600" y="3017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4472C4"/>
                </a:solidFill>
                <a:latin typeface="Microsoft JhengHei"/>
              </a:defRPr>
            </a:pPr>
            <a:r>
              <a:rPr lang="zh-TW" dirty="0">
                <a:solidFill>
                  <a:srgbClr val="4472C4"/>
                </a:solidFill>
              </a:rPr>
              <a:t>從概念到落地——分層架構的力量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3931920"/>
            <a:ext cx="3047695" cy="36576"/>
          </a:xfrm>
          <a:prstGeom prst="rect">
            <a:avLst/>
          </a:prstGeom>
          <a:solidFill>
            <a:srgbClr val="445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71600" y="42062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2026 | Structural AI Solutions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5">
            <a:extLst>
              <a:ext uri="{FF2B5EF4-FFF2-40B4-BE49-F238E27FC236}">
                <a16:creationId xmlns:a16="http://schemas.microsoft.com/office/drawing/2014/main" id="{67D3FA1D-F13C-5EF4-6535-59A32D53EA35}"/>
              </a:ext>
            </a:extLst>
          </p:cNvPr>
          <p:cNvSpPr/>
          <p:nvPr/>
        </p:nvSpPr>
        <p:spPr>
          <a:xfrm>
            <a:off x="-5440680" y="1463040"/>
            <a:ext cx="5029200" cy="475488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7BD5CEA2-DD6E-7DCA-BF69-4F6D8C756D76}"/>
              </a:ext>
            </a:extLst>
          </p:cNvPr>
          <p:cNvSpPr txBox="1"/>
          <p:nvPr/>
        </p:nvSpPr>
        <p:spPr>
          <a:xfrm>
            <a:off x="-5349240" y="164592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D7D31"/>
                </a:solidFill>
                <a:latin typeface="Microsoft JhengHei"/>
              </a:defRPr>
            </a:pPr>
            <a:r>
              <a:rPr lang="zh-TW" dirty="0">
                <a:solidFill>
                  <a:srgbClr val="ED7D31"/>
                </a:solidFill>
              </a:rPr>
              <a:t>ChatBot</a:t>
            </a:r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EF9FD29B-9787-7691-E435-AC84BD8948DD}"/>
              </a:ext>
            </a:extLst>
          </p:cNvPr>
          <p:cNvSpPr txBox="1"/>
          <p:nvPr/>
        </p:nvSpPr>
        <p:spPr>
          <a:xfrm>
            <a:off x="-5349240" y="22860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被動問答</a:t>
            </a:r>
          </a:p>
        </p:txBody>
      </p:sp>
      <p:sp>
        <p:nvSpPr>
          <p:cNvPr id="11" name="TextBox 8">
            <a:extLst>
              <a:ext uri="{FF2B5EF4-FFF2-40B4-BE49-F238E27FC236}">
                <a16:creationId xmlns:a16="http://schemas.microsoft.com/office/drawing/2014/main" id="{9017CBA1-3290-057A-C995-41C86B15EFF5}"/>
              </a:ext>
            </a:extLst>
          </p:cNvPr>
          <p:cNvSpPr txBox="1"/>
          <p:nvPr/>
        </p:nvSpPr>
        <p:spPr>
          <a:xfrm>
            <a:off x="-5166360" y="2926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D7D31"/>
                </a:solidFill>
                <a:latin typeface="Microsoft JhengHei"/>
              </a:defRPr>
            </a:pPr>
            <a:r>
              <a:rPr lang="zh-TW" dirty="0">
                <a:solidFill>
                  <a:srgbClr val="ED7D31"/>
                </a:solidFill>
              </a:rPr>
              <a:t>互動模式</a:t>
            </a:r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F3B30CD3-B935-3542-DAAA-3A32BAEECCB5}"/>
              </a:ext>
            </a:extLst>
          </p:cNvPr>
          <p:cNvSpPr txBox="1"/>
          <p:nvPr/>
        </p:nvSpPr>
        <p:spPr>
          <a:xfrm>
            <a:off x="-3337560" y="2926080"/>
            <a:ext cx="2743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Microsoft JhengHei"/>
              </a:defRPr>
            </a:pPr>
            <a:r>
              <a:rPr lang="zh-TW" dirty="0">
                <a:solidFill>
                  <a:srgbClr val="333333"/>
                </a:solidFill>
              </a:rPr>
              <a:t>你問一句、它答一句</a:t>
            </a:r>
          </a:p>
        </p:txBody>
      </p:sp>
      <p:sp>
        <p:nvSpPr>
          <p:cNvPr id="13" name="TextBox 10">
            <a:extLst>
              <a:ext uri="{FF2B5EF4-FFF2-40B4-BE49-F238E27FC236}">
                <a16:creationId xmlns:a16="http://schemas.microsoft.com/office/drawing/2014/main" id="{14C3971F-7238-5472-E9BF-703442B8C643}"/>
              </a:ext>
            </a:extLst>
          </p:cNvPr>
          <p:cNvSpPr txBox="1"/>
          <p:nvPr/>
        </p:nvSpPr>
        <p:spPr>
          <a:xfrm>
            <a:off x="-5166360" y="3611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D7D31"/>
                </a:solidFill>
                <a:latin typeface="Microsoft JhengHei"/>
              </a:defRPr>
            </a:pPr>
            <a:r>
              <a:rPr lang="zh-TW" dirty="0">
                <a:solidFill>
                  <a:srgbClr val="ED7D31"/>
                </a:solidFill>
              </a:rPr>
              <a:t>工具能力</a:t>
            </a:r>
          </a:p>
        </p:txBody>
      </p:sp>
      <p:sp>
        <p:nvSpPr>
          <p:cNvPr id="14" name="TextBox 11">
            <a:extLst>
              <a:ext uri="{FF2B5EF4-FFF2-40B4-BE49-F238E27FC236}">
                <a16:creationId xmlns:a16="http://schemas.microsoft.com/office/drawing/2014/main" id="{77CBCF24-0254-D81D-16D7-98E340C60FF9}"/>
              </a:ext>
            </a:extLst>
          </p:cNvPr>
          <p:cNvSpPr txBox="1"/>
          <p:nvPr/>
        </p:nvSpPr>
        <p:spPr>
          <a:xfrm>
            <a:off x="-3337560" y="3611880"/>
            <a:ext cx="2743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Microsoft JhengHei"/>
              </a:defRPr>
            </a:pPr>
            <a:r>
              <a:rPr lang="zh-TW" dirty="0">
                <a:solidFill>
                  <a:srgbClr val="333333"/>
                </a:solidFill>
              </a:rPr>
              <a:t>只能產生文字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89451B51-8242-A3D4-F90D-09D151D02CE9}"/>
              </a:ext>
            </a:extLst>
          </p:cNvPr>
          <p:cNvSpPr txBox="1"/>
          <p:nvPr/>
        </p:nvSpPr>
        <p:spPr>
          <a:xfrm>
            <a:off x="-5166360" y="4297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D7D31"/>
                </a:solidFill>
                <a:latin typeface="Microsoft JhengHei"/>
              </a:defRPr>
            </a:pPr>
            <a:r>
              <a:rPr lang="zh-TW" dirty="0">
                <a:solidFill>
                  <a:srgbClr val="ED7D31"/>
                </a:solidFill>
              </a:rPr>
              <a:t>協作方式</a:t>
            </a:r>
          </a:p>
        </p:txBody>
      </p:sp>
      <p:sp>
        <p:nvSpPr>
          <p:cNvPr id="16" name="TextBox 13">
            <a:extLst>
              <a:ext uri="{FF2B5EF4-FFF2-40B4-BE49-F238E27FC236}">
                <a16:creationId xmlns:a16="http://schemas.microsoft.com/office/drawing/2014/main" id="{F8853FF8-351D-9E4A-BB10-603285AD989D}"/>
              </a:ext>
            </a:extLst>
          </p:cNvPr>
          <p:cNvSpPr txBox="1"/>
          <p:nvPr/>
        </p:nvSpPr>
        <p:spPr>
          <a:xfrm>
            <a:off x="-3337560" y="4297680"/>
            <a:ext cx="2743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Microsoft JhengHei"/>
              </a:defRPr>
            </a:pPr>
            <a:r>
              <a:rPr lang="zh-TW" dirty="0">
                <a:solidFill>
                  <a:srgbClr val="333333"/>
                </a:solidFill>
              </a:rPr>
              <a:t>單一對話</a:t>
            </a:r>
          </a:p>
        </p:txBody>
      </p:sp>
      <p:sp>
        <p:nvSpPr>
          <p:cNvPr id="17" name="TextBox 14">
            <a:extLst>
              <a:ext uri="{FF2B5EF4-FFF2-40B4-BE49-F238E27FC236}">
                <a16:creationId xmlns:a16="http://schemas.microsoft.com/office/drawing/2014/main" id="{C950697F-AB7E-4E7D-F28A-930F821B53B1}"/>
              </a:ext>
            </a:extLst>
          </p:cNvPr>
          <p:cNvSpPr txBox="1"/>
          <p:nvPr/>
        </p:nvSpPr>
        <p:spPr>
          <a:xfrm>
            <a:off x="-5166360" y="4983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D7D31"/>
                </a:solidFill>
                <a:latin typeface="Microsoft JhengHei"/>
              </a:defRPr>
            </a:pPr>
            <a:r>
              <a:rPr lang="zh-TW" dirty="0">
                <a:solidFill>
                  <a:srgbClr val="ED7D31"/>
                </a:solidFill>
              </a:rPr>
              <a:t>結果</a:t>
            </a:r>
          </a:p>
        </p:txBody>
      </p:sp>
      <p:sp>
        <p:nvSpPr>
          <p:cNvPr id="18" name="TextBox 15">
            <a:extLst>
              <a:ext uri="{FF2B5EF4-FFF2-40B4-BE49-F238E27FC236}">
                <a16:creationId xmlns:a16="http://schemas.microsoft.com/office/drawing/2014/main" id="{79C735E3-F0D9-AEC2-D689-F62063BA6B3F}"/>
              </a:ext>
            </a:extLst>
          </p:cNvPr>
          <p:cNvSpPr txBox="1"/>
          <p:nvPr/>
        </p:nvSpPr>
        <p:spPr>
          <a:xfrm>
            <a:off x="-3337560" y="4983480"/>
            <a:ext cx="2743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Microsoft JhengHei"/>
              </a:defRPr>
            </a:pPr>
            <a:r>
              <a:rPr lang="zh-TW" dirty="0">
                <a:solidFill>
                  <a:srgbClr val="333333"/>
                </a:solidFill>
              </a:rPr>
              <a:t>一段回答</a:t>
            </a:r>
          </a:p>
        </p:txBody>
      </p:sp>
      <p:sp>
        <p:nvSpPr>
          <p:cNvPr id="19" name="Right Arrow 16">
            <a:extLst>
              <a:ext uri="{FF2B5EF4-FFF2-40B4-BE49-F238E27FC236}">
                <a16:creationId xmlns:a16="http://schemas.microsoft.com/office/drawing/2014/main" id="{F707EDD0-F7B8-0E3A-C17C-AEEB0405C14A}"/>
              </a:ext>
            </a:extLst>
          </p:cNvPr>
          <p:cNvSpPr/>
          <p:nvPr/>
        </p:nvSpPr>
        <p:spPr>
          <a:xfrm>
            <a:off x="5852160" y="8247888"/>
            <a:ext cx="548640" cy="457200"/>
          </a:xfrm>
          <a:prstGeom prst="rightArrow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7">
            <a:extLst>
              <a:ext uri="{FF2B5EF4-FFF2-40B4-BE49-F238E27FC236}">
                <a16:creationId xmlns:a16="http://schemas.microsoft.com/office/drawing/2014/main" id="{A5EFE943-9232-798E-0A8D-7924A16BDC1B}"/>
              </a:ext>
            </a:extLst>
          </p:cNvPr>
          <p:cNvSpPr txBox="1"/>
          <p:nvPr/>
        </p:nvSpPr>
        <p:spPr>
          <a:xfrm>
            <a:off x="5669280" y="7607808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27026"/>
                </a:solidFill>
                <a:latin typeface="Microsoft JhengHei"/>
              </a:defRPr>
            </a:pPr>
            <a:r>
              <a:rPr lang="zh-TW" dirty="0">
                <a:solidFill>
                  <a:srgbClr val="E27026"/>
                </a:solidFill>
              </a:rPr>
              <a:t>進化</a:t>
            </a:r>
          </a:p>
        </p:txBody>
      </p:sp>
      <p:sp>
        <p:nvSpPr>
          <p:cNvPr id="21" name="Rounded Rectangle 18">
            <a:extLst>
              <a:ext uri="{FF2B5EF4-FFF2-40B4-BE49-F238E27FC236}">
                <a16:creationId xmlns:a16="http://schemas.microsoft.com/office/drawing/2014/main" id="{F619EDDB-7017-CAF4-10FC-EE14BEF30903}"/>
              </a:ext>
            </a:extLst>
          </p:cNvPr>
          <p:cNvSpPr/>
          <p:nvPr/>
        </p:nvSpPr>
        <p:spPr>
          <a:xfrm>
            <a:off x="12603175" y="1463040"/>
            <a:ext cx="5029200" cy="475488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9">
            <a:extLst>
              <a:ext uri="{FF2B5EF4-FFF2-40B4-BE49-F238E27FC236}">
                <a16:creationId xmlns:a16="http://schemas.microsoft.com/office/drawing/2014/main" id="{372AAED3-DC65-36E4-7EB5-5F0831B9FB29}"/>
              </a:ext>
            </a:extLst>
          </p:cNvPr>
          <p:cNvSpPr txBox="1"/>
          <p:nvPr/>
        </p:nvSpPr>
        <p:spPr>
          <a:xfrm>
            <a:off x="12694615" y="164592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rgbClr val="70AD47"/>
                </a:solidFill>
              </a:rPr>
              <a:t>AI Agent</a:t>
            </a:r>
          </a:p>
        </p:txBody>
      </p:sp>
      <p:sp>
        <p:nvSpPr>
          <p:cNvPr id="23" name="TextBox 20">
            <a:extLst>
              <a:ext uri="{FF2B5EF4-FFF2-40B4-BE49-F238E27FC236}">
                <a16:creationId xmlns:a16="http://schemas.microsoft.com/office/drawing/2014/main" id="{6D97AF14-9DF6-6A86-3DC6-39F948A24ECB}"/>
              </a:ext>
            </a:extLst>
          </p:cNvPr>
          <p:cNvSpPr txBox="1"/>
          <p:nvPr/>
        </p:nvSpPr>
        <p:spPr>
          <a:xfrm>
            <a:off x="12694615" y="22860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主動執行</a:t>
            </a:r>
          </a:p>
        </p:txBody>
      </p:sp>
      <p:sp>
        <p:nvSpPr>
          <p:cNvPr id="24" name="TextBox 21">
            <a:extLst>
              <a:ext uri="{FF2B5EF4-FFF2-40B4-BE49-F238E27FC236}">
                <a16:creationId xmlns:a16="http://schemas.microsoft.com/office/drawing/2014/main" id="{027DFE47-4504-D416-B778-52B7FEC268A4}"/>
              </a:ext>
            </a:extLst>
          </p:cNvPr>
          <p:cNvSpPr txBox="1"/>
          <p:nvPr/>
        </p:nvSpPr>
        <p:spPr>
          <a:xfrm>
            <a:off x="12786055" y="2926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rgbClr val="70AD47"/>
                </a:solidFill>
              </a:rPr>
              <a:t>互動模式</a:t>
            </a:r>
          </a:p>
        </p:txBody>
      </p:sp>
      <p:sp>
        <p:nvSpPr>
          <p:cNvPr id="25" name="TextBox 22">
            <a:extLst>
              <a:ext uri="{FF2B5EF4-FFF2-40B4-BE49-F238E27FC236}">
                <a16:creationId xmlns:a16="http://schemas.microsoft.com/office/drawing/2014/main" id="{BEEF4CE3-F4C6-F460-6705-39EAE3351F88}"/>
              </a:ext>
            </a:extLst>
          </p:cNvPr>
          <p:cNvSpPr txBox="1"/>
          <p:nvPr/>
        </p:nvSpPr>
        <p:spPr>
          <a:xfrm>
            <a:off x="14614855" y="2926080"/>
            <a:ext cx="28346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Microsoft JhengHei"/>
              </a:defRPr>
            </a:pPr>
            <a:r>
              <a:rPr dirty="0" err="1">
                <a:solidFill>
                  <a:srgbClr val="000000"/>
                </a:solidFill>
              </a:rPr>
              <a:t>給任務，自己拆解步驟完成</a:t>
            </a:r>
            <a:endParaRPr dirty="0"/>
          </a:p>
        </p:txBody>
      </p:sp>
      <p:sp>
        <p:nvSpPr>
          <p:cNvPr id="26" name="TextBox 23">
            <a:extLst>
              <a:ext uri="{FF2B5EF4-FFF2-40B4-BE49-F238E27FC236}">
                <a16:creationId xmlns:a16="http://schemas.microsoft.com/office/drawing/2014/main" id="{65FF2B25-97E2-E0E2-9636-BC23FEC56087}"/>
              </a:ext>
            </a:extLst>
          </p:cNvPr>
          <p:cNvSpPr txBox="1"/>
          <p:nvPr/>
        </p:nvSpPr>
        <p:spPr>
          <a:xfrm>
            <a:off x="12786055" y="3611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rgbClr val="70AD47"/>
                </a:solidFill>
              </a:rPr>
              <a:t>工具能力</a:t>
            </a:r>
          </a:p>
        </p:txBody>
      </p:sp>
      <p:sp>
        <p:nvSpPr>
          <p:cNvPr id="27" name="TextBox 24">
            <a:extLst>
              <a:ext uri="{FF2B5EF4-FFF2-40B4-BE49-F238E27FC236}">
                <a16:creationId xmlns:a16="http://schemas.microsoft.com/office/drawing/2014/main" id="{2718343C-D79D-C209-575E-92A03AF5A946}"/>
              </a:ext>
            </a:extLst>
          </p:cNvPr>
          <p:cNvSpPr txBox="1"/>
          <p:nvPr/>
        </p:nvSpPr>
        <p:spPr>
          <a:xfrm>
            <a:off x="14614855" y="3611880"/>
            <a:ext cx="28346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讀寫檔案、執行程式、操作工具</a:t>
            </a:r>
          </a:p>
        </p:txBody>
      </p:sp>
      <p:sp>
        <p:nvSpPr>
          <p:cNvPr id="28" name="TextBox 25">
            <a:extLst>
              <a:ext uri="{FF2B5EF4-FFF2-40B4-BE49-F238E27FC236}">
                <a16:creationId xmlns:a16="http://schemas.microsoft.com/office/drawing/2014/main" id="{50A93C95-498C-A9D5-9125-7B96FFBAC5B8}"/>
              </a:ext>
            </a:extLst>
          </p:cNvPr>
          <p:cNvSpPr txBox="1"/>
          <p:nvPr/>
        </p:nvSpPr>
        <p:spPr>
          <a:xfrm>
            <a:off x="12786055" y="4297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rgbClr val="70AD47"/>
                </a:solidFill>
              </a:rPr>
              <a:t>協作方式</a:t>
            </a:r>
          </a:p>
        </p:txBody>
      </p:sp>
      <p:sp>
        <p:nvSpPr>
          <p:cNvPr id="29" name="TextBox 26">
            <a:extLst>
              <a:ext uri="{FF2B5EF4-FFF2-40B4-BE49-F238E27FC236}">
                <a16:creationId xmlns:a16="http://schemas.microsoft.com/office/drawing/2014/main" id="{FF5703C6-CFBF-9A82-6029-648E2C6751A3}"/>
              </a:ext>
            </a:extLst>
          </p:cNvPr>
          <p:cNvSpPr txBox="1"/>
          <p:nvPr/>
        </p:nvSpPr>
        <p:spPr>
          <a:xfrm>
            <a:off x="14614855" y="4297680"/>
            <a:ext cx="28346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多 Agent 分工合作</a:t>
            </a:r>
          </a:p>
        </p:txBody>
      </p:sp>
      <p:sp>
        <p:nvSpPr>
          <p:cNvPr id="30" name="TextBox 27">
            <a:extLst>
              <a:ext uri="{FF2B5EF4-FFF2-40B4-BE49-F238E27FC236}">
                <a16:creationId xmlns:a16="http://schemas.microsoft.com/office/drawing/2014/main" id="{7E7985BB-FC9D-CB31-D6B0-9C3646A76818}"/>
              </a:ext>
            </a:extLst>
          </p:cNvPr>
          <p:cNvSpPr txBox="1"/>
          <p:nvPr/>
        </p:nvSpPr>
        <p:spPr>
          <a:xfrm>
            <a:off x="12786055" y="4983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rgbClr val="70AD47"/>
                </a:solidFill>
              </a:rPr>
              <a:t>結果</a:t>
            </a:r>
          </a:p>
        </p:txBody>
      </p:sp>
      <p:sp>
        <p:nvSpPr>
          <p:cNvPr id="31" name="TextBox 28">
            <a:extLst>
              <a:ext uri="{FF2B5EF4-FFF2-40B4-BE49-F238E27FC236}">
                <a16:creationId xmlns:a16="http://schemas.microsoft.com/office/drawing/2014/main" id="{F43C4B66-B7AF-DFFA-12CF-864F0C8FF689}"/>
              </a:ext>
            </a:extLst>
          </p:cNvPr>
          <p:cNvSpPr txBox="1"/>
          <p:nvPr/>
        </p:nvSpPr>
        <p:spPr>
          <a:xfrm>
            <a:off x="14614855" y="4983480"/>
            <a:ext cx="28346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實際成果 — 檔案、模型、報告</a:t>
            </a:r>
          </a:p>
        </p:txBody>
      </p:sp>
    </p:spTree>
    <p:extLst>
      <p:ext uri="{BB962C8B-B14F-4D97-AF65-F5344CB8AC3E}">
        <p14:creationId xmlns:p14="http://schemas.microsoft.com/office/powerpoint/2010/main" val="27226535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11480"/>
            <a:ext cx="1097280" cy="54864"/>
          </a:xfrm>
          <a:prstGeom prst="rect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從 ChatBot 到 Agent — AI 的進化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概念篇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2 / 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029200" cy="4314518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D7D31"/>
                </a:solidFill>
                <a:latin typeface="Microsoft JhengHei"/>
              </a:defRPr>
            </a:pPr>
            <a:r>
              <a:rPr lang="zh-TW" dirty="0">
                <a:solidFill>
                  <a:srgbClr val="ED7D31"/>
                </a:solidFill>
              </a:rPr>
              <a:t>ChatBot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被動問答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D7D31"/>
                </a:solidFill>
                <a:latin typeface="Microsoft JhengHei"/>
              </a:defRPr>
            </a:pPr>
            <a:r>
              <a:rPr lang="zh-TW" dirty="0">
                <a:solidFill>
                  <a:srgbClr val="ED7D31"/>
                </a:solidFill>
              </a:rPr>
              <a:t>互動模式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926080"/>
            <a:ext cx="2743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Microsoft JhengHei"/>
              </a:defRPr>
            </a:pPr>
            <a:r>
              <a:rPr lang="zh-TW" dirty="0">
                <a:solidFill>
                  <a:srgbClr val="333333"/>
                </a:solidFill>
              </a:rPr>
              <a:t>你問一句、它答一句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D7D31"/>
                </a:solidFill>
                <a:latin typeface="Microsoft JhengHei"/>
              </a:defRPr>
            </a:pPr>
            <a:r>
              <a:rPr lang="zh-TW" dirty="0">
                <a:solidFill>
                  <a:srgbClr val="ED7D31"/>
                </a:solidFill>
              </a:rPr>
              <a:t>工具能力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3611880"/>
            <a:ext cx="2743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Microsoft JhengHei"/>
              </a:defRPr>
            </a:pPr>
            <a:r>
              <a:rPr lang="zh-TW" dirty="0">
                <a:solidFill>
                  <a:srgbClr val="333333"/>
                </a:solidFill>
              </a:rPr>
              <a:t>只能產生文字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D7D31"/>
                </a:solidFill>
                <a:latin typeface="Microsoft JhengHei"/>
              </a:defRPr>
            </a:pPr>
            <a:r>
              <a:rPr lang="zh-TW" dirty="0">
                <a:solidFill>
                  <a:srgbClr val="ED7D31"/>
                </a:solidFill>
              </a:rPr>
              <a:t>協作方式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4297680"/>
            <a:ext cx="2743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Microsoft JhengHei"/>
              </a:defRPr>
            </a:pPr>
            <a:r>
              <a:rPr lang="zh-TW" dirty="0">
                <a:solidFill>
                  <a:srgbClr val="333333"/>
                </a:solidFill>
              </a:rPr>
              <a:t>單一對話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983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D7D31"/>
                </a:solidFill>
                <a:latin typeface="Microsoft JhengHei"/>
              </a:defRPr>
            </a:pPr>
            <a:r>
              <a:rPr lang="zh-TW" dirty="0">
                <a:solidFill>
                  <a:srgbClr val="ED7D31"/>
                </a:solidFill>
              </a:rPr>
              <a:t>結果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4983480"/>
            <a:ext cx="2743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Microsoft JhengHei"/>
              </a:defRPr>
            </a:pPr>
            <a:r>
              <a:rPr lang="zh-TW" dirty="0">
                <a:solidFill>
                  <a:srgbClr val="333333"/>
                </a:solidFill>
              </a:rPr>
              <a:t>一段回答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852160" y="3200400"/>
            <a:ext cx="548640" cy="457200"/>
          </a:xfrm>
          <a:prstGeom prst="rightArrow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669280" y="2560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27026"/>
                </a:solidFill>
                <a:latin typeface="Microsoft JhengHei"/>
              </a:defRPr>
            </a:pPr>
            <a:r>
              <a:rPr lang="zh-TW" dirty="0">
                <a:solidFill>
                  <a:srgbClr val="E27026"/>
                </a:solidFill>
              </a:rPr>
              <a:t>進化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1463040"/>
            <a:ext cx="5029200" cy="4314518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83680" y="164592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rgbClr val="70AD47"/>
                </a:solidFill>
              </a:rPr>
              <a:t>AI 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2860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主動執行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2926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rgbClr val="70AD47"/>
                </a:solidFill>
              </a:rPr>
              <a:t>互動模式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2926080"/>
            <a:ext cx="28346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Microsoft JhengHei"/>
              </a:defRPr>
            </a:pPr>
            <a:r>
              <a:rPr dirty="0" err="1">
                <a:solidFill>
                  <a:srgbClr val="000000"/>
                </a:solidFill>
              </a:rPr>
              <a:t>給任務，自己拆解步驟完成</a:t>
            </a:r>
            <a:endParaRPr dirty="0"/>
          </a:p>
        </p:txBody>
      </p:sp>
      <p:sp>
        <p:nvSpPr>
          <p:cNvPr id="24" name="TextBox 23"/>
          <p:cNvSpPr txBox="1"/>
          <p:nvPr/>
        </p:nvSpPr>
        <p:spPr>
          <a:xfrm>
            <a:off x="6675120" y="3611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rgbClr val="70AD47"/>
                </a:solidFill>
              </a:rPr>
              <a:t>工具能力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3611880"/>
            <a:ext cx="28346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讀寫檔案、執行程式、操作工具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4297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rgbClr val="70AD47"/>
                </a:solidFill>
              </a:rPr>
              <a:t>協作方式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4297680"/>
            <a:ext cx="28346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多 Agent 分工合作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4983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rgbClr val="70AD47"/>
                </a:solidFill>
              </a:rPr>
              <a:t>結果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4983480"/>
            <a:ext cx="28346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實際成果 — 檔案、模型、報告</a:t>
            </a:r>
          </a:p>
        </p:txBody>
      </p:sp>
      <p:sp>
        <p:nvSpPr>
          <p:cNvPr id="30" name="Rounded Rectangle 5">
            <a:extLst>
              <a:ext uri="{FF2B5EF4-FFF2-40B4-BE49-F238E27FC236}">
                <a16:creationId xmlns:a16="http://schemas.microsoft.com/office/drawing/2014/main" id="{B299F3FF-2459-808C-6B00-0E35C56B1EE1}"/>
              </a:ext>
            </a:extLst>
          </p:cNvPr>
          <p:cNvSpPr/>
          <p:nvPr/>
        </p:nvSpPr>
        <p:spPr>
          <a:xfrm>
            <a:off x="1066190" y="11218239"/>
            <a:ext cx="10058400" cy="73152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6">
            <a:extLst>
              <a:ext uri="{FF2B5EF4-FFF2-40B4-BE49-F238E27FC236}">
                <a16:creationId xmlns:a16="http://schemas.microsoft.com/office/drawing/2014/main" id="{CC582E6D-A693-D8F2-C4BB-C206DFA6D60F}"/>
              </a:ext>
            </a:extLst>
          </p:cNvPr>
          <p:cNvSpPr txBox="1"/>
          <p:nvPr/>
        </p:nvSpPr>
        <p:spPr>
          <a:xfrm>
            <a:off x="1226210" y="11355399"/>
            <a:ext cx="5532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第 1 層：專案說明書</a:t>
            </a:r>
            <a:r>
              <a:rPr lang="zh-TW" altLang="en-US" dirty="0">
                <a:solidFill>
                  <a:srgbClr val="000000"/>
                </a:solidFill>
              </a:rPr>
              <a:t> </a:t>
            </a:r>
            <a:r>
              <a:rPr lang="en-US" altLang="zh-TW" dirty="0">
                <a:solidFill>
                  <a:srgbClr val="000000"/>
                </a:solidFill>
              </a:rPr>
              <a:t>MARKDOWN.MD</a:t>
            </a:r>
            <a:endParaRPr lang="zh-TW" dirty="0">
              <a:solidFill>
                <a:srgbClr val="000000"/>
              </a:solidFill>
            </a:endParaRPr>
          </a:p>
        </p:txBody>
      </p:sp>
      <p:sp>
        <p:nvSpPr>
          <p:cNvPr id="32" name="TextBox 7">
            <a:extLst>
              <a:ext uri="{FF2B5EF4-FFF2-40B4-BE49-F238E27FC236}">
                <a16:creationId xmlns:a16="http://schemas.microsoft.com/office/drawing/2014/main" id="{6576502E-F6E0-3CA5-7EC1-24F012179AA0}"/>
              </a:ext>
            </a:extLst>
          </p:cNvPr>
          <p:cNvSpPr txBox="1"/>
          <p:nvPr/>
        </p:nvSpPr>
        <p:spPr>
          <a:xfrm>
            <a:off x="6900062" y="11263959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4472C4"/>
                </a:solidFill>
                <a:latin typeface="Microsoft JhengHei"/>
              </a:defRPr>
            </a:pPr>
            <a:r>
              <a:rPr lang="zh-TW" dirty="0">
                <a:solidFill>
                  <a:srgbClr val="4472C4"/>
                </a:solidFill>
              </a:rPr>
              <a:t>AI 工作手冊</a:t>
            </a:r>
          </a:p>
        </p:txBody>
      </p:sp>
      <p:sp>
        <p:nvSpPr>
          <p:cNvPr id="33" name="Rounded Rectangle 8">
            <a:extLst>
              <a:ext uri="{FF2B5EF4-FFF2-40B4-BE49-F238E27FC236}">
                <a16:creationId xmlns:a16="http://schemas.microsoft.com/office/drawing/2014/main" id="{377AF991-1A91-59E3-B5B4-53ECE5DD7135}"/>
              </a:ext>
            </a:extLst>
          </p:cNvPr>
          <p:cNvSpPr/>
          <p:nvPr/>
        </p:nvSpPr>
        <p:spPr>
          <a:xfrm>
            <a:off x="1751990" y="10413567"/>
            <a:ext cx="8686800" cy="73152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9">
            <a:extLst>
              <a:ext uri="{FF2B5EF4-FFF2-40B4-BE49-F238E27FC236}">
                <a16:creationId xmlns:a16="http://schemas.microsoft.com/office/drawing/2014/main" id="{D999630F-CCC2-51F4-4C3D-2F6776AF0FF5}"/>
              </a:ext>
            </a:extLst>
          </p:cNvPr>
          <p:cNvSpPr txBox="1"/>
          <p:nvPr/>
        </p:nvSpPr>
        <p:spPr>
          <a:xfrm>
            <a:off x="2003450" y="10574676"/>
            <a:ext cx="47777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第 2 層：工作流命令</a:t>
            </a:r>
            <a:r>
              <a:rPr lang="zh-TW" altLang="en-US" dirty="0">
                <a:solidFill>
                  <a:srgbClr val="000000"/>
                </a:solidFill>
              </a:rPr>
              <a:t> </a:t>
            </a:r>
            <a:r>
              <a:rPr lang="en-US" altLang="zh-TW" dirty="0">
                <a:solidFill>
                  <a:srgbClr val="000000"/>
                </a:solidFill>
              </a:rPr>
              <a:t>/COMMAND</a:t>
            </a:r>
            <a:endParaRPr lang="zh-TW" dirty="0">
              <a:solidFill>
                <a:srgbClr val="000000"/>
              </a:solidFill>
            </a:endParaRPr>
          </a:p>
        </p:txBody>
      </p:sp>
      <p:sp>
        <p:nvSpPr>
          <p:cNvPr id="35" name="TextBox 10">
            <a:extLst>
              <a:ext uri="{FF2B5EF4-FFF2-40B4-BE49-F238E27FC236}">
                <a16:creationId xmlns:a16="http://schemas.microsoft.com/office/drawing/2014/main" id="{5833A3B7-DD60-24B5-AB59-22ED371A16E1}"/>
              </a:ext>
            </a:extLst>
          </p:cNvPr>
          <p:cNvSpPr txBox="1"/>
          <p:nvPr/>
        </p:nvSpPr>
        <p:spPr>
          <a:xfrm>
            <a:off x="6790334" y="10459287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4472C4"/>
                </a:solidFill>
                <a:latin typeface="Microsoft JhengHei"/>
              </a:defRPr>
            </a:pPr>
            <a:r>
              <a:rPr lang="zh-TW" dirty="0">
                <a:solidFill>
                  <a:srgbClr val="4472C4"/>
                </a:solidFill>
              </a:rPr>
              <a:t>一鍵啟動流程</a:t>
            </a:r>
          </a:p>
        </p:txBody>
      </p:sp>
      <p:sp>
        <p:nvSpPr>
          <p:cNvPr id="36" name="Rounded Rectangle 11">
            <a:extLst>
              <a:ext uri="{FF2B5EF4-FFF2-40B4-BE49-F238E27FC236}">
                <a16:creationId xmlns:a16="http://schemas.microsoft.com/office/drawing/2014/main" id="{8608A685-1F73-CA21-BE08-592FF77FBD52}"/>
              </a:ext>
            </a:extLst>
          </p:cNvPr>
          <p:cNvSpPr/>
          <p:nvPr/>
        </p:nvSpPr>
        <p:spPr>
          <a:xfrm>
            <a:off x="2437790" y="9608895"/>
            <a:ext cx="7315200" cy="73152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E27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12">
            <a:extLst>
              <a:ext uri="{FF2B5EF4-FFF2-40B4-BE49-F238E27FC236}">
                <a16:creationId xmlns:a16="http://schemas.microsoft.com/office/drawing/2014/main" id="{68C6DF56-3F4A-0458-31ED-645184F18CD4}"/>
              </a:ext>
            </a:extLst>
          </p:cNvPr>
          <p:cNvSpPr txBox="1"/>
          <p:nvPr/>
        </p:nvSpPr>
        <p:spPr>
          <a:xfrm>
            <a:off x="2620670" y="9791775"/>
            <a:ext cx="4023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第 3 層：AI Agent </a:t>
            </a:r>
            <a:r>
              <a:rPr lang="en-US" altLang="zh-TW" dirty="0">
                <a:solidFill>
                  <a:srgbClr val="000000"/>
                </a:solidFill>
              </a:rPr>
              <a:t>TEAM</a:t>
            </a:r>
            <a:endParaRPr lang="zh-TW" dirty="0">
              <a:solidFill>
                <a:srgbClr val="000000"/>
              </a:solidFill>
            </a:endParaRPr>
          </a:p>
        </p:txBody>
      </p:sp>
      <p:sp>
        <p:nvSpPr>
          <p:cNvPr id="38" name="TextBox 13">
            <a:extLst>
              <a:ext uri="{FF2B5EF4-FFF2-40B4-BE49-F238E27FC236}">
                <a16:creationId xmlns:a16="http://schemas.microsoft.com/office/drawing/2014/main" id="{5426DA8D-254E-07D5-C01C-1AEF595058CE}"/>
              </a:ext>
            </a:extLst>
          </p:cNvPr>
          <p:cNvSpPr txBox="1"/>
          <p:nvPr/>
        </p:nvSpPr>
        <p:spPr>
          <a:xfrm>
            <a:off x="6680606" y="9654614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E27026"/>
                </a:solidFill>
                <a:latin typeface="Microsoft JhengHei"/>
              </a:defRPr>
            </a:pPr>
            <a:r>
              <a:rPr lang="zh-TW" dirty="0">
                <a:solidFill>
                  <a:srgbClr val="E27026"/>
                </a:solidFill>
              </a:rPr>
              <a:t>多專家分工</a:t>
            </a:r>
          </a:p>
        </p:txBody>
      </p:sp>
      <p:sp>
        <p:nvSpPr>
          <p:cNvPr id="39" name="Rounded Rectangle 14">
            <a:extLst>
              <a:ext uri="{FF2B5EF4-FFF2-40B4-BE49-F238E27FC236}">
                <a16:creationId xmlns:a16="http://schemas.microsoft.com/office/drawing/2014/main" id="{F32B44F2-07ED-3DAA-986F-90767B720716}"/>
              </a:ext>
            </a:extLst>
          </p:cNvPr>
          <p:cNvSpPr/>
          <p:nvPr/>
        </p:nvSpPr>
        <p:spPr>
          <a:xfrm>
            <a:off x="3123590" y="8804223"/>
            <a:ext cx="5943600" cy="73152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E27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15">
            <a:extLst>
              <a:ext uri="{FF2B5EF4-FFF2-40B4-BE49-F238E27FC236}">
                <a16:creationId xmlns:a16="http://schemas.microsoft.com/office/drawing/2014/main" id="{1CFE8CE6-FF85-FB14-E218-6BE494B59D6E}"/>
              </a:ext>
            </a:extLst>
          </p:cNvPr>
          <p:cNvSpPr txBox="1"/>
          <p:nvPr/>
        </p:nvSpPr>
        <p:spPr>
          <a:xfrm>
            <a:off x="3301898" y="8949076"/>
            <a:ext cx="34792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第 4 層：專業技能模組</a:t>
            </a:r>
            <a:r>
              <a:rPr lang="zh-TW" altLang="en-US" dirty="0">
                <a:solidFill>
                  <a:srgbClr val="000000"/>
                </a:solidFill>
              </a:rPr>
              <a:t> </a:t>
            </a:r>
            <a:r>
              <a:rPr lang="en-US" altLang="zh-TW" dirty="0">
                <a:solidFill>
                  <a:srgbClr val="000000"/>
                </a:solidFill>
              </a:rPr>
              <a:t>SKILLS</a:t>
            </a:r>
            <a:endParaRPr lang="zh-TW" dirty="0">
              <a:solidFill>
                <a:srgbClr val="000000"/>
              </a:solidFill>
            </a:endParaRPr>
          </a:p>
        </p:txBody>
      </p:sp>
      <p:sp>
        <p:nvSpPr>
          <p:cNvPr id="41" name="TextBox 16">
            <a:extLst>
              <a:ext uri="{FF2B5EF4-FFF2-40B4-BE49-F238E27FC236}">
                <a16:creationId xmlns:a16="http://schemas.microsoft.com/office/drawing/2014/main" id="{448E3DB4-4BDE-2C0C-1BB2-B83DA20952F2}"/>
              </a:ext>
            </a:extLst>
          </p:cNvPr>
          <p:cNvSpPr txBox="1"/>
          <p:nvPr/>
        </p:nvSpPr>
        <p:spPr>
          <a:xfrm>
            <a:off x="6570878" y="8849943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E27026"/>
                </a:solidFill>
                <a:latin typeface="Microsoft JhengHei"/>
              </a:defRPr>
            </a:pPr>
            <a:r>
              <a:rPr lang="zh-TW" dirty="0">
                <a:solidFill>
                  <a:srgbClr val="E27026"/>
                </a:solidFill>
              </a:rPr>
              <a:t>可複用知識庫</a:t>
            </a:r>
          </a:p>
        </p:txBody>
      </p:sp>
      <p:sp>
        <p:nvSpPr>
          <p:cNvPr id="42" name="Rounded Rectangle 17">
            <a:extLst>
              <a:ext uri="{FF2B5EF4-FFF2-40B4-BE49-F238E27FC236}">
                <a16:creationId xmlns:a16="http://schemas.microsoft.com/office/drawing/2014/main" id="{07D947FE-0F73-6272-D12D-7670DE7AB173}"/>
              </a:ext>
            </a:extLst>
          </p:cNvPr>
          <p:cNvSpPr/>
          <p:nvPr/>
        </p:nvSpPr>
        <p:spPr>
          <a:xfrm>
            <a:off x="3809390" y="7999550"/>
            <a:ext cx="4572000" cy="73152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18">
            <a:extLst>
              <a:ext uri="{FF2B5EF4-FFF2-40B4-BE49-F238E27FC236}">
                <a16:creationId xmlns:a16="http://schemas.microsoft.com/office/drawing/2014/main" id="{32EAD219-8BED-4299-D0A0-A5EB28EDC065}"/>
              </a:ext>
            </a:extLst>
          </p:cNvPr>
          <p:cNvSpPr txBox="1"/>
          <p:nvPr/>
        </p:nvSpPr>
        <p:spPr>
          <a:xfrm>
            <a:off x="3992270" y="804527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第 5 層：</a:t>
            </a:r>
            <a:endParaRPr lang="en-US" altLang="zh-TW" dirty="0">
              <a:solidFill>
                <a:srgbClr val="000000"/>
              </a:solidFill>
            </a:endParaRPr>
          </a:p>
          <a:p>
            <a:pPr algn="l">
              <a:defRPr sz="1800" b="1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確定性執行腳本</a:t>
            </a:r>
          </a:p>
        </p:txBody>
      </p:sp>
      <p:sp>
        <p:nvSpPr>
          <p:cNvPr id="44" name="TextBox 19">
            <a:extLst>
              <a:ext uri="{FF2B5EF4-FFF2-40B4-BE49-F238E27FC236}">
                <a16:creationId xmlns:a16="http://schemas.microsoft.com/office/drawing/2014/main" id="{72750A06-BDB9-5CEA-E982-F3EC76E3DF2D}"/>
              </a:ext>
            </a:extLst>
          </p:cNvPr>
          <p:cNvSpPr txBox="1"/>
          <p:nvPr/>
        </p:nvSpPr>
        <p:spPr>
          <a:xfrm>
            <a:off x="6461150" y="8045270"/>
            <a:ext cx="1828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chemeClr val="accent4">
                    <a:lumMod val="75000"/>
                  </a:schemeClr>
                </a:solidFill>
              </a:rPr>
              <a:t>同輸入 = 同輸出</a:t>
            </a:r>
          </a:p>
        </p:txBody>
      </p:sp>
      <p:sp>
        <p:nvSpPr>
          <p:cNvPr id="45" name="Rounded Rectangle 20">
            <a:extLst>
              <a:ext uri="{FF2B5EF4-FFF2-40B4-BE49-F238E27FC236}">
                <a16:creationId xmlns:a16="http://schemas.microsoft.com/office/drawing/2014/main" id="{844720A3-B46C-0AA3-C635-4AF1047FF086}"/>
              </a:ext>
            </a:extLst>
          </p:cNvPr>
          <p:cNvSpPr/>
          <p:nvPr/>
        </p:nvSpPr>
        <p:spPr>
          <a:xfrm>
            <a:off x="4495190" y="7194878"/>
            <a:ext cx="3200400" cy="73152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21">
            <a:extLst>
              <a:ext uri="{FF2B5EF4-FFF2-40B4-BE49-F238E27FC236}">
                <a16:creationId xmlns:a16="http://schemas.microsoft.com/office/drawing/2014/main" id="{976EBFE8-5FC9-174D-F144-0E24621D0A31}"/>
              </a:ext>
            </a:extLst>
          </p:cNvPr>
          <p:cNvSpPr txBox="1"/>
          <p:nvPr/>
        </p:nvSpPr>
        <p:spPr>
          <a:xfrm>
            <a:off x="4678070" y="7240598"/>
            <a:ext cx="17602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第 6 層：</a:t>
            </a:r>
            <a:endParaRPr lang="en-US" altLang="zh-TW" dirty="0">
              <a:solidFill>
                <a:srgbClr val="000000"/>
              </a:solidFill>
            </a:endParaRPr>
          </a:p>
          <a:p>
            <a:pPr algn="l">
              <a:defRPr sz="1800" b="1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自動化驗證</a:t>
            </a:r>
          </a:p>
        </p:txBody>
      </p:sp>
      <p:sp>
        <p:nvSpPr>
          <p:cNvPr id="47" name="TextBox 22">
            <a:extLst>
              <a:ext uri="{FF2B5EF4-FFF2-40B4-BE49-F238E27FC236}">
                <a16:creationId xmlns:a16="http://schemas.microsoft.com/office/drawing/2014/main" id="{E7FCE39D-EA6F-7878-179F-5B179EED23E1}"/>
              </a:ext>
            </a:extLst>
          </p:cNvPr>
          <p:cNvSpPr txBox="1"/>
          <p:nvPr/>
        </p:nvSpPr>
        <p:spPr>
          <a:xfrm>
            <a:off x="6351422" y="7240598"/>
            <a:ext cx="12801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70AD47"/>
                </a:solidFill>
                <a:latin typeface="Microsoft JhengHei"/>
              </a:defRPr>
            </a:pPr>
            <a:r>
              <a:rPr dirty="0" err="1">
                <a:solidFill>
                  <a:schemeClr val="accent4">
                    <a:lumMod val="75000"/>
                  </a:schemeClr>
                </a:solidFill>
              </a:rPr>
              <a:t>每次自動品質檢查</a:t>
            </a:r>
            <a:endParaRPr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8" name="TextBox 23">
            <a:extLst>
              <a:ext uri="{FF2B5EF4-FFF2-40B4-BE49-F238E27FC236}">
                <a16:creationId xmlns:a16="http://schemas.microsoft.com/office/drawing/2014/main" id="{4E962EA0-AFCE-731F-4718-8011D7C20C3C}"/>
              </a:ext>
            </a:extLst>
          </p:cNvPr>
          <p:cNvSpPr txBox="1"/>
          <p:nvPr/>
        </p:nvSpPr>
        <p:spPr>
          <a:xfrm>
            <a:off x="791870" y="12121754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C000"/>
                </a:solidFill>
                <a:latin typeface="Microsoft JhengHei"/>
              </a:defRPr>
            </a:pPr>
            <a:r>
              <a:rPr lang="zh-TW" dirty="0">
                <a:solidFill>
                  <a:srgbClr val="FFC000"/>
                </a:solidFill>
              </a:rPr>
              <a:t>每一層解決一個問題：知識 → 流程 → 分工 → 專業 → 執行 → 品管</a:t>
            </a:r>
          </a:p>
        </p:txBody>
      </p:sp>
    </p:spTree>
    <p:extLst>
      <p:ext uri="{BB962C8B-B14F-4D97-AF65-F5344CB8AC3E}">
        <p14:creationId xmlns:p14="http://schemas.microsoft.com/office/powerpoint/2010/main" val="18650215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11480"/>
            <a:ext cx="1097280" cy="54864"/>
          </a:xfrm>
          <a:prstGeom prst="rect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0000"/>
                </a:solidFill>
                <a:latin typeface="Microsoft JhengHei"/>
              </a:defRPr>
            </a:pPr>
            <a:r>
              <a:rPr dirty="0" err="1">
                <a:solidFill>
                  <a:srgbClr val="000000"/>
                </a:solidFill>
              </a:rPr>
              <a:t>六層架構</a:t>
            </a:r>
            <a:r>
              <a:rPr dirty="0">
                <a:solidFill>
                  <a:srgbClr val="000000"/>
                </a:solidFill>
              </a:rPr>
              <a:t> — </a:t>
            </a:r>
            <a:r>
              <a:rPr dirty="0" err="1">
                <a:solidFill>
                  <a:srgbClr val="000000"/>
                </a:solidFill>
              </a:rPr>
              <a:t>從知識到執行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概念篇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4 / 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66190" y="5413248"/>
            <a:ext cx="10058400" cy="73152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26210" y="5550408"/>
            <a:ext cx="5532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第 1 層：專案說明書</a:t>
            </a:r>
            <a:r>
              <a:rPr lang="zh-TW" altLang="en-US" dirty="0">
                <a:solidFill>
                  <a:srgbClr val="000000"/>
                </a:solidFill>
              </a:rPr>
              <a:t> </a:t>
            </a:r>
            <a:r>
              <a:rPr lang="en-US" altLang="zh-TW" dirty="0">
                <a:solidFill>
                  <a:srgbClr val="000000"/>
                </a:solidFill>
              </a:rPr>
              <a:t>MARKDOWN.MD</a:t>
            </a:r>
            <a:endParaRPr lang="zh-TW" dirty="0">
              <a:solidFill>
                <a:srgbClr val="000000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900062" y="5458968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4472C4"/>
                </a:solidFill>
                <a:latin typeface="Microsoft JhengHei"/>
              </a:defRPr>
            </a:pPr>
            <a:r>
              <a:rPr lang="zh-TW" dirty="0">
                <a:solidFill>
                  <a:srgbClr val="4472C4"/>
                </a:solidFill>
              </a:rPr>
              <a:t>AI 工作手冊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51990" y="4608576"/>
            <a:ext cx="8686800" cy="73152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003450" y="4769685"/>
            <a:ext cx="47777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第 2 層：工作流命令</a:t>
            </a:r>
            <a:r>
              <a:rPr lang="zh-TW" altLang="en-US" dirty="0">
                <a:solidFill>
                  <a:srgbClr val="000000"/>
                </a:solidFill>
              </a:rPr>
              <a:t> </a:t>
            </a:r>
            <a:r>
              <a:rPr lang="en-US" altLang="zh-TW" dirty="0">
                <a:solidFill>
                  <a:srgbClr val="000000"/>
                </a:solidFill>
              </a:rPr>
              <a:t>/COMMAND</a:t>
            </a:r>
            <a:endParaRPr lang="zh-TW" dirty="0">
              <a:solidFill>
                <a:srgbClr val="000000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790334" y="4654296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4472C4"/>
                </a:solidFill>
                <a:latin typeface="Microsoft JhengHei"/>
              </a:defRPr>
            </a:pPr>
            <a:r>
              <a:rPr lang="zh-TW" dirty="0">
                <a:solidFill>
                  <a:srgbClr val="4472C4"/>
                </a:solidFill>
              </a:rPr>
              <a:t>一鍵啟動流程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37790" y="3803904"/>
            <a:ext cx="7315200" cy="73152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E27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2620670" y="3986784"/>
            <a:ext cx="4023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第 3 層：AI Agent </a:t>
            </a:r>
            <a:r>
              <a:rPr lang="en-US" altLang="zh-TW" dirty="0">
                <a:solidFill>
                  <a:srgbClr val="000000"/>
                </a:solidFill>
              </a:rPr>
              <a:t>TEAM</a:t>
            </a:r>
            <a:endParaRPr lang="zh-TW" dirty="0">
              <a:solidFill>
                <a:srgbClr val="000000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680606" y="3849623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E27026"/>
                </a:solidFill>
                <a:latin typeface="Microsoft JhengHei"/>
              </a:defRPr>
            </a:pPr>
            <a:r>
              <a:rPr lang="zh-TW" dirty="0">
                <a:solidFill>
                  <a:srgbClr val="E27026"/>
                </a:solidFill>
              </a:rPr>
              <a:t>多專家分工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23590" y="2999232"/>
            <a:ext cx="5943600" cy="73152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E27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301898" y="3144085"/>
            <a:ext cx="34792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第 4 層：專業技能模組</a:t>
            </a:r>
            <a:r>
              <a:rPr lang="zh-TW" altLang="en-US" dirty="0">
                <a:solidFill>
                  <a:srgbClr val="000000"/>
                </a:solidFill>
              </a:rPr>
              <a:t> </a:t>
            </a:r>
            <a:r>
              <a:rPr lang="en-US" altLang="zh-TW" dirty="0">
                <a:solidFill>
                  <a:srgbClr val="000000"/>
                </a:solidFill>
              </a:rPr>
              <a:t>SKILLS</a:t>
            </a:r>
            <a:endParaRPr lang="zh-TW" dirty="0">
              <a:solidFill>
                <a:srgbClr val="000000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570878" y="3044952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E27026"/>
                </a:solidFill>
                <a:latin typeface="Microsoft JhengHei"/>
              </a:defRPr>
            </a:pPr>
            <a:r>
              <a:rPr lang="zh-TW" dirty="0">
                <a:solidFill>
                  <a:srgbClr val="E27026"/>
                </a:solidFill>
              </a:rPr>
              <a:t>可複用知識庫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09390" y="2194559"/>
            <a:ext cx="4572000" cy="73152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992270" y="2240279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第 5 層：</a:t>
            </a:r>
            <a:endParaRPr lang="en-US" altLang="zh-TW" dirty="0">
              <a:solidFill>
                <a:srgbClr val="000000"/>
              </a:solidFill>
            </a:endParaRPr>
          </a:p>
          <a:p>
            <a:pPr algn="l">
              <a:defRPr sz="1800" b="1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確定性執行腳本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1150" y="2240279"/>
            <a:ext cx="1828800" cy="33855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chemeClr val="accent4">
                    <a:lumMod val="75000"/>
                  </a:schemeClr>
                </a:solidFill>
              </a:rPr>
              <a:t>同輸入 = 同輸出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95190" y="1389887"/>
            <a:ext cx="3200400" cy="73152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678070" y="1435607"/>
            <a:ext cx="17602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第 6 層：</a:t>
            </a:r>
            <a:endParaRPr lang="en-US" altLang="zh-TW" dirty="0">
              <a:solidFill>
                <a:srgbClr val="000000"/>
              </a:solidFill>
            </a:endParaRPr>
          </a:p>
          <a:p>
            <a:pPr algn="l">
              <a:defRPr sz="1800" b="1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自動化驗證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1422" y="1435607"/>
            <a:ext cx="1280160" cy="58477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70AD47"/>
                </a:solidFill>
                <a:latin typeface="Microsoft JhengHei"/>
              </a:defRPr>
            </a:pPr>
            <a:r>
              <a:rPr dirty="0" err="1">
                <a:solidFill>
                  <a:schemeClr val="accent4">
                    <a:lumMod val="75000"/>
                  </a:schemeClr>
                </a:solidFill>
              </a:rPr>
              <a:t>每次自動品質檢查</a:t>
            </a:r>
            <a:endParaRPr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211007" y="1249958"/>
            <a:ext cx="36423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C000"/>
                </a:solidFill>
                <a:latin typeface="Microsoft JhengHei"/>
              </a:defRPr>
            </a:pPr>
            <a:r>
              <a:rPr lang="zh-TW" dirty="0">
                <a:solidFill>
                  <a:srgbClr val="FFC000"/>
                </a:solidFill>
              </a:rPr>
              <a:t>每一層解決一個問題：知識 → 流程 → 分工 → 專業 → 執行 → 品管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296C3727-7C08-3D9A-CAB3-07905E54FD42}"/>
              </a:ext>
            </a:extLst>
          </p:cNvPr>
          <p:cNvSpPr txBox="1"/>
          <p:nvPr/>
        </p:nvSpPr>
        <p:spPr>
          <a:xfrm>
            <a:off x="731520" y="7852955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0"/>
              </a:spcAft>
              <a:defRPr sz="2600" b="1">
                <a:solidFill>
                  <a:srgbClr val="000000"/>
                </a:solidFill>
                <a:latin typeface="Microsoft JhengHei"/>
              </a:defRPr>
            </a:pPr>
            <a:r>
              <a:rPr lang="zh-TW" sz="2600" b="1" dirty="0">
                <a:solidFill>
                  <a:srgbClr val="000000"/>
                </a:solidFill>
                <a:latin typeface="Microsoft JhengHei"/>
              </a:rPr>
              <a:t>一份 Markdown 文件</a:t>
            </a:r>
          </a:p>
          <a:p>
            <a:pPr algn="l">
              <a:spcAft>
                <a:spcPts val="760"/>
              </a:spcAft>
              <a:defRPr sz="2000" b="0">
                <a:solidFill>
                  <a:srgbClr val="44546A"/>
                </a:solidFill>
                <a:latin typeface="Microsoft JhengHei"/>
              </a:defRPr>
            </a:pPr>
            <a:r>
              <a:rPr lang="zh-TW" sz="2000" b="0" dirty="0">
                <a:solidFill>
                  <a:srgbClr val="44546A"/>
                </a:solidFill>
                <a:latin typeface="Microsoft JhengHei"/>
              </a:rPr>
              <a:t>定義 AI 在此專案中的所有規則</a:t>
            </a:r>
          </a:p>
        </p:txBody>
      </p:sp>
      <p:sp>
        <p:nvSpPr>
          <p:cNvPr id="26" name="Rounded Rectangle 8">
            <a:extLst>
              <a:ext uri="{FF2B5EF4-FFF2-40B4-BE49-F238E27FC236}">
                <a16:creationId xmlns:a16="http://schemas.microsoft.com/office/drawing/2014/main" id="{6370F910-9345-3AAF-FF75-200FB1C657E2}"/>
              </a:ext>
            </a:extLst>
          </p:cNvPr>
          <p:cNvSpPr/>
          <p:nvPr/>
        </p:nvSpPr>
        <p:spPr>
          <a:xfrm>
            <a:off x="731520" y="8950235"/>
            <a:ext cx="5029200" cy="77724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9">
            <a:extLst>
              <a:ext uri="{FF2B5EF4-FFF2-40B4-BE49-F238E27FC236}">
                <a16:creationId xmlns:a16="http://schemas.microsoft.com/office/drawing/2014/main" id="{A85273CF-043B-6B9A-28BE-6CA7F7CB3068}"/>
              </a:ext>
            </a:extLst>
          </p:cNvPr>
          <p:cNvSpPr txBox="1"/>
          <p:nvPr/>
        </p:nvSpPr>
        <p:spPr>
          <a:xfrm>
            <a:off x="822960" y="8995955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📖</a:t>
            </a:r>
          </a:p>
        </p:txBody>
      </p:sp>
      <p:sp>
        <p:nvSpPr>
          <p:cNvPr id="28" name="TextBox 10">
            <a:extLst>
              <a:ext uri="{FF2B5EF4-FFF2-40B4-BE49-F238E27FC236}">
                <a16:creationId xmlns:a16="http://schemas.microsoft.com/office/drawing/2014/main" id="{B2E9454E-0F47-027D-3407-3A53FD57FB84}"/>
              </a:ext>
            </a:extLst>
          </p:cNvPr>
          <p:cNvSpPr txBox="1"/>
          <p:nvPr/>
        </p:nvSpPr>
        <p:spPr>
          <a:xfrm>
            <a:off x="1463040" y="8995955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專業術語定義</a:t>
            </a:r>
          </a:p>
        </p:txBody>
      </p:sp>
      <p:sp>
        <p:nvSpPr>
          <p:cNvPr id="29" name="TextBox 11">
            <a:extLst>
              <a:ext uri="{FF2B5EF4-FFF2-40B4-BE49-F238E27FC236}">
                <a16:creationId xmlns:a16="http://schemas.microsoft.com/office/drawing/2014/main" id="{F4D951F6-9B12-9024-A2EE-6F23E59E1B92}"/>
              </a:ext>
            </a:extLst>
          </p:cNvPr>
          <p:cNvSpPr txBox="1"/>
          <p:nvPr/>
        </p:nvSpPr>
        <p:spPr>
          <a:xfrm>
            <a:off x="1463040" y="9334283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4472C4"/>
                </a:solidFill>
                <a:latin typeface="Microsoft JhengHei"/>
              </a:defRPr>
            </a:pPr>
            <a:r>
              <a:rPr lang="zh-TW" dirty="0">
                <a:solidFill>
                  <a:srgbClr val="4472C4"/>
                </a:solidFill>
              </a:rPr>
              <a:t>AI 要說你的語言</a:t>
            </a:r>
          </a:p>
        </p:txBody>
      </p:sp>
      <p:sp>
        <p:nvSpPr>
          <p:cNvPr id="30" name="Rounded Rectangle 12">
            <a:extLst>
              <a:ext uri="{FF2B5EF4-FFF2-40B4-BE49-F238E27FC236}">
                <a16:creationId xmlns:a16="http://schemas.microsoft.com/office/drawing/2014/main" id="{9737D788-F788-1E0D-4D5F-AF7E058A65EA}"/>
              </a:ext>
            </a:extLst>
          </p:cNvPr>
          <p:cNvSpPr/>
          <p:nvPr/>
        </p:nvSpPr>
        <p:spPr>
          <a:xfrm>
            <a:off x="731520" y="9864635"/>
            <a:ext cx="5029200" cy="77724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E27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13">
            <a:extLst>
              <a:ext uri="{FF2B5EF4-FFF2-40B4-BE49-F238E27FC236}">
                <a16:creationId xmlns:a16="http://schemas.microsoft.com/office/drawing/2014/main" id="{D1156583-3C1E-1B25-E318-D6C221E65C95}"/>
              </a:ext>
            </a:extLst>
          </p:cNvPr>
          <p:cNvSpPr txBox="1"/>
          <p:nvPr/>
        </p:nvSpPr>
        <p:spPr>
          <a:xfrm>
            <a:off x="822960" y="9910355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📏</a:t>
            </a:r>
          </a:p>
        </p:txBody>
      </p:sp>
      <p:sp>
        <p:nvSpPr>
          <p:cNvPr id="32" name="TextBox 14">
            <a:extLst>
              <a:ext uri="{FF2B5EF4-FFF2-40B4-BE49-F238E27FC236}">
                <a16:creationId xmlns:a16="http://schemas.microsoft.com/office/drawing/2014/main" id="{C754C69F-CC3A-50CA-6AB3-36B11B245902}"/>
              </a:ext>
            </a:extLst>
          </p:cNvPr>
          <p:cNvSpPr txBox="1"/>
          <p:nvPr/>
        </p:nvSpPr>
        <p:spPr>
          <a:xfrm>
            <a:off x="1463040" y="9910355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工程規則與數值</a:t>
            </a:r>
          </a:p>
        </p:txBody>
      </p:sp>
      <p:sp>
        <p:nvSpPr>
          <p:cNvPr id="33" name="TextBox 15">
            <a:extLst>
              <a:ext uri="{FF2B5EF4-FFF2-40B4-BE49-F238E27FC236}">
                <a16:creationId xmlns:a16="http://schemas.microsoft.com/office/drawing/2014/main" id="{673BD466-D73E-2B25-1C30-EA6499B4725F}"/>
              </a:ext>
            </a:extLst>
          </p:cNvPr>
          <p:cNvSpPr txBox="1"/>
          <p:nvPr/>
        </p:nvSpPr>
        <p:spPr>
          <a:xfrm>
            <a:off x="1463040" y="10248683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E27026"/>
                </a:solidFill>
                <a:latin typeface="Microsoft JhengHei"/>
              </a:defRPr>
            </a:pPr>
            <a:r>
              <a:rPr lang="zh-TW" dirty="0">
                <a:solidFill>
                  <a:srgbClr val="E27026"/>
                </a:solidFill>
              </a:rPr>
              <a:t>精確到小數點</a:t>
            </a:r>
          </a:p>
        </p:txBody>
      </p:sp>
      <p:sp>
        <p:nvSpPr>
          <p:cNvPr id="34" name="Rounded Rectangle 16">
            <a:extLst>
              <a:ext uri="{FF2B5EF4-FFF2-40B4-BE49-F238E27FC236}">
                <a16:creationId xmlns:a16="http://schemas.microsoft.com/office/drawing/2014/main" id="{73F0C1D0-5167-7908-C6A6-7502B8D46848}"/>
              </a:ext>
            </a:extLst>
          </p:cNvPr>
          <p:cNvSpPr/>
          <p:nvPr/>
        </p:nvSpPr>
        <p:spPr>
          <a:xfrm>
            <a:off x="731520" y="10779035"/>
            <a:ext cx="5029200" cy="77724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17">
            <a:extLst>
              <a:ext uri="{FF2B5EF4-FFF2-40B4-BE49-F238E27FC236}">
                <a16:creationId xmlns:a16="http://schemas.microsoft.com/office/drawing/2014/main" id="{FA9566C4-3069-9A29-7581-B1FDA2CE7392}"/>
              </a:ext>
            </a:extLst>
          </p:cNvPr>
          <p:cNvSpPr txBox="1"/>
          <p:nvPr/>
        </p:nvSpPr>
        <p:spPr>
          <a:xfrm>
            <a:off x="822960" y="10824755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🔌</a:t>
            </a:r>
          </a:p>
        </p:txBody>
      </p:sp>
      <p:sp>
        <p:nvSpPr>
          <p:cNvPr id="36" name="TextBox 18">
            <a:extLst>
              <a:ext uri="{FF2B5EF4-FFF2-40B4-BE49-F238E27FC236}">
                <a16:creationId xmlns:a16="http://schemas.microsoft.com/office/drawing/2014/main" id="{3DF4890E-D2D2-266C-681D-32343FCEA417}"/>
              </a:ext>
            </a:extLst>
          </p:cNvPr>
          <p:cNvSpPr txBox="1"/>
          <p:nvPr/>
        </p:nvSpPr>
        <p:spPr>
          <a:xfrm>
            <a:off x="1463040" y="10824755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軟體 API 用法</a:t>
            </a:r>
          </a:p>
        </p:txBody>
      </p:sp>
      <p:sp>
        <p:nvSpPr>
          <p:cNvPr id="37" name="TextBox 19">
            <a:extLst>
              <a:ext uri="{FF2B5EF4-FFF2-40B4-BE49-F238E27FC236}">
                <a16:creationId xmlns:a16="http://schemas.microsoft.com/office/drawing/2014/main" id="{627727B9-45E1-6D0F-3AAC-1C79FE0D20A0}"/>
              </a:ext>
            </a:extLst>
          </p:cNvPr>
          <p:cNvSpPr txBox="1"/>
          <p:nvPr/>
        </p:nvSpPr>
        <p:spPr>
          <a:xfrm>
            <a:off x="1463040" y="11163083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rgbClr val="70AD47"/>
                </a:solidFill>
              </a:rPr>
              <a:t>哪些能用、怎麼用</a:t>
            </a:r>
          </a:p>
        </p:txBody>
      </p:sp>
      <p:sp>
        <p:nvSpPr>
          <p:cNvPr id="38" name="Rounded Rectangle 20">
            <a:extLst>
              <a:ext uri="{FF2B5EF4-FFF2-40B4-BE49-F238E27FC236}">
                <a16:creationId xmlns:a16="http://schemas.microsoft.com/office/drawing/2014/main" id="{50442D47-C562-0B87-7911-115AEE64BF6A}"/>
              </a:ext>
            </a:extLst>
          </p:cNvPr>
          <p:cNvSpPr/>
          <p:nvPr/>
        </p:nvSpPr>
        <p:spPr>
          <a:xfrm>
            <a:off x="731520" y="11693435"/>
            <a:ext cx="5029200" cy="77724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21">
            <a:extLst>
              <a:ext uri="{FF2B5EF4-FFF2-40B4-BE49-F238E27FC236}">
                <a16:creationId xmlns:a16="http://schemas.microsoft.com/office/drawing/2014/main" id="{A67AE5E2-C673-E59E-0257-8B82D2A42A35}"/>
              </a:ext>
            </a:extLst>
          </p:cNvPr>
          <p:cNvSpPr txBox="1"/>
          <p:nvPr/>
        </p:nvSpPr>
        <p:spPr>
          <a:xfrm>
            <a:off x="822960" y="11739155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🚫</a:t>
            </a:r>
          </a:p>
        </p:txBody>
      </p:sp>
      <p:sp>
        <p:nvSpPr>
          <p:cNvPr id="40" name="TextBox 22">
            <a:extLst>
              <a:ext uri="{FF2B5EF4-FFF2-40B4-BE49-F238E27FC236}">
                <a16:creationId xmlns:a16="http://schemas.microsoft.com/office/drawing/2014/main" id="{76AE6709-E9A1-08A9-301A-65729DFEED3D}"/>
              </a:ext>
            </a:extLst>
          </p:cNvPr>
          <p:cNvSpPr txBox="1"/>
          <p:nvPr/>
        </p:nvSpPr>
        <p:spPr>
          <a:xfrm>
            <a:off x="1463040" y="11739155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禁止事項</a:t>
            </a:r>
          </a:p>
        </p:txBody>
      </p:sp>
      <p:sp>
        <p:nvSpPr>
          <p:cNvPr id="41" name="TextBox 23">
            <a:extLst>
              <a:ext uri="{FF2B5EF4-FFF2-40B4-BE49-F238E27FC236}">
                <a16:creationId xmlns:a16="http://schemas.microsoft.com/office/drawing/2014/main" id="{E5C11A05-1EED-AF47-8A7E-6DB612910369}"/>
              </a:ext>
            </a:extLst>
          </p:cNvPr>
          <p:cNvSpPr txBox="1"/>
          <p:nvPr/>
        </p:nvSpPr>
        <p:spPr>
          <a:xfrm>
            <a:off x="1463040" y="12077483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ED7D31"/>
                </a:solidFill>
                <a:latin typeface="Microsoft JhengHei"/>
              </a:defRPr>
            </a:pPr>
            <a:r>
              <a:rPr lang="zh-TW" dirty="0">
                <a:solidFill>
                  <a:srgbClr val="ED7D31"/>
                </a:solidFill>
              </a:rPr>
              <a:t>哪些事絕不能做</a:t>
            </a:r>
          </a:p>
        </p:txBody>
      </p:sp>
      <p:sp>
        <p:nvSpPr>
          <p:cNvPr id="42" name="Rounded Rectangle 24">
            <a:extLst>
              <a:ext uri="{FF2B5EF4-FFF2-40B4-BE49-F238E27FC236}">
                <a16:creationId xmlns:a16="http://schemas.microsoft.com/office/drawing/2014/main" id="{06607791-D057-77A6-CD14-598CA9ED5891}"/>
              </a:ext>
            </a:extLst>
          </p:cNvPr>
          <p:cNvSpPr/>
          <p:nvPr/>
        </p:nvSpPr>
        <p:spPr>
          <a:xfrm>
            <a:off x="6400800" y="7670075"/>
            <a:ext cx="5303520" cy="484632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25">
            <a:extLst>
              <a:ext uri="{FF2B5EF4-FFF2-40B4-BE49-F238E27FC236}">
                <a16:creationId xmlns:a16="http://schemas.microsoft.com/office/drawing/2014/main" id="{AD1355FD-9E85-2528-9809-2003BF34E56F}"/>
              </a:ext>
            </a:extLst>
          </p:cNvPr>
          <p:cNvSpPr txBox="1"/>
          <p:nvPr/>
        </p:nvSpPr>
        <p:spPr>
          <a:xfrm>
            <a:off x="6583680" y="7852955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4472C4"/>
                </a:solidFill>
                <a:latin typeface="Microsoft JhengHei"/>
              </a:defRPr>
            </a:pPr>
            <a:r>
              <a:rPr lang="zh-TW" dirty="0">
                <a:solidFill>
                  <a:srgbClr val="4472C4"/>
                </a:solidFill>
              </a:rPr>
              <a:t>類比：新進員工的 SOP 手冊</a:t>
            </a:r>
          </a:p>
        </p:txBody>
      </p:sp>
      <p:sp>
        <p:nvSpPr>
          <p:cNvPr id="44" name="Rounded Rectangle 26">
            <a:extLst>
              <a:ext uri="{FF2B5EF4-FFF2-40B4-BE49-F238E27FC236}">
                <a16:creationId xmlns:a16="http://schemas.microsoft.com/office/drawing/2014/main" id="{F7472B5B-2079-F24D-E379-41C5FAC8AEAD}"/>
              </a:ext>
            </a:extLst>
          </p:cNvPr>
          <p:cNvSpPr/>
          <p:nvPr/>
        </p:nvSpPr>
        <p:spPr>
          <a:xfrm>
            <a:off x="6858000" y="8584475"/>
            <a:ext cx="4572000" cy="3611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27">
            <a:extLst>
              <a:ext uri="{FF2B5EF4-FFF2-40B4-BE49-F238E27FC236}">
                <a16:creationId xmlns:a16="http://schemas.microsoft.com/office/drawing/2014/main" id="{5849366D-5CE3-DA5A-471B-639FF4C1C593}"/>
              </a:ext>
            </a:extLst>
          </p:cNvPr>
          <p:cNvSpPr txBox="1"/>
          <p:nvPr/>
        </p:nvSpPr>
        <p:spPr>
          <a:xfrm>
            <a:off x="7040880" y="8767355"/>
            <a:ext cx="4206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E27026"/>
                </a:solidFill>
                <a:latin typeface="Consolas"/>
              </a:defRPr>
            </a:pPr>
            <a:r>
              <a:rPr lang="zh-TW" dirty="0">
                <a:solidFill>
                  <a:srgbClr val="E27026"/>
                </a:solidFill>
              </a:rPr>
              <a:t># 專案說明書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44444"/>
                </a:solidFill>
                <a:latin typeface="Consolas"/>
              </a:defRPr>
            </a:pPr>
            <a:endParaRPr dirty="0"/>
          </a:p>
          <a:p>
            <a:pPr algn="l">
              <a:spcAft>
                <a:spcPts val="400"/>
              </a:spcAft>
              <a:defRPr sz="1600" b="1">
                <a:solidFill>
                  <a:srgbClr val="4472C4"/>
                </a:solidFill>
                <a:latin typeface="Consolas"/>
              </a:defRPr>
            </a:pPr>
            <a:r>
              <a:rPr lang="zh-TW" dirty="0">
                <a:solidFill>
                  <a:srgbClr val="4472C4"/>
                </a:solidFill>
              </a:rPr>
              <a:t>## 術語定義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44546A"/>
                </a:solidFill>
                <a:latin typeface="Consolas"/>
              </a:defRPr>
            </a:pPr>
            <a:r>
              <a:rPr lang="zh-TW" dirty="0">
                <a:solidFill>
                  <a:srgbClr val="44546A"/>
                </a:solidFill>
              </a:rPr>
              <a:t>- 上構 = 1MF 以上樓層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44546A"/>
                </a:solidFill>
                <a:latin typeface="Consolas"/>
              </a:defRPr>
            </a:pPr>
            <a:r>
              <a:rPr lang="zh-TW" dirty="0">
                <a:solidFill>
                  <a:srgbClr val="44546A"/>
                </a:solidFill>
              </a:rPr>
              <a:t>- 下構 = B*F, 1F, BASE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44444"/>
                </a:solidFill>
                <a:latin typeface="Consolas"/>
              </a:defRPr>
            </a:pPr>
            <a:endParaRPr dirty="0"/>
          </a:p>
          <a:p>
            <a:pPr algn="l">
              <a:spcAft>
                <a:spcPts val="400"/>
              </a:spcAft>
              <a:defRPr sz="1600" b="1">
                <a:solidFill>
                  <a:srgbClr val="4472C4"/>
                </a:solidFill>
                <a:latin typeface="Consolas"/>
              </a:defRPr>
            </a:pPr>
            <a:r>
              <a:rPr lang="zh-TW" dirty="0">
                <a:solidFill>
                  <a:srgbClr val="4472C4"/>
                </a:solidFill>
              </a:rPr>
              <a:t>## 工程規則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44546A"/>
                </a:solidFill>
                <a:latin typeface="Consolas"/>
              </a:defRPr>
            </a:pPr>
            <a:r>
              <a:rPr lang="zh-TW" dirty="0">
                <a:solidFill>
                  <a:srgbClr val="44546A"/>
                </a:solidFill>
              </a:rPr>
              <a:t>- Rigid Zone = 0.75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44546A"/>
                </a:solidFill>
                <a:latin typeface="Consolas"/>
              </a:defRPr>
            </a:pPr>
            <a:r>
              <a:rPr lang="zh-TW" dirty="0">
                <a:solidFill>
                  <a:srgbClr val="44546A"/>
                </a:solidFill>
              </a:rPr>
              <a:t>- 柱保護層 = 7cm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44444"/>
                </a:solidFill>
                <a:latin typeface="Consolas"/>
              </a:defRPr>
            </a:pPr>
            <a:endParaRPr dirty="0"/>
          </a:p>
          <a:p>
            <a:pPr algn="l">
              <a:spcAft>
                <a:spcPts val="400"/>
              </a:spcAft>
              <a:defRPr sz="1600" b="1">
                <a:solidFill>
                  <a:srgbClr val="ED7D31"/>
                </a:solidFill>
                <a:latin typeface="Consolas"/>
              </a:defRPr>
            </a:pPr>
            <a:r>
              <a:rPr lang="zh-TW" dirty="0">
                <a:solidFill>
                  <a:srgbClr val="ED7D31"/>
                </a:solidFill>
              </a:rPr>
              <a:t>## 禁止事項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44546A"/>
                </a:solidFill>
                <a:latin typeface="Consolas"/>
              </a:defRPr>
            </a:pPr>
            <a:r>
              <a:rPr lang="zh-TW" dirty="0">
                <a:solidFill>
                  <a:srgbClr val="44546A"/>
                </a:solidFill>
              </a:rPr>
              <a:t>- 小梁位置不可用猜的</a:t>
            </a:r>
          </a:p>
        </p:txBody>
      </p:sp>
      <p:sp>
        <p:nvSpPr>
          <p:cNvPr id="46" name="TextBox 28">
            <a:extLst>
              <a:ext uri="{FF2B5EF4-FFF2-40B4-BE49-F238E27FC236}">
                <a16:creationId xmlns:a16="http://schemas.microsoft.com/office/drawing/2014/main" id="{E8337A17-75C4-DEE4-CB91-0E9A888E6410}"/>
              </a:ext>
            </a:extLst>
          </p:cNvPr>
          <p:cNvSpPr txBox="1"/>
          <p:nvPr/>
        </p:nvSpPr>
        <p:spPr>
          <a:xfrm>
            <a:off x="6583680" y="12699275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📋 還沒上工就先讀手冊 → AI 每次啟動先讀這份</a:t>
            </a:r>
          </a:p>
        </p:txBody>
      </p:sp>
      <p:sp>
        <p:nvSpPr>
          <p:cNvPr id="71" name="Rounded Rectangle 5">
            <a:extLst>
              <a:ext uri="{FF2B5EF4-FFF2-40B4-BE49-F238E27FC236}">
                <a16:creationId xmlns:a16="http://schemas.microsoft.com/office/drawing/2014/main" id="{BAC6FE7F-A2CD-9C3C-E951-F6EC836BC58C}"/>
              </a:ext>
            </a:extLst>
          </p:cNvPr>
          <p:cNvSpPr/>
          <p:nvPr/>
        </p:nvSpPr>
        <p:spPr>
          <a:xfrm>
            <a:off x="-5440680" y="1463040"/>
            <a:ext cx="5029200" cy="475488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6">
            <a:extLst>
              <a:ext uri="{FF2B5EF4-FFF2-40B4-BE49-F238E27FC236}">
                <a16:creationId xmlns:a16="http://schemas.microsoft.com/office/drawing/2014/main" id="{E81E6F01-24F4-8632-A8EF-A10E54542EDF}"/>
              </a:ext>
            </a:extLst>
          </p:cNvPr>
          <p:cNvSpPr txBox="1"/>
          <p:nvPr/>
        </p:nvSpPr>
        <p:spPr>
          <a:xfrm>
            <a:off x="-5349240" y="164592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D7D31"/>
                </a:solidFill>
                <a:latin typeface="Microsoft JhengHei"/>
              </a:defRPr>
            </a:pPr>
            <a:r>
              <a:rPr lang="zh-TW" dirty="0">
                <a:solidFill>
                  <a:srgbClr val="ED7D31"/>
                </a:solidFill>
              </a:rPr>
              <a:t>ChatBot</a:t>
            </a:r>
          </a:p>
        </p:txBody>
      </p:sp>
      <p:sp>
        <p:nvSpPr>
          <p:cNvPr id="73" name="TextBox 7">
            <a:extLst>
              <a:ext uri="{FF2B5EF4-FFF2-40B4-BE49-F238E27FC236}">
                <a16:creationId xmlns:a16="http://schemas.microsoft.com/office/drawing/2014/main" id="{ACDB2CC8-F82B-25E2-9A14-0D120B086735}"/>
              </a:ext>
            </a:extLst>
          </p:cNvPr>
          <p:cNvSpPr txBox="1"/>
          <p:nvPr/>
        </p:nvSpPr>
        <p:spPr>
          <a:xfrm>
            <a:off x="-5349240" y="22860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被動問答</a:t>
            </a:r>
          </a:p>
        </p:txBody>
      </p:sp>
      <p:sp>
        <p:nvSpPr>
          <p:cNvPr id="74" name="TextBox 8">
            <a:extLst>
              <a:ext uri="{FF2B5EF4-FFF2-40B4-BE49-F238E27FC236}">
                <a16:creationId xmlns:a16="http://schemas.microsoft.com/office/drawing/2014/main" id="{16880759-7886-C3A3-B305-2DFD058B331E}"/>
              </a:ext>
            </a:extLst>
          </p:cNvPr>
          <p:cNvSpPr txBox="1"/>
          <p:nvPr/>
        </p:nvSpPr>
        <p:spPr>
          <a:xfrm>
            <a:off x="-5166360" y="2926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D7D31"/>
                </a:solidFill>
                <a:latin typeface="Microsoft JhengHei"/>
              </a:defRPr>
            </a:pPr>
            <a:r>
              <a:rPr lang="zh-TW" dirty="0">
                <a:solidFill>
                  <a:srgbClr val="ED7D31"/>
                </a:solidFill>
              </a:rPr>
              <a:t>互動模式</a:t>
            </a:r>
          </a:p>
        </p:txBody>
      </p:sp>
      <p:sp>
        <p:nvSpPr>
          <p:cNvPr id="75" name="TextBox 9">
            <a:extLst>
              <a:ext uri="{FF2B5EF4-FFF2-40B4-BE49-F238E27FC236}">
                <a16:creationId xmlns:a16="http://schemas.microsoft.com/office/drawing/2014/main" id="{0193EE34-2011-9124-18DA-82524C862C2A}"/>
              </a:ext>
            </a:extLst>
          </p:cNvPr>
          <p:cNvSpPr txBox="1"/>
          <p:nvPr/>
        </p:nvSpPr>
        <p:spPr>
          <a:xfrm>
            <a:off x="-3337560" y="2926080"/>
            <a:ext cx="2743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Microsoft JhengHei"/>
              </a:defRPr>
            </a:pPr>
            <a:r>
              <a:rPr lang="zh-TW" dirty="0">
                <a:solidFill>
                  <a:srgbClr val="333333"/>
                </a:solidFill>
              </a:rPr>
              <a:t>你問一句、它答一句</a:t>
            </a:r>
          </a:p>
        </p:txBody>
      </p:sp>
      <p:sp>
        <p:nvSpPr>
          <p:cNvPr id="76" name="TextBox 10">
            <a:extLst>
              <a:ext uri="{FF2B5EF4-FFF2-40B4-BE49-F238E27FC236}">
                <a16:creationId xmlns:a16="http://schemas.microsoft.com/office/drawing/2014/main" id="{34C8040E-135A-1A96-FA72-488105926A18}"/>
              </a:ext>
            </a:extLst>
          </p:cNvPr>
          <p:cNvSpPr txBox="1"/>
          <p:nvPr/>
        </p:nvSpPr>
        <p:spPr>
          <a:xfrm>
            <a:off x="-5166360" y="3611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D7D31"/>
                </a:solidFill>
                <a:latin typeface="Microsoft JhengHei"/>
              </a:defRPr>
            </a:pPr>
            <a:r>
              <a:rPr lang="zh-TW" dirty="0">
                <a:solidFill>
                  <a:srgbClr val="ED7D31"/>
                </a:solidFill>
              </a:rPr>
              <a:t>工具能力</a:t>
            </a:r>
          </a:p>
        </p:txBody>
      </p:sp>
      <p:sp>
        <p:nvSpPr>
          <p:cNvPr id="77" name="TextBox 11">
            <a:extLst>
              <a:ext uri="{FF2B5EF4-FFF2-40B4-BE49-F238E27FC236}">
                <a16:creationId xmlns:a16="http://schemas.microsoft.com/office/drawing/2014/main" id="{884F4B1F-5FE8-BDEC-D126-CBC1A315926E}"/>
              </a:ext>
            </a:extLst>
          </p:cNvPr>
          <p:cNvSpPr txBox="1"/>
          <p:nvPr/>
        </p:nvSpPr>
        <p:spPr>
          <a:xfrm>
            <a:off x="-3337560" y="3611880"/>
            <a:ext cx="2743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Microsoft JhengHei"/>
              </a:defRPr>
            </a:pPr>
            <a:r>
              <a:rPr lang="zh-TW" dirty="0">
                <a:solidFill>
                  <a:srgbClr val="333333"/>
                </a:solidFill>
              </a:rPr>
              <a:t>只能產生文字</a:t>
            </a:r>
          </a:p>
        </p:txBody>
      </p:sp>
      <p:sp>
        <p:nvSpPr>
          <p:cNvPr id="78" name="TextBox 12">
            <a:extLst>
              <a:ext uri="{FF2B5EF4-FFF2-40B4-BE49-F238E27FC236}">
                <a16:creationId xmlns:a16="http://schemas.microsoft.com/office/drawing/2014/main" id="{5A419A8E-E2D1-F4D3-6FBB-98C834879A49}"/>
              </a:ext>
            </a:extLst>
          </p:cNvPr>
          <p:cNvSpPr txBox="1"/>
          <p:nvPr/>
        </p:nvSpPr>
        <p:spPr>
          <a:xfrm>
            <a:off x="-5166360" y="4297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D7D31"/>
                </a:solidFill>
                <a:latin typeface="Microsoft JhengHei"/>
              </a:defRPr>
            </a:pPr>
            <a:r>
              <a:rPr lang="zh-TW" dirty="0">
                <a:solidFill>
                  <a:srgbClr val="ED7D31"/>
                </a:solidFill>
              </a:rPr>
              <a:t>協作方式</a:t>
            </a:r>
          </a:p>
        </p:txBody>
      </p:sp>
      <p:sp>
        <p:nvSpPr>
          <p:cNvPr id="79" name="TextBox 13">
            <a:extLst>
              <a:ext uri="{FF2B5EF4-FFF2-40B4-BE49-F238E27FC236}">
                <a16:creationId xmlns:a16="http://schemas.microsoft.com/office/drawing/2014/main" id="{EDC224F7-E074-F498-DA5A-93BA75E44A77}"/>
              </a:ext>
            </a:extLst>
          </p:cNvPr>
          <p:cNvSpPr txBox="1"/>
          <p:nvPr/>
        </p:nvSpPr>
        <p:spPr>
          <a:xfrm>
            <a:off x="-3337560" y="4297680"/>
            <a:ext cx="2743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Microsoft JhengHei"/>
              </a:defRPr>
            </a:pPr>
            <a:r>
              <a:rPr lang="zh-TW" dirty="0">
                <a:solidFill>
                  <a:srgbClr val="333333"/>
                </a:solidFill>
              </a:rPr>
              <a:t>單一對話</a:t>
            </a:r>
          </a:p>
        </p:txBody>
      </p:sp>
      <p:sp>
        <p:nvSpPr>
          <p:cNvPr id="80" name="TextBox 14">
            <a:extLst>
              <a:ext uri="{FF2B5EF4-FFF2-40B4-BE49-F238E27FC236}">
                <a16:creationId xmlns:a16="http://schemas.microsoft.com/office/drawing/2014/main" id="{6482B197-550A-B7EB-B3F4-C20D84A69548}"/>
              </a:ext>
            </a:extLst>
          </p:cNvPr>
          <p:cNvSpPr txBox="1"/>
          <p:nvPr/>
        </p:nvSpPr>
        <p:spPr>
          <a:xfrm>
            <a:off x="-5166360" y="4983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D7D31"/>
                </a:solidFill>
                <a:latin typeface="Microsoft JhengHei"/>
              </a:defRPr>
            </a:pPr>
            <a:r>
              <a:rPr lang="zh-TW" dirty="0">
                <a:solidFill>
                  <a:srgbClr val="ED7D31"/>
                </a:solidFill>
              </a:rPr>
              <a:t>結果</a:t>
            </a:r>
          </a:p>
        </p:txBody>
      </p:sp>
      <p:sp>
        <p:nvSpPr>
          <p:cNvPr id="81" name="TextBox 15">
            <a:extLst>
              <a:ext uri="{FF2B5EF4-FFF2-40B4-BE49-F238E27FC236}">
                <a16:creationId xmlns:a16="http://schemas.microsoft.com/office/drawing/2014/main" id="{7E7BE8B5-5556-99F0-1372-04A121282998}"/>
              </a:ext>
            </a:extLst>
          </p:cNvPr>
          <p:cNvSpPr txBox="1"/>
          <p:nvPr/>
        </p:nvSpPr>
        <p:spPr>
          <a:xfrm>
            <a:off x="-3337560" y="4983480"/>
            <a:ext cx="2743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Microsoft JhengHei"/>
              </a:defRPr>
            </a:pPr>
            <a:r>
              <a:rPr lang="zh-TW" dirty="0">
                <a:solidFill>
                  <a:srgbClr val="333333"/>
                </a:solidFill>
              </a:rPr>
              <a:t>一段回答</a:t>
            </a:r>
          </a:p>
        </p:txBody>
      </p:sp>
      <p:sp>
        <p:nvSpPr>
          <p:cNvPr id="82" name="Right Arrow 16">
            <a:extLst>
              <a:ext uri="{FF2B5EF4-FFF2-40B4-BE49-F238E27FC236}">
                <a16:creationId xmlns:a16="http://schemas.microsoft.com/office/drawing/2014/main" id="{D05CA043-C7DF-6DD7-03C5-F5B9DAF3761F}"/>
              </a:ext>
            </a:extLst>
          </p:cNvPr>
          <p:cNvSpPr/>
          <p:nvPr/>
        </p:nvSpPr>
        <p:spPr>
          <a:xfrm>
            <a:off x="5852160" y="8247888"/>
            <a:ext cx="548640" cy="457200"/>
          </a:xfrm>
          <a:prstGeom prst="rightArrow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17">
            <a:extLst>
              <a:ext uri="{FF2B5EF4-FFF2-40B4-BE49-F238E27FC236}">
                <a16:creationId xmlns:a16="http://schemas.microsoft.com/office/drawing/2014/main" id="{ACDD5055-6F95-4014-2E28-C23B14B044B7}"/>
              </a:ext>
            </a:extLst>
          </p:cNvPr>
          <p:cNvSpPr txBox="1"/>
          <p:nvPr/>
        </p:nvSpPr>
        <p:spPr>
          <a:xfrm>
            <a:off x="5669280" y="7607808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27026"/>
                </a:solidFill>
                <a:latin typeface="Microsoft JhengHei"/>
              </a:defRPr>
            </a:pPr>
            <a:r>
              <a:rPr lang="zh-TW" dirty="0">
                <a:solidFill>
                  <a:srgbClr val="E27026"/>
                </a:solidFill>
              </a:rPr>
              <a:t>進化</a:t>
            </a:r>
          </a:p>
        </p:txBody>
      </p:sp>
      <p:sp>
        <p:nvSpPr>
          <p:cNvPr id="84" name="Rounded Rectangle 18">
            <a:extLst>
              <a:ext uri="{FF2B5EF4-FFF2-40B4-BE49-F238E27FC236}">
                <a16:creationId xmlns:a16="http://schemas.microsoft.com/office/drawing/2014/main" id="{029DE480-542B-7B28-BE39-9A6EDC786410}"/>
              </a:ext>
            </a:extLst>
          </p:cNvPr>
          <p:cNvSpPr/>
          <p:nvPr/>
        </p:nvSpPr>
        <p:spPr>
          <a:xfrm>
            <a:off x="12603175" y="1463040"/>
            <a:ext cx="5029200" cy="475488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19">
            <a:extLst>
              <a:ext uri="{FF2B5EF4-FFF2-40B4-BE49-F238E27FC236}">
                <a16:creationId xmlns:a16="http://schemas.microsoft.com/office/drawing/2014/main" id="{ADA58A97-1E3A-875F-3EDA-E94908F07A97}"/>
              </a:ext>
            </a:extLst>
          </p:cNvPr>
          <p:cNvSpPr txBox="1"/>
          <p:nvPr/>
        </p:nvSpPr>
        <p:spPr>
          <a:xfrm>
            <a:off x="12694615" y="164592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rgbClr val="70AD47"/>
                </a:solidFill>
              </a:rPr>
              <a:t>AI Agent</a:t>
            </a:r>
          </a:p>
        </p:txBody>
      </p:sp>
      <p:sp>
        <p:nvSpPr>
          <p:cNvPr id="86" name="TextBox 20">
            <a:extLst>
              <a:ext uri="{FF2B5EF4-FFF2-40B4-BE49-F238E27FC236}">
                <a16:creationId xmlns:a16="http://schemas.microsoft.com/office/drawing/2014/main" id="{774DE5C4-1B75-F686-1AD8-26F7BDB95AE3}"/>
              </a:ext>
            </a:extLst>
          </p:cNvPr>
          <p:cNvSpPr txBox="1"/>
          <p:nvPr/>
        </p:nvSpPr>
        <p:spPr>
          <a:xfrm>
            <a:off x="12694615" y="22860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主動執行</a:t>
            </a:r>
          </a:p>
        </p:txBody>
      </p:sp>
      <p:sp>
        <p:nvSpPr>
          <p:cNvPr id="87" name="TextBox 21">
            <a:extLst>
              <a:ext uri="{FF2B5EF4-FFF2-40B4-BE49-F238E27FC236}">
                <a16:creationId xmlns:a16="http://schemas.microsoft.com/office/drawing/2014/main" id="{319D54F8-5903-A4B9-4E76-56B07217923A}"/>
              </a:ext>
            </a:extLst>
          </p:cNvPr>
          <p:cNvSpPr txBox="1"/>
          <p:nvPr/>
        </p:nvSpPr>
        <p:spPr>
          <a:xfrm>
            <a:off x="12786055" y="2926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rgbClr val="70AD47"/>
                </a:solidFill>
              </a:rPr>
              <a:t>互動模式</a:t>
            </a:r>
          </a:p>
        </p:txBody>
      </p:sp>
      <p:sp>
        <p:nvSpPr>
          <p:cNvPr id="88" name="TextBox 22">
            <a:extLst>
              <a:ext uri="{FF2B5EF4-FFF2-40B4-BE49-F238E27FC236}">
                <a16:creationId xmlns:a16="http://schemas.microsoft.com/office/drawing/2014/main" id="{72AE4841-E635-86E2-2517-50FC09C6D178}"/>
              </a:ext>
            </a:extLst>
          </p:cNvPr>
          <p:cNvSpPr txBox="1"/>
          <p:nvPr/>
        </p:nvSpPr>
        <p:spPr>
          <a:xfrm>
            <a:off x="14614855" y="2926080"/>
            <a:ext cx="28346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Microsoft JhengHei"/>
              </a:defRPr>
            </a:pPr>
            <a:r>
              <a:rPr dirty="0" err="1">
                <a:solidFill>
                  <a:srgbClr val="000000"/>
                </a:solidFill>
              </a:rPr>
              <a:t>給任務，自己拆解步驟完成</a:t>
            </a:r>
            <a:endParaRPr dirty="0"/>
          </a:p>
        </p:txBody>
      </p:sp>
      <p:sp>
        <p:nvSpPr>
          <p:cNvPr id="89" name="TextBox 23">
            <a:extLst>
              <a:ext uri="{FF2B5EF4-FFF2-40B4-BE49-F238E27FC236}">
                <a16:creationId xmlns:a16="http://schemas.microsoft.com/office/drawing/2014/main" id="{90745C7F-9ACB-A5F5-BD1D-2F5BA0A4A77B}"/>
              </a:ext>
            </a:extLst>
          </p:cNvPr>
          <p:cNvSpPr txBox="1"/>
          <p:nvPr/>
        </p:nvSpPr>
        <p:spPr>
          <a:xfrm>
            <a:off x="12786055" y="3611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rgbClr val="70AD47"/>
                </a:solidFill>
              </a:rPr>
              <a:t>工具能力</a:t>
            </a:r>
          </a:p>
        </p:txBody>
      </p:sp>
      <p:sp>
        <p:nvSpPr>
          <p:cNvPr id="90" name="TextBox 24">
            <a:extLst>
              <a:ext uri="{FF2B5EF4-FFF2-40B4-BE49-F238E27FC236}">
                <a16:creationId xmlns:a16="http://schemas.microsoft.com/office/drawing/2014/main" id="{ECD4BECC-3B6E-824F-DFED-66E2A87EA41A}"/>
              </a:ext>
            </a:extLst>
          </p:cNvPr>
          <p:cNvSpPr txBox="1"/>
          <p:nvPr/>
        </p:nvSpPr>
        <p:spPr>
          <a:xfrm>
            <a:off x="14614855" y="3611880"/>
            <a:ext cx="28346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讀寫檔案、執行程式、操作工具</a:t>
            </a:r>
          </a:p>
        </p:txBody>
      </p:sp>
      <p:sp>
        <p:nvSpPr>
          <p:cNvPr id="91" name="TextBox 25">
            <a:extLst>
              <a:ext uri="{FF2B5EF4-FFF2-40B4-BE49-F238E27FC236}">
                <a16:creationId xmlns:a16="http://schemas.microsoft.com/office/drawing/2014/main" id="{430533CE-04F1-A2C6-77CE-6F4895998266}"/>
              </a:ext>
            </a:extLst>
          </p:cNvPr>
          <p:cNvSpPr txBox="1"/>
          <p:nvPr/>
        </p:nvSpPr>
        <p:spPr>
          <a:xfrm>
            <a:off x="12786055" y="4297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rgbClr val="70AD47"/>
                </a:solidFill>
              </a:rPr>
              <a:t>協作方式</a:t>
            </a:r>
          </a:p>
        </p:txBody>
      </p:sp>
      <p:sp>
        <p:nvSpPr>
          <p:cNvPr id="92" name="TextBox 26">
            <a:extLst>
              <a:ext uri="{FF2B5EF4-FFF2-40B4-BE49-F238E27FC236}">
                <a16:creationId xmlns:a16="http://schemas.microsoft.com/office/drawing/2014/main" id="{041BD188-48FF-5F26-01B3-176BF68B60C0}"/>
              </a:ext>
            </a:extLst>
          </p:cNvPr>
          <p:cNvSpPr txBox="1"/>
          <p:nvPr/>
        </p:nvSpPr>
        <p:spPr>
          <a:xfrm>
            <a:off x="14614855" y="4297680"/>
            <a:ext cx="28346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多 Agent 分工合作</a:t>
            </a:r>
          </a:p>
        </p:txBody>
      </p:sp>
      <p:sp>
        <p:nvSpPr>
          <p:cNvPr id="93" name="TextBox 27">
            <a:extLst>
              <a:ext uri="{FF2B5EF4-FFF2-40B4-BE49-F238E27FC236}">
                <a16:creationId xmlns:a16="http://schemas.microsoft.com/office/drawing/2014/main" id="{F026D079-7C1B-8B4E-B783-08F61BA2857E}"/>
              </a:ext>
            </a:extLst>
          </p:cNvPr>
          <p:cNvSpPr txBox="1"/>
          <p:nvPr/>
        </p:nvSpPr>
        <p:spPr>
          <a:xfrm>
            <a:off x="12786055" y="4983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rgbClr val="70AD47"/>
                </a:solidFill>
              </a:rPr>
              <a:t>結果</a:t>
            </a:r>
          </a:p>
        </p:txBody>
      </p:sp>
      <p:sp>
        <p:nvSpPr>
          <p:cNvPr id="94" name="TextBox 28">
            <a:extLst>
              <a:ext uri="{FF2B5EF4-FFF2-40B4-BE49-F238E27FC236}">
                <a16:creationId xmlns:a16="http://schemas.microsoft.com/office/drawing/2014/main" id="{2B6BA393-D36D-4F13-20D9-58DF9451F967}"/>
              </a:ext>
            </a:extLst>
          </p:cNvPr>
          <p:cNvSpPr txBox="1"/>
          <p:nvPr/>
        </p:nvSpPr>
        <p:spPr>
          <a:xfrm>
            <a:off x="14614855" y="4983480"/>
            <a:ext cx="28346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實際成果 — 檔案、模型、報告</a:t>
            </a:r>
          </a:p>
        </p:txBody>
      </p:sp>
    </p:spTree>
    <p:extLst>
      <p:ext uri="{BB962C8B-B14F-4D97-AF65-F5344CB8AC3E}">
        <p14:creationId xmlns:p14="http://schemas.microsoft.com/office/powerpoint/2010/main" val="25205026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11480"/>
            <a:ext cx="1097280" cy="54864"/>
          </a:xfrm>
          <a:prstGeom prst="rect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第 1 層：AI 的工作手冊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概念篇</a:t>
            </a:r>
          </a:p>
        </p:txBody>
      </p:sp>
      <p:sp>
        <p:nvSpPr>
          <p:cNvPr id="5" name="Oval 4"/>
          <p:cNvSpPr/>
          <p:nvPr/>
        </p:nvSpPr>
        <p:spPr>
          <a:xfrm>
            <a:off x="10740390" y="320040"/>
            <a:ext cx="457200" cy="457200"/>
          </a:xfrm>
          <a:prstGeom prst="ellipse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740390" y="3657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5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0"/>
              </a:spcAft>
              <a:defRPr sz="2600" b="1">
                <a:solidFill>
                  <a:srgbClr val="000000"/>
                </a:solidFill>
                <a:latin typeface="Microsoft JhengHei"/>
              </a:defRPr>
            </a:pPr>
            <a:r>
              <a:rPr lang="zh-TW" sz="2600" b="1" dirty="0">
                <a:solidFill>
                  <a:srgbClr val="000000"/>
                </a:solidFill>
                <a:latin typeface="Microsoft JhengHei"/>
              </a:rPr>
              <a:t>一份 Markdown 文件</a:t>
            </a:r>
          </a:p>
          <a:p>
            <a:pPr algn="l">
              <a:spcAft>
                <a:spcPts val="760"/>
              </a:spcAft>
              <a:defRPr sz="2000" b="0">
                <a:solidFill>
                  <a:srgbClr val="44546A"/>
                </a:solidFill>
                <a:latin typeface="Microsoft JhengHei"/>
              </a:defRPr>
            </a:pPr>
            <a:r>
              <a:rPr lang="zh-TW" sz="2000" b="0" dirty="0">
                <a:solidFill>
                  <a:srgbClr val="44546A"/>
                </a:solidFill>
                <a:latin typeface="Microsoft JhengHei"/>
              </a:rPr>
              <a:t>定義 AI 在此專案中的所有規則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60320"/>
            <a:ext cx="5029200" cy="77724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606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6060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專業術語定義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94436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4472C4"/>
                </a:solidFill>
                <a:latin typeface="Microsoft JhengHei"/>
              </a:defRPr>
            </a:pPr>
            <a:r>
              <a:rPr lang="zh-TW" dirty="0">
                <a:solidFill>
                  <a:srgbClr val="4472C4"/>
                </a:solidFill>
              </a:rPr>
              <a:t>AI 要說你的語言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474720"/>
            <a:ext cx="5029200" cy="77724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E27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35204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520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工程規則與數值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85876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E27026"/>
                </a:solidFill>
                <a:latin typeface="Microsoft JhengHei"/>
              </a:defRPr>
            </a:pPr>
            <a:r>
              <a:rPr lang="zh-TW" dirty="0">
                <a:solidFill>
                  <a:srgbClr val="E27026"/>
                </a:solidFill>
              </a:rPr>
              <a:t>精確到小數點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389120"/>
            <a:ext cx="5029200" cy="77724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44348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434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軟體 API 用法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77316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rgbClr val="70AD47"/>
                </a:solidFill>
              </a:rPr>
              <a:t>哪些能用、怎麼用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303520"/>
            <a:ext cx="5029200" cy="77724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60" y="53492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53492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禁止事項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568756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ED7D31"/>
                </a:solidFill>
                <a:latin typeface="Microsoft JhengHei"/>
              </a:defRPr>
            </a:pPr>
            <a:r>
              <a:rPr lang="zh-TW" dirty="0">
                <a:solidFill>
                  <a:srgbClr val="ED7D31"/>
                </a:solidFill>
              </a:rPr>
              <a:t>哪些事絕不能做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1280160"/>
            <a:ext cx="5303520" cy="429768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83680" y="146304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4472C4"/>
                </a:solidFill>
                <a:latin typeface="Microsoft JhengHei"/>
              </a:defRPr>
            </a:pPr>
            <a:r>
              <a:rPr lang="zh-TW" dirty="0">
                <a:solidFill>
                  <a:srgbClr val="4472C4"/>
                </a:solidFill>
              </a:rPr>
              <a:t>類比：新進員工的 SOP 手冊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0" y="2194560"/>
            <a:ext cx="4572000" cy="3373265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040880" y="2377440"/>
            <a:ext cx="4206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E27026"/>
                </a:solidFill>
                <a:latin typeface="Consolas"/>
              </a:defRPr>
            </a:pPr>
            <a:r>
              <a:rPr lang="zh-TW" dirty="0">
                <a:solidFill>
                  <a:srgbClr val="E27026"/>
                </a:solidFill>
              </a:rPr>
              <a:t># 專案說明書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44444"/>
                </a:solidFill>
                <a:latin typeface="Consolas"/>
              </a:defRPr>
            </a:pPr>
            <a:endParaRPr dirty="0"/>
          </a:p>
          <a:p>
            <a:pPr algn="l">
              <a:spcAft>
                <a:spcPts val="400"/>
              </a:spcAft>
              <a:defRPr sz="1600" b="1">
                <a:solidFill>
                  <a:srgbClr val="4472C4"/>
                </a:solidFill>
                <a:latin typeface="Consolas"/>
              </a:defRPr>
            </a:pPr>
            <a:r>
              <a:rPr lang="zh-TW" dirty="0">
                <a:solidFill>
                  <a:srgbClr val="4472C4"/>
                </a:solidFill>
              </a:rPr>
              <a:t>## 術語定義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44546A"/>
                </a:solidFill>
                <a:latin typeface="Consolas"/>
              </a:defRPr>
            </a:pPr>
            <a:r>
              <a:rPr lang="zh-TW" dirty="0">
                <a:solidFill>
                  <a:srgbClr val="44546A"/>
                </a:solidFill>
              </a:rPr>
              <a:t>- 上構 = 1MF 以上樓層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44546A"/>
                </a:solidFill>
                <a:latin typeface="Consolas"/>
              </a:defRPr>
            </a:pPr>
            <a:r>
              <a:rPr lang="zh-TW" dirty="0">
                <a:solidFill>
                  <a:srgbClr val="44546A"/>
                </a:solidFill>
              </a:rPr>
              <a:t>- 下構 = B*F, 1F, BASE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44444"/>
                </a:solidFill>
                <a:latin typeface="Consolas"/>
              </a:defRPr>
            </a:pPr>
            <a:endParaRPr dirty="0"/>
          </a:p>
          <a:p>
            <a:pPr algn="l">
              <a:spcAft>
                <a:spcPts val="400"/>
              </a:spcAft>
              <a:defRPr sz="1600" b="1">
                <a:solidFill>
                  <a:srgbClr val="4472C4"/>
                </a:solidFill>
                <a:latin typeface="Consolas"/>
              </a:defRPr>
            </a:pPr>
            <a:r>
              <a:rPr lang="zh-TW" dirty="0">
                <a:solidFill>
                  <a:srgbClr val="4472C4"/>
                </a:solidFill>
              </a:rPr>
              <a:t>## 工程規則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44546A"/>
                </a:solidFill>
                <a:latin typeface="Consolas"/>
              </a:defRPr>
            </a:pPr>
            <a:r>
              <a:rPr lang="zh-TW" dirty="0">
                <a:solidFill>
                  <a:srgbClr val="44546A"/>
                </a:solidFill>
              </a:rPr>
              <a:t>- Rigid Zone = 0.75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44546A"/>
                </a:solidFill>
                <a:latin typeface="Consolas"/>
              </a:defRPr>
            </a:pPr>
            <a:r>
              <a:rPr lang="zh-TW" dirty="0">
                <a:solidFill>
                  <a:srgbClr val="44546A"/>
                </a:solidFill>
              </a:rPr>
              <a:t>- 柱保護層 = 7cm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44444"/>
                </a:solidFill>
                <a:latin typeface="Consolas"/>
              </a:defRPr>
            </a:pPr>
            <a:endParaRPr dirty="0"/>
          </a:p>
          <a:p>
            <a:pPr algn="l">
              <a:spcAft>
                <a:spcPts val="400"/>
              </a:spcAft>
              <a:defRPr sz="1600" b="1">
                <a:solidFill>
                  <a:srgbClr val="ED7D31"/>
                </a:solidFill>
                <a:latin typeface="Consolas"/>
              </a:defRPr>
            </a:pPr>
            <a:r>
              <a:rPr lang="zh-TW" dirty="0">
                <a:solidFill>
                  <a:srgbClr val="ED7D31"/>
                </a:solidFill>
              </a:rPr>
              <a:t>## 禁止事項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44546A"/>
                </a:solidFill>
                <a:latin typeface="Consolas"/>
              </a:defRPr>
            </a:pPr>
            <a:r>
              <a:rPr lang="zh-TW" dirty="0">
                <a:solidFill>
                  <a:srgbClr val="44546A"/>
                </a:solidFill>
              </a:rPr>
              <a:t>- 小梁位置不可用猜的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98310" y="5659265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📋 還沒上工就先讀手冊 → AI 每次啟動先讀這份</a:t>
            </a:r>
          </a:p>
        </p:txBody>
      </p:sp>
      <p:sp>
        <p:nvSpPr>
          <p:cNvPr id="30" name="Rounded Rectangle 5">
            <a:extLst>
              <a:ext uri="{FF2B5EF4-FFF2-40B4-BE49-F238E27FC236}">
                <a16:creationId xmlns:a16="http://schemas.microsoft.com/office/drawing/2014/main" id="{17FCC381-8939-B6F1-36B3-2BB82133BED7}"/>
              </a:ext>
            </a:extLst>
          </p:cNvPr>
          <p:cNvSpPr/>
          <p:nvPr/>
        </p:nvSpPr>
        <p:spPr>
          <a:xfrm>
            <a:off x="1066190" y="-1507890"/>
            <a:ext cx="10058400" cy="73152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6">
            <a:extLst>
              <a:ext uri="{FF2B5EF4-FFF2-40B4-BE49-F238E27FC236}">
                <a16:creationId xmlns:a16="http://schemas.microsoft.com/office/drawing/2014/main" id="{4014417E-E67A-90CA-BBCE-828A20AAE659}"/>
              </a:ext>
            </a:extLst>
          </p:cNvPr>
          <p:cNvSpPr txBox="1"/>
          <p:nvPr/>
        </p:nvSpPr>
        <p:spPr>
          <a:xfrm>
            <a:off x="1226210" y="-1370730"/>
            <a:ext cx="5532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第 1 層：專案說明書</a:t>
            </a:r>
            <a:r>
              <a:rPr lang="zh-TW" altLang="en-US" dirty="0">
                <a:solidFill>
                  <a:srgbClr val="000000"/>
                </a:solidFill>
              </a:rPr>
              <a:t> </a:t>
            </a:r>
            <a:r>
              <a:rPr lang="en-US" altLang="zh-TW" dirty="0">
                <a:solidFill>
                  <a:srgbClr val="000000"/>
                </a:solidFill>
              </a:rPr>
              <a:t>MARKDOWN.MD</a:t>
            </a:r>
            <a:endParaRPr lang="zh-TW" dirty="0">
              <a:solidFill>
                <a:srgbClr val="000000"/>
              </a:solidFill>
            </a:endParaRPr>
          </a:p>
        </p:txBody>
      </p:sp>
      <p:sp>
        <p:nvSpPr>
          <p:cNvPr id="32" name="TextBox 7">
            <a:extLst>
              <a:ext uri="{FF2B5EF4-FFF2-40B4-BE49-F238E27FC236}">
                <a16:creationId xmlns:a16="http://schemas.microsoft.com/office/drawing/2014/main" id="{A048D75B-BEE9-1D7E-A4B9-0ABBD897FB46}"/>
              </a:ext>
            </a:extLst>
          </p:cNvPr>
          <p:cNvSpPr txBox="1"/>
          <p:nvPr/>
        </p:nvSpPr>
        <p:spPr>
          <a:xfrm>
            <a:off x="6900062" y="-1462170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4472C4"/>
                </a:solidFill>
                <a:latin typeface="Microsoft JhengHei"/>
              </a:defRPr>
            </a:pPr>
            <a:r>
              <a:rPr lang="zh-TW" dirty="0">
                <a:solidFill>
                  <a:srgbClr val="4472C4"/>
                </a:solidFill>
              </a:rPr>
              <a:t>AI 工作手冊</a:t>
            </a:r>
          </a:p>
        </p:txBody>
      </p:sp>
      <p:sp>
        <p:nvSpPr>
          <p:cNvPr id="33" name="Rounded Rectangle 8">
            <a:extLst>
              <a:ext uri="{FF2B5EF4-FFF2-40B4-BE49-F238E27FC236}">
                <a16:creationId xmlns:a16="http://schemas.microsoft.com/office/drawing/2014/main" id="{E588AD9C-5A1E-1B80-2F3F-773A1E333F4B}"/>
              </a:ext>
            </a:extLst>
          </p:cNvPr>
          <p:cNvSpPr/>
          <p:nvPr/>
        </p:nvSpPr>
        <p:spPr>
          <a:xfrm>
            <a:off x="1751990" y="-2312562"/>
            <a:ext cx="8686800" cy="73152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9">
            <a:extLst>
              <a:ext uri="{FF2B5EF4-FFF2-40B4-BE49-F238E27FC236}">
                <a16:creationId xmlns:a16="http://schemas.microsoft.com/office/drawing/2014/main" id="{603E13A7-3AE0-6E58-E3A8-45C7C3331A63}"/>
              </a:ext>
            </a:extLst>
          </p:cNvPr>
          <p:cNvSpPr txBox="1"/>
          <p:nvPr/>
        </p:nvSpPr>
        <p:spPr>
          <a:xfrm>
            <a:off x="2003450" y="-2151453"/>
            <a:ext cx="47777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第 2 層：工作流命令</a:t>
            </a:r>
            <a:r>
              <a:rPr lang="zh-TW" altLang="en-US" dirty="0">
                <a:solidFill>
                  <a:srgbClr val="000000"/>
                </a:solidFill>
              </a:rPr>
              <a:t> </a:t>
            </a:r>
            <a:r>
              <a:rPr lang="en-US" altLang="zh-TW" dirty="0">
                <a:solidFill>
                  <a:srgbClr val="000000"/>
                </a:solidFill>
              </a:rPr>
              <a:t>/COMMAND</a:t>
            </a:r>
            <a:endParaRPr lang="zh-TW" dirty="0">
              <a:solidFill>
                <a:srgbClr val="000000"/>
              </a:solidFill>
            </a:endParaRPr>
          </a:p>
        </p:txBody>
      </p:sp>
      <p:sp>
        <p:nvSpPr>
          <p:cNvPr id="35" name="TextBox 10">
            <a:extLst>
              <a:ext uri="{FF2B5EF4-FFF2-40B4-BE49-F238E27FC236}">
                <a16:creationId xmlns:a16="http://schemas.microsoft.com/office/drawing/2014/main" id="{BC9D61F2-0A7D-C2A0-A72C-E376E48E2C58}"/>
              </a:ext>
            </a:extLst>
          </p:cNvPr>
          <p:cNvSpPr txBox="1"/>
          <p:nvPr/>
        </p:nvSpPr>
        <p:spPr>
          <a:xfrm>
            <a:off x="6790334" y="-226684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4472C4"/>
                </a:solidFill>
                <a:latin typeface="Microsoft JhengHei"/>
              </a:defRPr>
            </a:pPr>
            <a:r>
              <a:rPr lang="zh-TW" dirty="0">
                <a:solidFill>
                  <a:srgbClr val="4472C4"/>
                </a:solidFill>
              </a:rPr>
              <a:t>一鍵啟動流程</a:t>
            </a:r>
          </a:p>
        </p:txBody>
      </p:sp>
      <p:sp>
        <p:nvSpPr>
          <p:cNvPr id="36" name="Rounded Rectangle 11">
            <a:extLst>
              <a:ext uri="{FF2B5EF4-FFF2-40B4-BE49-F238E27FC236}">
                <a16:creationId xmlns:a16="http://schemas.microsoft.com/office/drawing/2014/main" id="{95EE1F48-D933-63AC-62F0-7025400C9E8F}"/>
              </a:ext>
            </a:extLst>
          </p:cNvPr>
          <p:cNvSpPr/>
          <p:nvPr/>
        </p:nvSpPr>
        <p:spPr>
          <a:xfrm>
            <a:off x="2437790" y="-3117234"/>
            <a:ext cx="7315200" cy="73152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E27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12">
            <a:extLst>
              <a:ext uri="{FF2B5EF4-FFF2-40B4-BE49-F238E27FC236}">
                <a16:creationId xmlns:a16="http://schemas.microsoft.com/office/drawing/2014/main" id="{7BC899C9-AEB8-CCC9-E6FF-0A376F7C744B}"/>
              </a:ext>
            </a:extLst>
          </p:cNvPr>
          <p:cNvSpPr txBox="1"/>
          <p:nvPr/>
        </p:nvSpPr>
        <p:spPr>
          <a:xfrm>
            <a:off x="2620670" y="-2934354"/>
            <a:ext cx="4023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第 3 層：AI Agent </a:t>
            </a:r>
            <a:r>
              <a:rPr lang="en-US" altLang="zh-TW" dirty="0">
                <a:solidFill>
                  <a:srgbClr val="000000"/>
                </a:solidFill>
              </a:rPr>
              <a:t>TEAM</a:t>
            </a:r>
            <a:endParaRPr lang="zh-TW" dirty="0">
              <a:solidFill>
                <a:srgbClr val="000000"/>
              </a:solidFill>
            </a:endParaRPr>
          </a:p>
        </p:txBody>
      </p:sp>
      <p:sp>
        <p:nvSpPr>
          <p:cNvPr id="38" name="TextBox 13">
            <a:extLst>
              <a:ext uri="{FF2B5EF4-FFF2-40B4-BE49-F238E27FC236}">
                <a16:creationId xmlns:a16="http://schemas.microsoft.com/office/drawing/2014/main" id="{472968F9-128E-86AA-56A5-9A50FC24CA57}"/>
              </a:ext>
            </a:extLst>
          </p:cNvPr>
          <p:cNvSpPr txBox="1"/>
          <p:nvPr/>
        </p:nvSpPr>
        <p:spPr>
          <a:xfrm>
            <a:off x="6680606" y="-3071515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E27026"/>
                </a:solidFill>
                <a:latin typeface="Microsoft JhengHei"/>
              </a:defRPr>
            </a:pPr>
            <a:r>
              <a:rPr lang="zh-TW" dirty="0">
                <a:solidFill>
                  <a:srgbClr val="E27026"/>
                </a:solidFill>
              </a:rPr>
              <a:t>多專家分工</a:t>
            </a:r>
          </a:p>
        </p:txBody>
      </p:sp>
      <p:sp>
        <p:nvSpPr>
          <p:cNvPr id="39" name="Rounded Rectangle 14">
            <a:extLst>
              <a:ext uri="{FF2B5EF4-FFF2-40B4-BE49-F238E27FC236}">
                <a16:creationId xmlns:a16="http://schemas.microsoft.com/office/drawing/2014/main" id="{F9C9178D-2B9F-AA10-6B93-67B5FA9D2D24}"/>
              </a:ext>
            </a:extLst>
          </p:cNvPr>
          <p:cNvSpPr/>
          <p:nvPr/>
        </p:nvSpPr>
        <p:spPr>
          <a:xfrm>
            <a:off x="3123590" y="-3921906"/>
            <a:ext cx="5943600" cy="73152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E27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15">
            <a:extLst>
              <a:ext uri="{FF2B5EF4-FFF2-40B4-BE49-F238E27FC236}">
                <a16:creationId xmlns:a16="http://schemas.microsoft.com/office/drawing/2014/main" id="{68C771A6-BB15-B95F-0256-6DBD13EA4B4F}"/>
              </a:ext>
            </a:extLst>
          </p:cNvPr>
          <p:cNvSpPr txBox="1"/>
          <p:nvPr/>
        </p:nvSpPr>
        <p:spPr>
          <a:xfrm>
            <a:off x="3301898" y="-3777053"/>
            <a:ext cx="34792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第 4 層：專業技能模組</a:t>
            </a:r>
            <a:r>
              <a:rPr lang="zh-TW" altLang="en-US" dirty="0">
                <a:solidFill>
                  <a:srgbClr val="000000"/>
                </a:solidFill>
              </a:rPr>
              <a:t> </a:t>
            </a:r>
            <a:r>
              <a:rPr lang="en-US" altLang="zh-TW" dirty="0">
                <a:solidFill>
                  <a:srgbClr val="000000"/>
                </a:solidFill>
              </a:rPr>
              <a:t>SKILLS</a:t>
            </a:r>
            <a:endParaRPr lang="zh-TW" dirty="0">
              <a:solidFill>
                <a:srgbClr val="000000"/>
              </a:solidFill>
            </a:endParaRPr>
          </a:p>
        </p:txBody>
      </p:sp>
      <p:sp>
        <p:nvSpPr>
          <p:cNvPr id="41" name="TextBox 16">
            <a:extLst>
              <a:ext uri="{FF2B5EF4-FFF2-40B4-BE49-F238E27FC236}">
                <a16:creationId xmlns:a16="http://schemas.microsoft.com/office/drawing/2014/main" id="{BDBC1153-DB5D-AD42-D2D7-EB908800C69D}"/>
              </a:ext>
            </a:extLst>
          </p:cNvPr>
          <p:cNvSpPr txBox="1"/>
          <p:nvPr/>
        </p:nvSpPr>
        <p:spPr>
          <a:xfrm>
            <a:off x="6570878" y="-3876186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E27026"/>
                </a:solidFill>
                <a:latin typeface="Microsoft JhengHei"/>
              </a:defRPr>
            </a:pPr>
            <a:r>
              <a:rPr lang="zh-TW" dirty="0">
                <a:solidFill>
                  <a:srgbClr val="E27026"/>
                </a:solidFill>
              </a:rPr>
              <a:t>可複用知識庫</a:t>
            </a:r>
          </a:p>
        </p:txBody>
      </p:sp>
      <p:sp>
        <p:nvSpPr>
          <p:cNvPr id="42" name="Rounded Rectangle 17">
            <a:extLst>
              <a:ext uri="{FF2B5EF4-FFF2-40B4-BE49-F238E27FC236}">
                <a16:creationId xmlns:a16="http://schemas.microsoft.com/office/drawing/2014/main" id="{43164C0D-FB59-63D8-2D29-697FB791503E}"/>
              </a:ext>
            </a:extLst>
          </p:cNvPr>
          <p:cNvSpPr/>
          <p:nvPr/>
        </p:nvSpPr>
        <p:spPr>
          <a:xfrm>
            <a:off x="3809390" y="-4726579"/>
            <a:ext cx="4572000" cy="73152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18">
            <a:extLst>
              <a:ext uri="{FF2B5EF4-FFF2-40B4-BE49-F238E27FC236}">
                <a16:creationId xmlns:a16="http://schemas.microsoft.com/office/drawing/2014/main" id="{F437966C-7EF3-133B-580E-B3802A80E454}"/>
              </a:ext>
            </a:extLst>
          </p:cNvPr>
          <p:cNvSpPr txBox="1"/>
          <p:nvPr/>
        </p:nvSpPr>
        <p:spPr>
          <a:xfrm>
            <a:off x="3992270" y="-4680859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第 5 層：</a:t>
            </a:r>
            <a:endParaRPr lang="en-US" altLang="zh-TW" dirty="0">
              <a:solidFill>
                <a:srgbClr val="000000"/>
              </a:solidFill>
            </a:endParaRPr>
          </a:p>
          <a:p>
            <a:pPr algn="l">
              <a:defRPr sz="1800" b="1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確定性執行腳本</a:t>
            </a:r>
          </a:p>
        </p:txBody>
      </p:sp>
      <p:sp>
        <p:nvSpPr>
          <p:cNvPr id="44" name="TextBox 19">
            <a:extLst>
              <a:ext uri="{FF2B5EF4-FFF2-40B4-BE49-F238E27FC236}">
                <a16:creationId xmlns:a16="http://schemas.microsoft.com/office/drawing/2014/main" id="{AE7D8804-D35D-782E-8D86-FB6476A07A0A}"/>
              </a:ext>
            </a:extLst>
          </p:cNvPr>
          <p:cNvSpPr txBox="1"/>
          <p:nvPr/>
        </p:nvSpPr>
        <p:spPr>
          <a:xfrm>
            <a:off x="6461150" y="-4680859"/>
            <a:ext cx="1828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chemeClr val="accent4">
                    <a:lumMod val="75000"/>
                  </a:schemeClr>
                </a:solidFill>
              </a:rPr>
              <a:t>同輸入 = 同輸出</a:t>
            </a:r>
          </a:p>
        </p:txBody>
      </p:sp>
      <p:sp>
        <p:nvSpPr>
          <p:cNvPr id="45" name="Rounded Rectangle 20">
            <a:extLst>
              <a:ext uri="{FF2B5EF4-FFF2-40B4-BE49-F238E27FC236}">
                <a16:creationId xmlns:a16="http://schemas.microsoft.com/office/drawing/2014/main" id="{B5ECE334-5698-D71B-4AAB-57A893CEDBDD}"/>
              </a:ext>
            </a:extLst>
          </p:cNvPr>
          <p:cNvSpPr/>
          <p:nvPr/>
        </p:nvSpPr>
        <p:spPr>
          <a:xfrm>
            <a:off x="4495190" y="-5531251"/>
            <a:ext cx="3200400" cy="73152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21">
            <a:extLst>
              <a:ext uri="{FF2B5EF4-FFF2-40B4-BE49-F238E27FC236}">
                <a16:creationId xmlns:a16="http://schemas.microsoft.com/office/drawing/2014/main" id="{0D9CBE4D-5DC7-8977-EEA7-D2684920BA91}"/>
              </a:ext>
            </a:extLst>
          </p:cNvPr>
          <p:cNvSpPr txBox="1"/>
          <p:nvPr/>
        </p:nvSpPr>
        <p:spPr>
          <a:xfrm>
            <a:off x="4678070" y="-5485531"/>
            <a:ext cx="17602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第 6 層：</a:t>
            </a:r>
            <a:endParaRPr lang="en-US" altLang="zh-TW" dirty="0">
              <a:solidFill>
                <a:srgbClr val="000000"/>
              </a:solidFill>
            </a:endParaRPr>
          </a:p>
          <a:p>
            <a:pPr algn="l">
              <a:defRPr sz="1800" b="1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自動化驗證</a:t>
            </a:r>
          </a:p>
        </p:txBody>
      </p:sp>
      <p:sp>
        <p:nvSpPr>
          <p:cNvPr id="47" name="TextBox 22">
            <a:extLst>
              <a:ext uri="{FF2B5EF4-FFF2-40B4-BE49-F238E27FC236}">
                <a16:creationId xmlns:a16="http://schemas.microsoft.com/office/drawing/2014/main" id="{14C33B03-9B71-34DD-F9CA-DEB550E8DDE5}"/>
              </a:ext>
            </a:extLst>
          </p:cNvPr>
          <p:cNvSpPr txBox="1"/>
          <p:nvPr/>
        </p:nvSpPr>
        <p:spPr>
          <a:xfrm>
            <a:off x="6351422" y="-5485531"/>
            <a:ext cx="12801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70AD47"/>
                </a:solidFill>
                <a:latin typeface="Microsoft JhengHei"/>
              </a:defRPr>
            </a:pPr>
            <a:r>
              <a:rPr dirty="0" err="1">
                <a:solidFill>
                  <a:schemeClr val="accent4">
                    <a:lumMod val="75000"/>
                  </a:schemeClr>
                </a:solidFill>
              </a:rPr>
              <a:t>每次自動品質檢查</a:t>
            </a:r>
            <a:endParaRPr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8" name="TextBox 23">
            <a:extLst>
              <a:ext uri="{FF2B5EF4-FFF2-40B4-BE49-F238E27FC236}">
                <a16:creationId xmlns:a16="http://schemas.microsoft.com/office/drawing/2014/main" id="{D18CDC17-A194-66C4-45C1-0ADDABD6DCF2}"/>
              </a:ext>
            </a:extLst>
          </p:cNvPr>
          <p:cNvSpPr txBox="1"/>
          <p:nvPr/>
        </p:nvSpPr>
        <p:spPr>
          <a:xfrm>
            <a:off x="791870" y="-604375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C000"/>
                </a:solidFill>
                <a:latin typeface="Microsoft JhengHei"/>
              </a:defRPr>
            </a:pPr>
            <a:r>
              <a:rPr lang="zh-TW" dirty="0">
                <a:solidFill>
                  <a:srgbClr val="FFC000"/>
                </a:solidFill>
              </a:rPr>
              <a:t>每一層解決一個問題：知識 → 流程 → 分工 → 專業 → 執行 → 品管</a:t>
            </a:r>
          </a:p>
        </p:txBody>
      </p:sp>
      <p:sp>
        <p:nvSpPr>
          <p:cNvPr id="49" name="Rounded Rectangle 7">
            <a:extLst>
              <a:ext uri="{FF2B5EF4-FFF2-40B4-BE49-F238E27FC236}">
                <a16:creationId xmlns:a16="http://schemas.microsoft.com/office/drawing/2014/main" id="{EA4B6BBF-BE89-D108-C3C0-AE6E486F4782}"/>
              </a:ext>
            </a:extLst>
          </p:cNvPr>
          <p:cNvSpPr/>
          <p:nvPr/>
        </p:nvSpPr>
        <p:spPr>
          <a:xfrm>
            <a:off x="-11393424" y="2093214"/>
            <a:ext cx="2286000" cy="1371600"/>
          </a:xfrm>
          <a:prstGeom prst="roundRect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8">
            <a:extLst>
              <a:ext uri="{FF2B5EF4-FFF2-40B4-BE49-F238E27FC236}">
                <a16:creationId xmlns:a16="http://schemas.microsoft.com/office/drawing/2014/main" id="{C86A9990-F239-81C2-C412-6D3B31FFE819}"/>
              </a:ext>
            </a:extLst>
          </p:cNvPr>
          <p:cNvSpPr txBox="1"/>
          <p:nvPr/>
        </p:nvSpPr>
        <p:spPr>
          <a:xfrm>
            <a:off x="-11411712" y="2458974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▶ START</a:t>
            </a:r>
          </a:p>
        </p:txBody>
      </p:sp>
      <p:sp>
        <p:nvSpPr>
          <p:cNvPr id="51" name="Right Arrow 9">
            <a:extLst>
              <a:ext uri="{FF2B5EF4-FFF2-40B4-BE49-F238E27FC236}">
                <a16:creationId xmlns:a16="http://schemas.microsoft.com/office/drawing/2014/main" id="{34B4F8CC-F42F-C083-CD4B-9A1AEECEDDF9}"/>
              </a:ext>
            </a:extLst>
          </p:cNvPr>
          <p:cNvSpPr/>
          <p:nvPr/>
        </p:nvSpPr>
        <p:spPr>
          <a:xfrm>
            <a:off x="-9015985" y="2550414"/>
            <a:ext cx="731520" cy="457200"/>
          </a:xfrm>
          <a:prstGeom prst="rightArrow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10">
            <a:extLst>
              <a:ext uri="{FF2B5EF4-FFF2-40B4-BE49-F238E27FC236}">
                <a16:creationId xmlns:a16="http://schemas.microsoft.com/office/drawing/2014/main" id="{A7C168EF-86B2-BC57-EDD8-5BD87C244585}"/>
              </a:ext>
            </a:extLst>
          </p:cNvPr>
          <p:cNvSpPr/>
          <p:nvPr/>
        </p:nvSpPr>
        <p:spPr>
          <a:xfrm>
            <a:off x="-8101584" y="1666494"/>
            <a:ext cx="1737360" cy="22860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11">
            <a:extLst>
              <a:ext uri="{FF2B5EF4-FFF2-40B4-BE49-F238E27FC236}">
                <a16:creationId xmlns:a16="http://schemas.microsoft.com/office/drawing/2014/main" id="{89881665-C609-C821-13E1-42A5B48B31AB}"/>
              </a:ext>
            </a:extLst>
          </p:cNvPr>
          <p:cNvSpPr txBox="1"/>
          <p:nvPr/>
        </p:nvSpPr>
        <p:spPr>
          <a:xfrm>
            <a:off x="-8055865" y="1757934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472C4"/>
                </a:solidFill>
                <a:latin typeface="Microsoft JhengHei"/>
              </a:defRPr>
            </a:pPr>
            <a:r>
              <a:rPr lang="zh-TW" dirty="0">
                <a:solidFill>
                  <a:srgbClr val="4472C4"/>
                </a:solidFill>
              </a:rPr>
              <a:t>Phase 1</a:t>
            </a:r>
          </a:p>
        </p:txBody>
      </p:sp>
      <p:sp>
        <p:nvSpPr>
          <p:cNvPr id="54" name="TextBox 12">
            <a:extLst>
              <a:ext uri="{FF2B5EF4-FFF2-40B4-BE49-F238E27FC236}">
                <a16:creationId xmlns:a16="http://schemas.microsoft.com/office/drawing/2014/main" id="{504F18DF-876E-5EF2-F52C-80E6C3B2751A}"/>
              </a:ext>
            </a:extLst>
          </p:cNvPr>
          <p:cNvSpPr txBox="1"/>
          <p:nvPr/>
        </p:nvSpPr>
        <p:spPr>
          <a:xfrm>
            <a:off x="-8055865" y="2215134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參數檢查</a:t>
            </a:r>
          </a:p>
        </p:txBody>
      </p:sp>
      <p:sp>
        <p:nvSpPr>
          <p:cNvPr id="55" name="TextBox 13">
            <a:extLst>
              <a:ext uri="{FF2B5EF4-FFF2-40B4-BE49-F238E27FC236}">
                <a16:creationId xmlns:a16="http://schemas.microsoft.com/office/drawing/2014/main" id="{2F7CD202-33E3-AADF-D3D5-0419B11AECDD}"/>
              </a:ext>
            </a:extLst>
          </p:cNvPr>
          <p:cNvSpPr txBox="1"/>
          <p:nvPr/>
        </p:nvSpPr>
        <p:spPr>
          <a:xfrm>
            <a:off x="-8055865" y="2763774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輸入完整？</a:t>
            </a:r>
          </a:p>
        </p:txBody>
      </p:sp>
      <p:sp>
        <p:nvSpPr>
          <p:cNvPr id="56" name="Right Arrow 14">
            <a:extLst>
              <a:ext uri="{FF2B5EF4-FFF2-40B4-BE49-F238E27FC236}">
                <a16:creationId xmlns:a16="http://schemas.microsoft.com/office/drawing/2014/main" id="{D7918486-D2FF-B836-DF0F-A35816DEDA10}"/>
              </a:ext>
            </a:extLst>
          </p:cNvPr>
          <p:cNvSpPr/>
          <p:nvPr/>
        </p:nvSpPr>
        <p:spPr>
          <a:xfrm>
            <a:off x="-6345936" y="2489454"/>
            <a:ext cx="137160" cy="228600"/>
          </a:xfrm>
          <a:prstGeom prst="rightArrow">
            <a:avLst/>
          </a:prstGeom>
          <a:solidFill>
            <a:srgbClr val="445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ounded Rectangle 15">
            <a:extLst>
              <a:ext uri="{FF2B5EF4-FFF2-40B4-BE49-F238E27FC236}">
                <a16:creationId xmlns:a16="http://schemas.microsoft.com/office/drawing/2014/main" id="{21BD7674-4FB6-8D27-5471-2410B0B2D5E9}"/>
              </a:ext>
            </a:extLst>
          </p:cNvPr>
          <p:cNvSpPr/>
          <p:nvPr/>
        </p:nvSpPr>
        <p:spPr>
          <a:xfrm>
            <a:off x="-6181345" y="1666494"/>
            <a:ext cx="1737360" cy="22860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E27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16">
            <a:extLst>
              <a:ext uri="{FF2B5EF4-FFF2-40B4-BE49-F238E27FC236}">
                <a16:creationId xmlns:a16="http://schemas.microsoft.com/office/drawing/2014/main" id="{764DB50C-DEE1-C2A0-B786-CAC901402D4D}"/>
              </a:ext>
            </a:extLst>
          </p:cNvPr>
          <p:cNvSpPr txBox="1"/>
          <p:nvPr/>
        </p:nvSpPr>
        <p:spPr>
          <a:xfrm>
            <a:off x="-6135625" y="1757934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27026"/>
                </a:solidFill>
                <a:latin typeface="Microsoft JhengHei"/>
              </a:defRPr>
            </a:pPr>
            <a:r>
              <a:rPr lang="zh-TW" dirty="0">
                <a:solidFill>
                  <a:srgbClr val="E27026"/>
                </a:solidFill>
              </a:rPr>
              <a:t>Phase 2</a:t>
            </a:r>
          </a:p>
        </p:txBody>
      </p:sp>
      <p:sp>
        <p:nvSpPr>
          <p:cNvPr id="59" name="TextBox 17">
            <a:extLst>
              <a:ext uri="{FF2B5EF4-FFF2-40B4-BE49-F238E27FC236}">
                <a16:creationId xmlns:a16="http://schemas.microsoft.com/office/drawing/2014/main" id="{9E6D00EF-5EF1-09E6-56F7-3025B0ECC2C3}"/>
              </a:ext>
            </a:extLst>
          </p:cNvPr>
          <p:cNvSpPr txBox="1"/>
          <p:nvPr/>
        </p:nvSpPr>
        <p:spPr>
          <a:xfrm>
            <a:off x="-6135625" y="2215134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召集團隊</a:t>
            </a:r>
          </a:p>
        </p:txBody>
      </p:sp>
      <p:sp>
        <p:nvSpPr>
          <p:cNvPr id="60" name="TextBox 18">
            <a:extLst>
              <a:ext uri="{FF2B5EF4-FFF2-40B4-BE49-F238E27FC236}">
                <a16:creationId xmlns:a16="http://schemas.microsoft.com/office/drawing/2014/main" id="{97E2EF64-DF8D-ADA4-587C-A35CBEF9D5E6}"/>
              </a:ext>
            </a:extLst>
          </p:cNvPr>
          <p:cNvSpPr txBox="1"/>
          <p:nvPr/>
        </p:nvSpPr>
        <p:spPr>
          <a:xfrm>
            <a:off x="-6135625" y="2763774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組建 Agent</a:t>
            </a:r>
          </a:p>
        </p:txBody>
      </p:sp>
      <p:sp>
        <p:nvSpPr>
          <p:cNvPr id="61" name="Right Arrow 19">
            <a:extLst>
              <a:ext uri="{FF2B5EF4-FFF2-40B4-BE49-F238E27FC236}">
                <a16:creationId xmlns:a16="http://schemas.microsoft.com/office/drawing/2014/main" id="{B82C05C8-72A6-BBF7-AB9F-3E88F4A2A3FD}"/>
              </a:ext>
            </a:extLst>
          </p:cNvPr>
          <p:cNvSpPr/>
          <p:nvPr/>
        </p:nvSpPr>
        <p:spPr>
          <a:xfrm>
            <a:off x="-4425697" y="2489454"/>
            <a:ext cx="137160" cy="228600"/>
          </a:xfrm>
          <a:prstGeom prst="rightArrow">
            <a:avLst/>
          </a:prstGeom>
          <a:solidFill>
            <a:srgbClr val="445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ounded Rectangle 20">
            <a:extLst>
              <a:ext uri="{FF2B5EF4-FFF2-40B4-BE49-F238E27FC236}">
                <a16:creationId xmlns:a16="http://schemas.microsoft.com/office/drawing/2014/main" id="{B75F4F7A-16B4-D155-AC78-AE34C983F294}"/>
              </a:ext>
            </a:extLst>
          </p:cNvPr>
          <p:cNvSpPr/>
          <p:nvPr/>
        </p:nvSpPr>
        <p:spPr>
          <a:xfrm>
            <a:off x="-4261104" y="1666494"/>
            <a:ext cx="1737360" cy="22860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21">
            <a:extLst>
              <a:ext uri="{FF2B5EF4-FFF2-40B4-BE49-F238E27FC236}">
                <a16:creationId xmlns:a16="http://schemas.microsoft.com/office/drawing/2014/main" id="{1A45971A-71B1-4A4B-2FFC-AD5B2DB26D4E}"/>
              </a:ext>
            </a:extLst>
          </p:cNvPr>
          <p:cNvSpPr txBox="1"/>
          <p:nvPr/>
        </p:nvSpPr>
        <p:spPr>
          <a:xfrm>
            <a:off x="-4215384" y="1757934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rgbClr val="70AD47"/>
                </a:solidFill>
              </a:rPr>
              <a:t>Phase 3</a:t>
            </a:r>
          </a:p>
        </p:txBody>
      </p:sp>
      <p:sp>
        <p:nvSpPr>
          <p:cNvPr id="64" name="TextBox 22">
            <a:extLst>
              <a:ext uri="{FF2B5EF4-FFF2-40B4-BE49-F238E27FC236}">
                <a16:creationId xmlns:a16="http://schemas.microsoft.com/office/drawing/2014/main" id="{8EC30E79-CBE3-D20B-D2FE-765F368637CB}"/>
              </a:ext>
            </a:extLst>
          </p:cNvPr>
          <p:cNvSpPr txBox="1"/>
          <p:nvPr/>
        </p:nvSpPr>
        <p:spPr>
          <a:xfrm>
            <a:off x="-4215384" y="2215134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依序執行</a:t>
            </a:r>
          </a:p>
        </p:txBody>
      </p:sp>
      <p:sp>
        <p:nvSpPr>
          <p:cNvPr id="65" name="TextBox 23">
            <a:extLst>
              <a:ext uri="{FF2B5EF4-FFF2-40B4-BE49-F238E27FC236}">
                <a16:creationId xmlns:a16="http://schemas.microsoft.com/office/drawing/2014/main" id="{9C48B458-F246-82CB-BDF7-FB1F5017F59F}"/>
              </a:ext>
            </a:extLst>
          </p:cNvPr>
          <p:cNvSpPr txBox="1"/>
          <p:nvPr/>
        </p:nvSpPr>
        <p:spPr>
          <a:xfrm>
            <a:off x="-4215384" y="2763774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步驟自動編排</a:t>
            </a:r>
          </a:p>
        </p:txBody>
      </p:sp>
      <p:sp>
        <p:nvSpPr>
          <p:cNvPr id="66" name="Right Arrow 24">
            <a:extLst>
              <a:ext uri="{FF2B5EF4-FFF2-40B4-BE49-F238E27FC236}">
                <a16:creationId xmlns:a16="http://schemas.microsoft.com/office/drawing/2014/main" id="{CCE0F68C-B482-27EF-38BB-9E539B980C60}"/>
              </a:ext>
            </a:extLst>
          </p:cNvPr>
          <p:cNvSpPr/>
          <p:nvPr/>
        </p:nvSpPr>
        <p:spPr>
          <a:xfrm>
            <a:off x="-2505456" y="2489454"/>
            <a:ext cx="137160" cy="228600"/>
          </a:xfrm>
          <a:prstGeom prst="rightArrow">
            <a:avLst/>
          </a:prstGeom>
          <a:solidFill>
            <a:srgbClr val="445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25">
            <a:extLst>
              <a:ext uri="{FF2B5EF4-FFF2-40B4-BE49-F238E27FC236}">
                <a16:creationId xmlns:a16="http://schemas.microsoft.com/office/drawing/2014/main" id="{A20688C2-6935-C933-771B-4858475160FD}"/>
              </a:ext>
            </a:extLst>
          </p:cNvPr>
          <p:cNvSpPr/>
          <p:nvPr/>
        </p:nvSpPr>
        <p:spPr>
          <a:xfrm>
            <a:off x="-2340864" y="1666494"/>
            <a:ext cx="1737360" cy="22860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B47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26">
            <a:extLst>
              <a:ext uri="{FF2B5EF4-FFF2-40B4-BE49-F238E27FC236}">
                <a16:creationId xmlns:a16="http://schemas.microsoft.com/office/drawing/2014/main" id="{65F649BA-8160-73D9-8617-07DAA5ABC88B}"/>
              </a:ext>
            </a:extLst>
          </p:cNvPr>
          <p:cNvSpPr txBox="1"/>
          <p:nvPr/>
        </p:nvSpPr>
        <p:spPr>
          <a:xfrm>
            <a:off x="-2295144" y="1757934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B47EFF"/>
                </a:solidFill>
                <a:latin typeface="Microsoft JhengHei"/>
              </a:defRPr>
            </a:pPr>
            <a:r>
              <a:rPr lang="zh-TW" dirty="0">
                <a:solidFill>
                  <a:srgbClr val="B47EFF"/>
                </a:solidFill>
              </a:rPr>
              <a:t>Phase 4</a:t>
            </a:r>
          </a:p>
        </p:txBody>
      </p:sp>
      <p:sp>
        <p:nvSpPr>
          <p:cNvPr id="69" name="TextBox 27">
            <a:extLst>
              <a:ext uri="{FF2B5EF4-FFF2-40B4-BE49-F238E27FC236}">
                <a16:creationId xmlns:a16="http://schemas.microsoft.com/office/drawing/2014/main" id="{A5300E6C-9F9A-E457-7593-B98696166D19}"/>
              </a:ext>
            </a:extLst>
          </p:cNvPr>
          <p:cNvSpPr txBox="1"/>
          <p:nvPr/>
        </p:nvSpPr>
        <p:spPr>
          <a:xfrm>
            <a:off x="-2295144" y="2215134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品質驗收</a:t>
            </a:r>
          </a:p>
        </p:txBody>
      </p:sp>
      <p:sp>
        <p:nvSpPr>
          <p:cNvPr id="70" name="TextBox 28">
            <a:extLst>
              <a:ext uri="{FF2B5EF4-FFF2-40B4-BE49-F238E27FC236}">
                <a16:creationId xmlns:a16="http://schemas.microsoft.com/office/drawing/2014/main" id="{07AFD191-DC03-182D-5FEF-0D0F7D2D1FE8}"/>
              </a:ext>
            </a:extLst>
          </p:cNvPr>
          <p:cNvSpPr txBox="1"/>
          <p:nvPr/>
        </p:nvSpPr>
        <p:spPr>
          <a:xfrm>
            <a:off x="-2295144" y="2763774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自動驗證結果</a:t>
            </a:r>
          </a:p>
        </p:txBody>
      </p:sp>
    </p:spTree>
    <p:extLst>
      <p:ext uri="{BB962C8B-B14F-4D97-AF65-F5344CB8AC3E}">
        <p14:creationId xmlns:p14="http://schemas.microsoft.com/office/powerpoint/2010/main" val="20544904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11480"/>
            <a:ext cx="1097280" cy="54864"/>
          </a:xfrm>
          <a:prstGeom prst="rect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772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第 2 層：一鍵啟動完整流程</a:t>
            </a:r>
            <a:r>
              <a:rPr lang="zh-TW" altLang="en-US" dirty="0">
                <a:solidFill>
                  <a:srgbClr val="444444"/>
                </a:solidFill>
              </a:rPr>
              <a:t> </a:t>
            </a:r>
            <a:r>
              <a:rPr lang="en-US" altLang="zh-TW" dirty="0">
                <a:solidFill>
                  <a:srgbClr val="000000"/>
                </a:solidFill>
              </a:rPr>
              <a:t>/COMMAND</a:t>
            </a:r>
            <a:endParaRPr lang="zh-TW" dirty="0">
              <a:solidFill>
                <a:srgbClr val="444444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概念篇</a:t>
            </a:r>
          </a:p>
        </p:txBody>
      </p:sp>
      <p:sp>
        <p:nvSpPr>
          <p:cNvPr id="5" name="Oval 4"/>
          <p:cNvSpPr/>
          <p:nvPr/>
        </p:nvSpPr>
        <p:spPr>
          <a:xfrm>
            <a:off x="10744200" y="335661"/>
            <a:ext cx="457200" cy="457200"/>
          </a:xfrm>
          <a:prstGeom prst="ellipse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744200" y="381381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6 / 16</a:t>
            </a:r>
          </a:p>
        </p:txBody>
      </p:sp>
      <p:pic>
        <p:nvPicPr>
          <p:cNvPr id="31" name="圖片 30">
            <a:extLst>
              <a:ext uri="{FF2B5EF4-FFF2-40B4-BE49-F238E27FC236}">
                <a16:creationId xmlns:a16="http://schemas.microsoft.com/office/drawing/2014/main" id="{9B0B35A6-2F2E-47D3-4CB9-AF6601BB2B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28828" y="1560239"/>
            <a:ext cx="4197793" cy="4592386"/>
          </a:xfrm>
          <a:prstGeom prst="rect">
            <a:avLst/>
          </a:prstGeom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9E311D10-D7D5-9B7C-D3A8-51F121C40B9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7557"/>
          <a:stretch>
            <a:fillRect/>
          </a:stretch>
        </p:blipFill>
        <p:spPr>
          <a:xfrm>
            <a:off x="12454128" y="1826227"/>
            <a:ext cx="4919837" cy="4060410"/>
          </a:xfrm>
          <a:prstGeom prst="rect">
            <a:avLst/>
          </a:prstGeom>
        </p:spPr>
      </p:pic>
      <p:sp>
        <p:nvSpPr>
          <p:cNvPr id="55" name="TextBox 7">
            <a:extLst>
              <a:ext uri="{FF2B5EF4-FFF2-40B4-BE49-F238E27FC236}">
                <a16:creationId xmlns:a16="http://schemas.microsoft.com/office/drawing/2014/main" id="{1E9A3CB3-4C3A-0597-8523-FC5C5D54F4F8}"/>
              </a:ext>
            </a:extLst>
          </p:cNvPr>
          <p:cNvSpPr txBox="1"/>
          <p:nvPr/>
        </p:nvSpPr>
        <p:spPr>
          <a:xfrm>
            <a:off x="13076285" y="14630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0"/>
              </a:spcAft>
              <a:defRPr sz="2600" b="1">
                <a:solidFill>
                  <a:srgbClr val="000000"/>
                </a:solidFill>
                <a:latin typeface="Microsoft JhengHei"/>
              </a:defRPr>
            </a:pPr>
            <a:r>
              <a:rPr lang="zh-TW" sz="2600" b="1" dirty="0">
                <a:solidFill>
                  <a:srgbClr val="000000"/>
                </a:solidFill>
                <a:latin typeface="Microsoft JhengHei"/>
              </a:rPr>
              <a:t>一份 Markdown 文件</a:t>
            </a:r>
          </a:p>
          <a:p>
            <a:pPr algn="l">
              <a:spcAft>
                <a:spcPts val="760"/>
              </a:spcAft>
              <a:defRPr sz="2000" b="0">
                <a:solidFill>
                  <a:srgbClr val="44546A"/>
                </a:solidFill>
                <a:latin typeface="Microsoft JhengHei"/>
              </a:defRPr>
            </a:pPr>
            <a:r>
              <a:rPr lang="zh-TW" sz="2000" b="0" dirty="0">
                <a:solidFill>
                  <a:srgbClr val="44546A"/>
                </a:solidFill>
                <a:latin typeface="Microsoft JhengHei"/>
              </a:rPr>
              <a:t>定義 AI 在此專案中的所有規則</a:t>
            </a:r>
          </a:p>
        </p:txBody>
      </p:sp>
      <p:sp>
        <p:nvSpPr>
          <p:cNvPr id="56" name="Rounded Rectangle 8">
            <a:extLst>
              <a:ext uri="{FF2B5EF4-FFF2-40B4-BE49-F238E27FC236}">
                <a16:creationId xmlns:a16="http://schemas.microsoft.com/office/drawing/2014/main" id="{170F0A55-7D00-435E-536D-4289CCC32ACE}"/>
              </a:ext>
            </a:extLst>
          </p:cNvPr>
          <p:cNvSpPr/>
          <p:nvPr/>
        </p:nvSpPr>
        <p:spPr>
          <a:xfrm>
            <a:off x="13076285" y="2560320"/>
            <a:ext cx="5029200" cy="77724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9">
            <a:extLst>
              <a:ext uri="{FF2B5EF4-FFF2-40B4-BE49-F238E27FC236}">
                <a16:creationId xmlns:a16="http://schemas.microsoft.com/office/drawing/2014/main" id="{F8F001D2-84C4-86AA-6026-28B131DBFD09}"/>
              </a:ext>
            </a:extLst>
          </p:cNvPr>
          <p:cNvSpPr txBox="1"/>
          <p:nvPr/>
        </p:nvSpPr>
        <p:spPr>
          <a:xfrm>
            <a:off x="13167725" y="2606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📖</a:t>
            </a:r>
          </a:p>
        </p:txBody>
      </p:sp>
      <p:sp>
        <p:nvSpPr>
          <p:cNvPr id="58" name="TextBox 10">
            <a:extLst>
              <a:ext uri="{FF2B5EF4-FFF2-40B4-BE49-F238E27FC236}">
                <a16:creationId xmlns:a16="http://schemas.microsoft.com/office/drawing/2014/main" id="{24080926-8018-FC88-A9FF-B951B74CFCEF}"/>
              </a:ext>
            </a:extLst>
          </p:cNvPr>
          <p:cNvSpPr txBox="1"/>
          <p:nvPr/>
        </p:nvSpPr>
        <p:spPr>
          <a:xfrm>
            <a:off x="13807805" y="26060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專業術語定義</a:t>
            </a:r>
          </a:p>
        </p:txBody>
      </p:sp>
      <p:sp>
        <p:nvSpPr>
          <p:cNvPr id="59" name="TextBox 11">
            <a:extLst>
              <a:ext uri="{FF2B5EF4-FFF2-40B4-BE49-F238E27FC236}">
                <a16:creationId xmlns:a16="http://schemas.microsoft.com/office/drawing/2014/main" id="{3A26D580-BFDE-4D5F-0C3C-5257728783C6}"/>
              </a:ext>
            </a:extLst>
          </p:cNvPr>
          <p:cNvSpPr txBox="1"/>
          <p:nvPr/>
        </p:nvSpPr>
        <p:spPr>
          <a:xfrm>
            <a:off x="13807805" y="294436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4472C4"/>
                </a:solidFill>
                <a:latin typeface="Microsoft JhengHei"/>
              </a:defRPr>
            </a:pPr>
            <a:r>
              <a:rPr lang="zh-TW" dirty="0">
                <a:solidFill>
                  <a:srgbClr val="4472C4"/>
                </a:solidFill>
              </a:rPr>
              <a:t>AI 要說你的語言</a:t>
            </a:r>
          </a:p>
        </p:txBody>
      </p:sp>
      <p:sp>
        <p:nvSpPr>
          <p:cNvPr id="60" name="Rounded Rectangle 12">
            <a:extLst>
              <a:ext uri="{FF2B5EF4-FFF2-40B4-BE49-F238E27FC236}">
                <a16:creationId xmlns:a16="http://schemas.microsoft.com/office/drawing/2014/main" id="{F15AFD9A-6ED6-BC4E-5107-1B7E3BCE4FD4}"/>
              </a:ext>
            </a:extLst>
          </p:cNvPr>
          <p:cNvSpPr/>
          <p:nvPr/>
        </p:nvSpPr>
        <p:spPr>
          <a:xfrm>
            <a:off x="13076285" y="3474720"/>
            <a:ext cx="5029200" cy="77724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E27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13">
            <a:extLst>
              <a:ext uri="{FF2B5EF4-FFF2-40B4-BE49-F238E27FC236}">
                <a16:creationId xmlns:a16="http://schemas.microsoft.com/office/drawing/2014/main" id="{0A02AF02-9E5F-E8BC-DA2E-3035ACE83869}"/>
              </a:ext>
            </a:extLst>
          </p:cNvPr>
          <p:cNvSpPr txBox="1"/>
          <p:nvPr/>
        </p:nvSpPr>
        <p:spPr>
          <a:xfrm>
            <a:off x="13167725" y="35204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📏</a:t>
            </a:r>
          </a:p>
        </p:txBody>
      </p:sp>
      <p:sp>
        <p:nvSpPr>
          <p:cNvPr id="62" name="TextBox 14">
            <a:extLst>
              <a:ext uri="{FF2B5EF4-FFF2-40B4-BE49-F238E27FC236}">
                <a16:creationId xmlns:a16="http://schemas.microsoft.com/office/drawing/2014/main" id="{D67BE207-601F-3BD0-D354-651A36D25451}"/>
              </a:ext>
            </a:extLst>
          </p:cNvPr>
          <p:cNvSpPr txBox="1"/>
          <p:nvPr/>
        </p:nvSpPr>
        <p:spPr>
          <a:xfrm>
            <a:off x="13807805" y="3520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工程規則與數值</a:t>
            </a:r>
          </a:p>
        </p:txBody>
      </p:sp>
      <p:sp>
        <p:nvSpPr>
          <p:cNvPr id="63" name="TextBox 15">
            <a:extLst>
              <a:ext uri="{FF2B5EF4-FFF2-40B4-BE49-F238E27FC236}">
                <a16:creationId xmlns:a16="http://schemas.microsoft.com/office/drawing/2014/main" id="{CD88EEAE-CC73-DC27-A3B0-5F7D57125630}"/>
              </a:ext>
            </a:extLst>
          </p:cNvPr>
          <p:cNvSpPr txBox="1"/>
          <p:nvPr/>
        </p:nvSpPr>
        <p:spPr>
          <a:xfrm>
            <a:off x="13807805" y="385876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E27026"/>
                </a:solidFill>
                <a:latin typeface="Microsoft JhengHei"/>
              </a:defRPr>
            </a:pPr>
            <a:r>
              <a:rPr lang="zh-TW" dirty="0">
                <a:solidFill>
                  <a:srgbClr val="E27026"/>
                </a:solidFill>
              </a:rPr>
              <a:t>精確到小數點</a:t>
            </a:r>
          </a:p>
        </p:txBody>
      </p:sp>
      <p:sp>
        <p:nvSpPr>
          <p:cNvPr id="64" name="Rounded Rectangle 16">
            <a:extLst>
              <a:ext uri="{FF2B5EF4-FFF2-40B4-BE49-F238E27FC236}">
                <a16:creationId xmlns:a16="http://schemas.microsoft.com/office/drawing/2014/main" id="{963E104D-785A-F330-5F95-B991C96F994C}"/>
              </a:ext>
            </a:extLst>
          </p:cNvPr>
          <p:cNvSpPr/>
          <p:nvPr/>
        </p:nvSpPr>
        <p:spPr>
          <a:xfrm>
            <a:off x="13076285" y="4389120"/>
            <a:ext cx="5029200" cy="77724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17">
            <a:extLst>
              <a:ext uri="{FF2B5EF4-FFF2-40B4-BE49-F238E27FC236}">
                <a16:creationId xmlns:a16="http://schemas.microsoft.com/office/drawing/2014/main" id="{F6546B95-30A6-2B61-FCE5-1094B23B0AE8}"/>
              </a:ext>
            </a:extLst>
          </p:cNvPr>
          <p:cNvSpPr txBox="1"/>
          <p:nvPr/>
        </p:nvSpPr>
        <p:spPr>
          <a:xfrm>
            <a:off x="13167725" y="44348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🔌</a:t>
            </a:r>
          </a:p>
        </p:txBody>
      </p:sp>
      <p:sp>
        <p:nvSpPr>
          <p:cNvPr id="66" name="TextBox 18">
            <a:extLst>
              <a:ext uri="{FF2B5EF4-FFF2-40B4-BE49-F238E27FC236}">
                <a16:creationId xmlns:a16="http://schemas.microsoft.com/office/drawing/2014/main" id="{1BF7C445-7967-6174-7CE7-07CBA7F429FD}"/>
              </a:ext>
            </a:extLst>
          </p:cNvPr>
          <p:cNvSpPr txBox="1"/>
          <p:nvPr/>
        </p:nvSpPr>
        <p:spPr>
          <a:xfrm>
            <a:off x="13807805" y="4434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軟體 API 用法</a:t>
            </a:r>
          </a:p>
        </p:txBody>
      </p:sp>
      <p:sp>
        <p:nvSpPr>
          <p:cNvPr id="67" name="TextBox 19">
            <a:extLst>
              <a:ext uri="{FF2B5EF4-FFF2-40B4-BE49-F238E27FC236}">
                <a16:creationId xmlns:a16="http://schemas.microsoft.com/office/drawing/2014/main" id="{60C65701-BAEC-88D8-CFE2-377B1061B7C8}"/>
              </a:ext>
            </a:extLst>
          </p:cNvPr>
          <p:cNvSpPr txBox="1"/>
          <p:nvPr/>
        </p:nvSpPr>
        <p:spPr>
          <a:xfrm>
            <a:off x="13807805" y="477316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rgbClr val="70AD47"/>
                </a:solidFill>
              </a:rPr>
              <a:t>哪些能用、怎麼用</a:t>
            </a:r>
          </a:p>
        </p:txBody>
      </p:sp>
      <p:sp>
        <p:nvSpPr>
          <p:cNvPr id="68" name="Rounded Rectangle 20">
            <a:extLst>
              <a:ext uri="{FF2B5EF4-FFF2-40B4-BE49-F238E27FC236}">
                <a16:creationId xmlns:a16="http://schemas.microsoft.com/office/drawing/2014/main" id="{22302E42-D90D-BBC5-A96D-7ACEC3A73E5E}"/>
              </a:ext>
            </a:extLst>
          </p:cNvPr>
          <p:cNvSpPr/>
          <p:nvPr/>
        </p:nvSpPr>
        <p:spPr>
          <a:xfrm>
            <a:off x="13076285" y="5303520"/>
            <a:ext cx="5029200" cy="77724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21">
            <a:extLst>
              <a:ext uri="{FF2B5EF4-FFF2-40B4-BE49-F238E27FC236}">
                <a16:creationId xmlns:a16="http://schemas.microsoft.com/office/drawing/2014/main" id="{EAB2D790-B133-C87E-16E8-7CACAA995E01}"/>
              </a:ext>
            </a:extLst>
          </p:cNvPr>
          <p:cNvSpPr txBox="1"/>
          <p:nvPr/>
        </p:nvSpPr>
        <p:spPr>
          <a:xfrm>
            <a:off x="13167725" y="53492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🚫</a:t>
            </a:r>
          </a:p>
        </p:txBody>
      </p:sp>
      <p:sp>
        <p:nvSpPr>
          <p:cNvPr id="70" name="TextBox 22">
            <a:extLst>
              <a:ext uri="{FF2B5EF4-FFF2-40B4-BE49-F238E27FC236}">
                <a16:creationId xmlns:a16="http://schemas.microsoft.com/office/drawing/2014/main" id="{A569BAA5-3027-082A-C8A0-C44EB929DC02}"/>
              </a:ext>
            </a:extLst>
          </p:cNvPr>
          <p:cNvSpPr txBox="1"/>
          <p:nvPr/>
        </p:nvSpPr>
        <p:spPr>
          <a:xfrm>
            <a:off x="13807805" y="53492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禁止事項</a:t>
            </a:r>
          </a:p>
        </p:txBody>
      </p:sp>
      <p:sp>
        <p:nvSpPr>
          <p:cNvPr id="71" name="TextBox 23">
            <a:extLst>
              <a:ext uri="{FF2B5EF4-FFF2-40B4-BE49-F238E27FC236}">
                <a16:creationId xmlns:a16="http://schemas.microsoft.com/office/drawing/2014/main" id="{1747798B-6EE6-B194-61A3-377978F2A726}"/>
              </a:ext>
            </a:extLst>
          </p:cNvPr>
          <p:cNvSpPr txBox="1"/>
          <p:nvPr/>
        </p:nvSpPr>
        <p:spPr>
          <a:xfrm>
            <a:off x="13807805" y="568756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ED7D31"/>
                </a:solidFill>
                <a:latin typeface="Microsoft JhengHei"/>
              </a:defRPr>
            </a:pPr>
            <a:r>
              <a:rPr lang="zh-TW" dirty="0">
                <a:solidFill>
                  <a:srgbClr val="ED7D31"/>
                </a:solidFill>
              </a:rPr>
              <a:t>哪些事絕不能做</a:t>
            </a:r>
          </a:p>
        </p:txBody>
      </p:sp>
      <p:sp>
        <p:nvSpPr>
          <p:cNvPr id="72" name="Rounded Rectangle 24">
            <a:extLst>
              <a:ext uri="{FF2B5EF4-FFF2-40B4-BE49-F238E27FC236}">
                <a16:creationId xmlns:a16="http://schemas.microsoft.com/office/drawing/2014/main" id="{ABB7ED57-A6F1-F4C5-FECB-1B6D2F9D6A0E}"/>
              </a:ext>
            </a:extLst>
          </p:cNvPr>
          <p:cNvSpPr/>
          <p:nvPr/>
        </p:nvSpPr>
        <p:spPr>
          <a:xfrm>
            <a:off x="18745565" y="1280160"/>
            <a:ext cx="5303520" cy="484632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25">
            <a:extLst>
              <a:ext uri="{FF2B5EF4-FFF2-40B4-BE49-F238E27FC236}">
                <a16:creationId xmlns:a16="http://schemas.microsoft.com/office/drawing/2014/main" id="{CC5A3591-B435-8408-79D1-842128274200}"/>
              </a:ext>
            </a:extLst>
          </p:cNvPr>
          <p:cNvSpPr txBox="1"/>
          <p:nvPr/>
        </p:nvSpPr>
        <p:spPr>
          <a:xfrm>
            <a:off x="18928445" y="146304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4472C4"/>
                </a:solidFill>
                <a:latin typeface="Microsoft JhengHei"/>
              </a:defRPr>
            </a:pPr>
            <a:r>
              <a:rPr lang="zh-TW" dirty="0">
                <a:solidFill>
                  <a:srgbClr val="4472C4"/>
                </a:solidFill>
              </a:rPr>
              <a:t>類比：新進員工的 SOP 手冊</a:t>
            </a:r>
          </a:p>
        </p:txBody>
      </p:sp>
      <p:sp>
        <p:nvSpPr>
          <p:cNvPr id="74" name="Rounded Rectangle 26">
            <a:extLst>
              <a:ext uri="{FF2B5EF4-FFF2-40B4-BE49-F238E27FC236}">
                <a16:creationId xmlns:a16="http://schemas.microsoft.com/office/drawing/2014/main" id="{0106A73E-E92A-9491-094B-BF2BC0936E03}"/>
              </a:ext>
            </a:extLst>
          </p:cNvPr>
          <p:cNvSpPr/>
          <p:nvPr/>
        </p:nvSpPr>
        <p:spPr>
          <a:xfrm>
            <a:off x="19202765" y="2194560"/>
            <a:ext cx="4572000" cy="3611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27">
            <a:extLst>
              <a:ext uri="{FF2B5EF4-FFF2-40B4-BE49-F238E27FC236}">
                <a16:creationId xmlns:a16="http://schemas.microsoft.com/office/drawing/2014/main" id="{986961EB-CD82-2983-950A-95845D5EF913}"/>
              </a:ext>
            </a:extLst>
          </p:cNvPr>
          <p:cNvSpPr txBox="1"/>
          <p:nvPr/>
        </p:nvSpPr>
        <p:spPr>
          <a:xfrm>
            <a:off x="19385645" y="2377440"/>
            <a:ext cx="4206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E27026"/>
                </a:solidFill>
                <a:latin typeface="Consolas"/>
              </a:defRPr>
            </a:pPr>
            <a:r>
              <a:rPr lang="zh-TW" dirty="0">
                <a:solidFill>
                  <a:srgbClr val="E27026"/>
                </a:solidFill>
              </a:rPr>
              <a:t># 專案說明書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44444"/>
                </a:solidFill>
                <a:latin typeface="Consolas"/>
              </a:defRPr>
            </a:pPr>
            <a:endParaRPr dirty="0"/>
          </a:p>
          <a:p>
            <a:pPr algn="l">
              <a:spcAft>
                <a:spcPts val="400"/>
              </a:spcAft>
              <a:defRPr sz="1600" b="1">
                <a:solidFill>
                  <a:srgbClr val="4472C4"/>
                </a:solidFill>
                <a:latin typeface="Consolas"/>
              </a:defRPr>
            </a:pPr>
            <a:r>
              <a:rPr lang="zh-TW" dirty="0">
                <a:solidFill>
                  <a:srgbClr val="4472C4"/>
                </a:solidFill>
              </a:rPr>
              <a:t>## 術語定義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44546A"/>
                </a:solidFill>
                <a:latin typeface="Consolas"/>
              </a:defRPr>
            </a:pPr>
            <a:r>
              <a:rPr lang="zh-TW" dirty="0">
                <a:solidFill>
                  <a:srgbClr val="44546A"/>
                </a:solidFill>
              </a:rPr>
              <a:t>- 上構 = 1MF 以上樓層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44546A"/>
                </a:solidFill>
                <a:latin typeface="Consolas"/>
              </a:defRPr>
            </a:pPr>
            <a:r>
              <a:rPr lang="zh-TW" dirty="0">
                <a:solidFill>
                  <a:srgbClr val="44546A"/>
                </a:solidFill>
              </a:rPr>
              <a:t>- 下構 = B*F, 1F, BASE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44444"/>
                </a:solidFill>
                <a:latin typeface="Consolas"/>
              </a:defRPr>
            </a:pPr>
            <a:endParaRPr dirty="0"/>
          </a:p>
          <a:p>
            <a:pPr algn="l">
              <a:spcAft>
                <a:spcPts val="400"/>
              </a:spcAft>
              <a:defRPr sz="1600" b="1">
                <a:solidFill>
                  <a:srgbClr val="4472C4"/>
                </a:solidFill>
                <a:latin typeface="Consolas"/>
              </a:defRPr>
            </a:pPr>
            <a:r>
              <a:rPr lang="zh-TW" dirty="0">
                <a:solidFill>
                  <a:srgbClr val="4472C4"/>
                </a:solidFill>
              </a:rPr>
              <a:t>## 工程規則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44546A"/>
                </a:solidFill>
                <a:latin typeface="Consolas"/>
              </a:defRPr>
            </a:pPr>
            <a:r>
              <a:rPr lang="zh-TW" dirty="0">
                <a:solidFill>
                  <a:srgbClr val="44546A"/>
                </a:solidFill>
              </a:rPr>
              <a:t>- Rigid Zone = 0.75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44546A"/>
                </a:solidFill>
                <a:latin typeface="Consolas"/>
              </a:defRPr>
            </a:pPr>
            <a:r>
              <a:rPr lang="zh-TW" dirty="0">
                <a:solidFill>
                  <a:srgbClr val="44546A"/>
                </a:solidFill>
              </a:rPr>
              <a:t>- 柱保護層 = 7cm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44444"/>
                </a:solidFill>
                <a:latin typeface="Consolas"/>
              </a:defRPr>
            </a:pPr>
            <a:endParaRPr dirty="0"/>
          </a:p>
          <a:p>
            <a:pPr algn="l">
              <a:spcAft>
                <a:spcPts val="400"/>
              </a:spcAft>
              <a:defRPr sz="1600" b="1">
                <a:solidFill>
                  <a:srgbClr val="ED7D31"/>
                </a:solidFill>
                <a:latin typeface="Consolas"/>
              </a:defRPr>
            </a:pPr>
            <a:r>
              <a:rPr lang="zh-TW" dirty="0">
                <a:solidFill>
                  <a:srgbClr val="ED7D31"/>
                </a:solidFill>
              </a:rPr>
              <a:t>## 禁止事項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44546A"/>
                </a:solidFill>
                <a:latin typeface="Consolas"/>
              </a:defRPr>
            </a:pPr>
            <a:r>
              <a:rPr lang="zh-TW" dirty="0">
                <a:solidFill>
                  <a:srgbClr val="44546A"/>
                </a:solidFill>
              </a:rPr>
              <a:t>- 小梁位置不可用猜的</a:t>
            </a:r>
          </a:p>
        </p:txBody>
      </p:sp>
      <p:sp>
        <p:nvSpPr>
          <p:cNvPr id="76" name="TextBox 28">
            <a:extLst>
              <a:ext uri="{FF2B5EF4-FFF2-40B4-BE49-F238E27FC236}">
                <a16:creationId xmlns:a16="http://schemas.microsoft.com/office/drawing/2014/main" id="{BD275017-17EC-1B0D-86B1-53F8F2031A0C}"/>
              </a:ext>
            </a:extLst>
          </p:cNvPr>
          <p:cNvSpPr txBox="1"/>
          <p:nvPr/>
        </p:nvSpPr>
        <p:spPr>
          <a:xfrm>
            <a:off x="18928445" y="63093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📋 還沒上工就先讀手冊 → AI 每次啟動先讀這份</a:t>
            </a:r>
          </a:p>
        </p:txBody>
      </p:sp>
      <p:pic>
        <p:nvPicPr>
          <p:cNvPr id="33" name="圖片 32">
            <a:extLst>
              <a:ext uri="{FF2B5EF4-FFF2-40B4-BE49-F238E27FC236}">
                <a16:creationId xmlns:a16="http://schemas.microsoft.com/office/drawing/2014/main" id="{DB69B339-EDFD-AED8-B747-1D43D92056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3096" y="1540015"/>
            <a:ext cx="2361905" cy="4228571"/>
          </a:xfrm>
          <a:prstGeom prst="rect">
            <a:avLst/>
          </a:prstGeom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C5A7A1A8-2AEA-66D1-E248-D5C38D50907F}"/>
              </a:ext>
            </a:extLst>
          </p:cNvPr>
          <p:cNvSpPr/>
          <p:nvPr/>
        </p:nvSpPr>
        <p:spPr>
          <a:xfrm>
            <a:off x="6382513" y="3752088"/>
            <a:ext cx="2596896" cy="182387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Rounded Rectangle 7">
            <a:extLst>
              <a:ext uri="{FF2B5EF4-FFF2-40B4-BE49-F238E27FC236}">
                <a16:creationId xmlns:a16="http://schemas.microsoft.com/office/drawing/2014/main" id="{30FE0284-7D72-F95C-7708-70F226ED7FD7}"/>
              </a:ext>
            </a:extLst>
          </p:cNvPr>
          <p:cNvSpPr/>
          <p:nvPr/>
        </p:nvSpPr>
        <p:spPr>
          <a:xfrm>
            <a:off x="3069335" y="1417033"/>
            <a:ext cx="2286000" cy="583693"/>
          </a:xfrm>
          <a:prstGeom prst="roundRect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8">
            <a:extLst>
              <a:ext uri="{FF2B5EF4-FFF2-40B4-BE49-F238E27FC236}">
                <a16:creationId xmlns:a16="http://schemas.microsoft.com/office/drawing/2014/main" id="{4719D657-FB8E-DEF4-3D85-4E7E50ED9D6B}"/>
              </a:ext>
            </a:extLst>
          </p:cNvPr>
          <p:cNvSpPr txBox="1"/>
          <p:nvPr/>
        </p:nvSpPr>
        <p:spPr>
          <a:xfrm>
            <a:off x="3051047" y="1507058"/>
            <a:ext cx="2286000" cy="309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444444"/>
                </a:solidFill>
                <a:latin typeface="Microsoft JhengHei"/>
              </a:defRPr>
            </a:pPr>
            <a:r>
              <a:rPr lang="zh-TW" sz="2400" dirty="0">
                <a:solidFill>
                  <a:srgbClr val="444444"/>
                </a:solidFill>
              </a:rPr>
              <a:t>▶ START</a:t>
            </a:r>
          </a:p>
        </p:txBody>
      </p:sp>
      <p:sp>
        <p:nvSpPr>
          <p:cNvPr id="37" name="Right Arrow 9">
            <a:extLst>
              <a:ext uri="{FF2B5EF4-FFF2-40B4-BE49-F238E27FC236}">
                <a16:creationId xmlns:a16="http://schemas.microsoft.com/office/drawing/2014/main" id="{D20D41D4-04EF-B703-0F47-11B4F7061EDB}"/>
              </a:ext>
            </a:extLst>
          </p:cNvPr>
          <p:cNvSpPr/>
          <p:nvPr/>
        </p:nvSpPr>
        <p:spPr>
          <a:xfrm rot="5400000">
            <a:off x="4027515" y="2016306"/>
            <a:ext cx="369639" cy="457200"/>
          </a:xfrm>
          <a:prstGeom prst="rightArrow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10">
            <a:extLst>
              <a:ext uri="{FF2B5EF4-FFF2-40B4-BE49-F238E27FC236}">
                <a16:creationId xmlns:a16="http://schemas.microsoft.com/office/drawing/2014/main" id="{4B58569D-E918-2536-52A1-E9074559D74A}"/>
              </a:ext>
            </a:extLst>
          </p:cNvPr>
          <p:cNvSpPr/>
          <p:nvPr/>
        </p:nvSpPr>
        <p:spPr>
          <a:xfrm>
            <a:off x="3325367" y="2468187"/>
            <a:ext cx="1737360" cy="8280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11">
            <a:extLst>
              <a:ext uri="{FF2B5EF4-FFF2-40B4-BE49-F238E27FC236}">
                <a16:creationId xmlns:a16="http://schemas.microsoft.com/office/drawing/2014/main" id="{E72C330D-963C-C278-BAC9-1D58ED82AE1E}"/>
              </a:ext>
            </a:extLst>
          </p:cNvPr>
          <p:cNvSpPr txBox="1"/>
          <p:nvPr/>
        </p:nvSpPr>
        <p:spPr>
          <a:xfrm>
            <a:off x="3371086" y="2538291"/>
            <a:ext cx="1645920" cy="280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472C4"/>
                </a:solidFill>
                <a:latin typeface="Microsoft JhengHei"/>
              </a:defRPr>
            </a:pPr>
            <a:r>
              <a:rPr lang="zh-TW" dirty="0">
                <a:solidFill>
                  <a:srgbClr val="4472C4"/>
                </a:solidFill>
              </a:rPr>
              <a:t>Phase 1</a:t>
            </a:r>
          </a:p>
        </p:txBody>
      </p:sp>
      <p:sp>
        <p:nvSpPr>
          <p:cNvPr id="40" name="TextBox 12">
            <a:extLst>
              <a:ext uri="{FF2B5EF4-FFF2-40B4-BE49-F238E27FC236}">
                <a16:creationId xmlns:a16="http://schemas.microsoft.com/office/drawing/2014/main" id="{876A8A3A-292A-1DF1-773C-842C889D3AF0}"/>
              </a:ext>
            </a:extLst>
          </p:cNvPr>
          <p:cNvSpPr txBox="1"/>
          <p:nvPr/>
        </p:nvSpPr>
        <p:spPr>
          <a:xfrm>
            <a:off x="3371086" y="2888811"/>
            <a:ext cx="1645920" cy="35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參數檢查</a:t>
            </a:r>
          </a:p>
        </p:txBody>
      </p:sp>
      <p:sp>
        <p:nvSpPr>
          <p:cNvPr id="41" name="Right Arrow 14">
            <a:extLst>
              <a:ext uri="{FF2B5EF4-FFF2-40B4-BE49-F238E27FC236}">
                <a16:creationId xmlns:a16="http://schemas.microsoft.com/office/drawing/2014/main" id="{9F7622F2-CAA4-1EA3-2757-7B6487AE57EB}"/>
              </a:ext>
            </a:extLst>
          </p:cNvPr>
          <p:cNvSpPr/>
          <p:nvPr/>
        </p:nvSpPr>
        <p:spPr>
          <a:xfrm rot="5400000">
            <a:off x="4125466" y="3307617"/>
            <a:ext cx="137160" cy="228600"/>
          </a:xfrm>
          <a:prstGeom prst="rightArrow">
            <a:avLst/>
          </a:prstGeom>
          <a:solidFill>
            <a:srgbClr val="445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15">
            <a:extLst>
              <a:ext uri="{FF2B5EF4-FFF2-40B4-BE49-F238E27FC236}">
                <a16:creationId xmlns:a16="http://schemas.microsoft.com/office/drawing/2014/main" id="{2A7BDEF1-C9F9-77BE-67AB-A0CFD13F9241}"/>
              </a:ext>
            </a:extLst>
          </p:cNvPr>
          <p:cNvSpPr/>
          <p:nvPr/>
        </p:nvSpPr>
        <p:spPr>
          <a:xfrm>
            <a:off x="3325367" y="3505912"/>
            <a:ext cx="1737360" cy="8280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E27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16">
            <a:extLst>
              <a:ext uri="{FF2B5EF4-FFF2-40B4-BE49-F238E27FC236}">
                <a16:creationId xmlns:a16="http://schemas.microsoft.com/office/drawing/2014/main" id="{C0471C83-C0A5-917D-E8A2-ED1FB3B763C7}"/>
              </a:ext>
            </a:extLst>
          </p:cNvPr>
          <p:cNvSpPr txBox="1"/>
          <p:nvPr/>
        </p:nvSpPr>
        <p:spPr>
          <a:xfrm>
            <a:off x="3371087" y="3576016"/>
            <a:ext cx="1645920" cy="280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27026"/>
                </a:solidFill>
                <a:latin typeface="Microsoft JhengHei"/>
              </a:defRPr>
            </a:pPr>
            <a:r>
              <a:rPr lang="zh-TW" dirty="0">
                <a:solidFill>
                  <a:srgbClr val="E27026"/>
                </a:solidFill>
              </a:rPr>
              <a:t>Phase 2</a:t>
            </a:r>
          </a:p>
        </p:txBody>
      </p:sp>
      <p:sp>
        <p:nvSpPr>
          <p:cNvPr id="44" name="TextBox 17">
            <a:extLst>
              <a:ext uri="{FF2B5EF4-FFF2-40B4-BE49-F238E27FC236}">
                <a16:creationId xmlns:a16="http://schemas.microsoft.com/office/drawing/2014/main" id="{32D2816D-788D-2CFD-24A6-A5D17260F7D3}"/>
              </a:ext>
            </a:extLst>
          </p:cNvPr>
          <p:cNvSpPr txBox="1"/>
          <p:nvPr/>
        </p:nvSpPr>
        <p:spPr>
          <a:xfrm>
            <a:off x="3371087" y="3926536"/>
            <a:ext cx="1645920" cy="35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召集團隊</a:t>
            </a:r>
          </a:p>
        </p:txBody>
      </p:sp>
      <p:sp>
        <p:nvSpPr>
          <p:cNvPr id="45" name="Right Arrow 19">
            <a:extLst>
              <a:ext uri="{FF2B5EF4-FFF2-40B4-BE49-F238E27FC236}">
                <a16:creationId xmlns:a16="http://schemas.microsoft.com/office/drawing/2014/main" id="{C1A01650-4D2F-6E41-B1BC-0A6C3628D736}"/>
              </a:ext>
            </a:extLst>
          </p:cNvPr>
          <p:cNvSpPr/>
          <p:nvPr/>
        </p:nvSpPr>
        <p:spPr>
          <a:xfrm rot="5400000">
            <a:off x="4125466" y="4330171"/>
            <a:ext cx="137160" cy="228600"/>
          </a:xfrm>
          <a:prstGeom prst="rightArrow">
            <a:avLst/>
          </a:prstGeom>
          <a:solidFill>
            <a:srgbClr val="445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20">
            <a:extLst>
              <a:ext uri="{FF2B5EF4-FFF2-40B4-BE49-F238E27FC236}">
                <a16:creationId xmlns:a16="http://schemas.microsoft.com/office/drawing/2014/main" id="{B1C4C0B0-121D-BD7E-5C3E-73F291B046BF}"/>
              </a:ext>
            </a:extLst>
          </p:cNvPr>
          <p:cNvSpPr/>
          <p:nvPr/>
        </p:nvSpPr>
        <p:spPr>
          <a:xfrm>
            <a:off x="3316224" y="4543637"/>
            <a:ext cx="1737360" cy="8280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21">
            <a:extLst>
              <a:ext uri="{FF2B5EF4-FFF2-40B4-BE49-F238E27FC236}">
                <a16:creationId xmlns:a16="http://schemas.microsoft.com/office/drawing/2014/main" id="{6E2AE485-14D5-12D8-ACE3-CEFFA8BAEBF3}"/>
              </a:ext>
            </a:extLst>
          </p:cNvPr>
          <p:cNvSpPr txBox="1"/>
          <p:nvPr/>
        </p:nvSpPr>
        <p:spPr>
          <a:xfrm>
            <a:off x="3361944" y="4613741"/>
            <a:ext cx="1645920" cy="280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rgbClr val="70AD47"/>
                </a:solidFill>
              </a:rPr>
              <a:t>Phase 3</a:t>
            </a:r>
          </a:p>
        </p:txBody>
      </p:sp>
      <p:sp>
        <p:nvSpPr>
          <p:cNvPr id="48" name="TextBox 22">
            <a:extLst>
              <a:ext uri="{FF2B5EF4-FFF2-40B4-BE49-F238E27FC236}">
                <a16:creationId xmlns:a16="http://schemas.microsoft.com/office/drawing/2014/main" id="{288D3741-624F-613C-3E7B-B23DFD5D9AFC}"/>
              </a:ext>
            </a:extLst>
          </p:cNvPr>
          <p:cNvSpPr txBox="1"/>
          <p:nvPr/>
        </p:nvSpPr>
        <p:spPr>
          <a:xfrm>
            <a:off x="3361944" y="4964261"/>
            <a:ext cx="1645920" cy="35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依序執行</a:t>
            </a:r>
          </a:p>
        </p:txBody>
      </p:sp>
      <p:sp>
        <p:nvSpPr>
          <p:cNvPr id="49" name="Right Arrow 24">
            <a:extLst>
              <a:ext uri="{FF2B5EF4-FFF2-40B4-BE49-F238E27FC236}">
                <a16:creationId xmlns:a16="http://schemas.microsoft.com/office/drawing/2014/main" id="{BDE9DE8D-4159-F505-1913-1941DCB3F1D9}"/>
              </a:ext>
            </a:extLst>
          </p:cNvPr>
          <p:cNvSpPr/>
          <p:nvPr/>
        </p:nvSpPr>
        <p:spPr>
          <a:xfrm rot="5400000">
            <a:off x="4116324" y="5393079"/>
            <a:ext cx="137160" cy="228600"/>
          </a:xfrm>
          <a:prstGeom prst="rightArrow">
            <a:avLst/>
          </a:prstGeom>
          <a:solidFill>
            <a:srgbClr val="445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ounded Rectangle 25">
            <a:extLst>
              <a:ext uri="{FF2B5EF4-FFF2-40B4-BE49-F238E27FC236}">
                <a16:creationId xmlns:a16="http://schemas.microsoft.com/office/drawing/2014/main" id="{9B70043B-5528-1CC1-0408-CBBD0E771658}"/>
              </a:ext>
            </a:extLst>
          </p:cNvPr>
          <p:cNvSpPr/>
          <p:nvPr/>
        </p:nvSpPr>
        <p:spPr>
          <a:xfrm>
            <a:off x="3316224" y="5581362"/>
            <a:ext cx="1737360" cy="8280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B47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26">
            <a:extLst>
              <a:ext uri="{FF2B5EF4-FFF2-40B4-BE49-F238E27FC236}">
                <a16:creationId xmlns:a16="http://schemas.microsoft.com/office/drawing/2014/main" id="{617AE069-1C00-8EB0-510C-C23FD54898F8}"/>
              </a:ext>
            </a:extLst>
          </p:cNvPr>
          <p:cNvSpPr txBox="1"/>
          <p:nvPr/>
        </p:nvSpPr>
        <p:spPr>
          <a:xfrm>
            <a:off x="3361944" y="5651466"/>
            <a:ext cx="1645920" cy="280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B47EFF"/>
                </a:solidFill>
                <a:latin typeface="Microsoft JhengHei"/>
              </a:defRPr>
            </a:pPr>
            <a:r>
              <a:rPr lang="zh-TW" dirty="0">
                <a:solidFill>
                  <a:srgbClr val="B47EFF"/>
                </a:solidFill>
              </a:rPr>
              <a:t>Phase 4</a:t>
            </a:r>
          </a:p>
        </p:txBody>
      </p:sp>
      <p:sp>
        <p:nvSpPr>
          <p:cNvPr id="52" name="TextBox 27">
            <a:extLst>
              <a:ext uri="{FF2B5EF4-FFF2-40B4-BE49-F238E27FC236}">
                <a16:creationId xmlns:a16="http://schemas.microsoft.com/office/drawing/2014/main" id="{81BF5693-7D8F-3D7D-C866-96DF033CA1E3}"/>
              </a:ext>
            </a:extLst>
          </p:cNvPr>
          <p:cNvSpPr txBox="1"/>
          <p:nvPr/>
        </p:nvSpPr>
        <p:spPr>
          <a:xfrm>
            <a:off x="3361944" y="6001986"/>
            <a:ext cx="1645920" cy="35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品質驗收</a:t>
            </a:r>
          </a:p>
        </p:txBody>
      </p:sp>
    </p:spTree>
    <p:extLst>
      <p:ext uri="{BB962C8B-B14F-4D97-AF65-F5344CB8AC3E}">
        <p14:creationId xmlns:p14="http://schemas.microsoft.com/office/powerpoint/2010/main" val="29023337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27988-3249-B927-B426-768FA14BC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D0F0C8D-3E51-1054-8392-2449A4752DF0}"/>
              </a:ext>
            </a:extLst>
          </p:cNvPr>
          <p:cNvSpPr/>
          <p:nvPr/>
        </p:nvSpPr>
        <p:spPr>
          <a:xfrm>
            <a:off x="548640" y="411480"/>
            <a:ext cx="1097280" cy="54864"/>
          </a:xfrm>
          <a:prstGeom prst="rect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F45072-42F6-480F-166A-AAF3E4C1192E}"/>
              </a:ext>
            </a:extLst>
          </p:cNvPr>
          <p:cNvSpPr txBox="1"/>
          <p:nvPr/>
        </p:nvSpPr>
        <p:spPr>
          <a:xfrm>
            <a:off x="548640" y="502920"/>
            <a:ext cx="7772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第 2 層：一鍵啟動完整流程</a:t>
            </a:r>
            <a:r>
              <a:rPr lang="zh-TW" altLang="en-US" dirty="0">
                <a:solidFill>
                  <a:srgbClr val="444444"/>
                </a:solidFill>
              </a:rPr>
              <a:t> </a:t>
            </a:r>
            <a:r>
              <a:rPr lang="en-US" altLang="zh-TW" dirty="0">
                <a:solidFill>
                  <a:srgbClr val="000000"/>
                </a:solidFill>
              </a:rPr>
              <a:t>/COMMAND</a:t>
            </a:r>
            <a:endParaRPr lang="zh-TW" dirty="0">
              <a:solidFill>
                <a:srgbClr val="444444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A44692-8242-7A5D-99E9-FE6457813B62}"/>
              </a:ext>
            </a:extLst>
          </p:cNvPr>
          <p:cNvSpPr txBox="1"/>
          <p:nvPr/>
        </p:nvSpPr>
        <p:spPr>
          <a:xfrm>
            <a:off x="9601200" y="411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概念篇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545EE54-8FEE-D6DC-0EB5-89DB54168DF6}"/>
              </a:ext>
            </a:extLst>
          </p:cNvPr>
          <p:cNvSpPr/>
          <p:nvPr/>
        </p:nvSpPr>
        <p:spPr>
          <a:xfrm>
            <a:off x="10744200" y="335661"/>
            <a:ext cx="457200" cy="457200"/>
          </a:xfrm>
          <a:prstGeom prst="ellipse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F1B402-B1DF-AC7A-ABA6-78D415AD7385}"/>
              </a:ext>
            </a:extLst>
          </p:cNvPr>
          <p:cNvSpPr txBox="1"/>
          <p:nvPr/>
        </p:nvSpPr>
        <p:spPr>
          <a:xfrm>
            <a:off x="10744200" y="381381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55E14F-F628-434B-BB46-8D9F39D0ACCD}"/>
              </a:ext>
            </a:extLst>
          </p:cNvPr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6 / 16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2A1AF15C-457F-906C-10BB-3D9883CE3031}"/>
              </a:ext>
            </a:extLst>
          </p:cNvPr>
          <p:cNvSpPr/>
          <p:nvPr/>
        </p:nvSpPr>
        <p:spPr>
          <a:xfrm>
            <a:off x="749808" y="2093214"/>
            <a:ext cx="2286000" cy="1371600"/>
          </a:xfrm>
          <a:prstGeom prst="roundRect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F5F3B9-CA3D-0589-4372-64611DFFDF89}"/>
              </a:ext>
            </a:extLst>
          </p:cNvPr>
          <p:cNvSpPr txBox="1"/>
          <p:nvPr/>
        </p:nvSpPr>
        <p:spPr>
          <a:xfrm>
            <a:off x="731520" y="2458974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▶ START</a:t>
            </a:r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EB353E3C-8819-36DE-AA19-8DCF78C65ADB}"/>
              </a:ext>
            </a:extLst>
          </p:cNvPr>
          <p:cNvSpPr/>
          <p:nvPr/>
        </p:nvSpPr>
        <p:spPr>
          <a:xfrm>
            <a:off x="3127247" y="2550414"/>
            <a:ext cx="731520" cy="457200"/>
          </a:xfrm>
          <a:prstGeom prst="rightArrow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C4DF5F6E-0E08-B46D-A0BE-B3461B0F4BFF}"/>
              </a:ext>
            </a:extLst>
          </p:cNvPr>
          <p:cNvSpPr/>
          <p:nvPr/>
        </p:nvSpPr>
        <p:spPr>
          <a:xfrm>
            <a:off x="4041648" y="1666494"/>
            <a:ext cx="1737360" cy="22860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4D53078-26F3-65A1-1EF0-20A295E90DAC}"/>
              </a:ext>
            </a:extLst>
          </p:cNvPr>
          <p:cNvSpPr txBox="1"/>
          <p:nvPr/>
        </p:nvSpPr>
        <p:spPr>
          <a:xfrm>
            <a:off x="4087367" y="1757934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472C4"/>
                </a:solidFill>
                <a:latin typeface="Microsoft JhengHei"/>
              </a:defRPr>
            </a:pPr>
            <a:r>
              <a:rPr lang="zh-TW" dirty="0">
                <a:solidFill>
                  <a:srgbClr val="4472C4"/>
                </a:solidFill>
              </a:rPr>
              <a:t>Phase 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22C7ED-EAF8-7A6B-3A70-CA0685953D97}"/>
              </a:ext>
            </a:extLst>
          </p:cNvPr>
          <p:cNvSpPr txBox="1"/>
          <p:nvPr/>
        </p:nvSpPr>
        <p:spPr>
          <a:xfrm>
            <a:off x="4087367" y="2215134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參數檢查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94FD17E-2742-641F-6396-0C9E4C2338AC}"/>
              </a:ext>
            </a:extLst>
          </p:cNvPr>
          <p:cNvSpPr txBox="1"/>
          <p:nvPr/>
        </p:nvSpPr>
        <p:spPr>
          <a:xfrm>
            <a:off x="4087367" y="2763774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輸入完整？</a:t>
            </a:r>
          </a:p>
        </p:txBody>
      </p:sp>
      <p:sp>
        <p:nvSpPr>
          <p:cNvPr id="15" name="Right Arrow 14">
            <a:extLst>
              <a:ext uri="{FF2B5EF4-FFF2-40B4-BE49-F238E27FC236}">
                <a16:creationId xmlns:a16="http://schemas.microsoft.com/office/drawing/2014/main" id="{D29DE014-C1AC-B2A2-2152-140A10F96E0D}"/>
              </a:ext>
            </a:extLst>
          </p:cNvPr>
          <p:cNvSpPr/>
          <p:nvPr/>
        </p:nvSpPr>
        <p:spPr>
          <a:xfrm>
            <a:off x="5797296" y="2489454"/>
            <a:ext cx="137160" cy="228600"/>
          </a:xfrm>
          <a:prstGeom prst="rightArrow">
            <a:avLst/>
          </a:prstGeom>
          <a:solidFill>
            <a:srgbClr val="445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14971AD9-AB1B-E4B0-8DCA-5F6BA45A0B80}"/>
              </a:ext>
            </a:extLst>
          </p:cNvPr>
          <p:cNvSpPr/>
          <p:nvPr/>
        </p:nvSpPr>
        <p:spPr>
          <a:xfrm>
            <a:off x="5961887" y="1666494"/>
            <a:ext cx="1737360" cy="22860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E27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0F8B98D-56C3-DF9C-40D7-20FCFA8C38B3}"/>
              </a:ext>
            </a:extLst>
          </p:cNvPr>
          <p:cNvSpPr txBox="1"/>
          <p:nvPr/>
        </p:nvSpPr>
        <p:spPr>
          <a:xfrm>
            <a:off x="6007607" y="1757934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27026"/>
                </a:solidFill>
                <a:latin typeface="Microsoft JhengHei"/>
              </a:defRPr>
            </a:pPr>
            <a:r>
              <a:rPr lang="zh-TW" dirty="0">
                <a:solidFill>
                  <a:srgbClr val="E27026"/>
                </a:solidFill>
              </a:rPr>
              <a:t>Phase 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FACB1A-D99F-ED66-094B-C831254F960E}"/>
              </a:ext>
            </a:extLst>
          </p:cNvPr>
          <p:cNvSpPr txBox="1"/>
          <p:nvPr/>
        </p:nvSpPr>
        <p:spPr>
          <a:xfrm>
            <a:off x="6007607" y="2215134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召集團隊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4FDDEE3-C574-2B5B-F9FC-1276527527CC}"/>
              </a:ext>
            </a:extLst>
          </p:cNvPr>
          <p:cNvSpPr txBox="1"/>
          <p:nvPr/>
        </p:nvSpPr>
        <p:spPr>
          <a:xfrm>
            <a:off x="6007607" y="2763774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組建 Agent</a:t>
            </a:r>
          </a:p>
        </p:txBody>
      </p:sp>
      <p:sp>
        <p:nvSpPr>
          <p:cNvPr id="20" name="Right Arrow 19">
            <a:extLst>
              <a:ext uri="{FF2B5EF4-FFF2-40B4-BE49-F238E27FC236}">
                <a16:creationId xmlns:a16="http://schemas.microsoft.com/office/drawing/2014/main" id="{0C564A3D-2D97-6DB2-A5F8-3A67188D537C}"/>
              </a:ext>
            </a:extLst>
          </p:cNvPr>
          <p:cNvSpPr/>
          <p:nvPr/>
        </p:nvSpPr>
        <p:spPr>
          <a:xfrm>
            <a:off x="7717535" y="2489454"/>
            <a:ext cx="137160" cy="228600"/>
          </a:xfrm>
          <a:prstGeom prst="rightArrow">
            <a:avLst/>
          </a:prstGeom>
          <a:solidFill>
            <a:srgbClr val="445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D084BC2F-5EB7-36F4-12CB-FA50E97E695E}"/>
              </a:ext>
            </a:extLst>
          </p:cNvPr>
          <p:cNvSpPr/>
          <p:nvPr/>
        </p:nvSpPr>
        <p:spPr>
          <a:xfrm>
            <a:off x="7882128" y="1666494"/>
            <a:ext cx="1737360" cy="22860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20E02E8-A99A-AD42-FCD1-AE5294D44899}"/>
              </a:ext>
            </a:extLst>
          </p:cNvPr>
          <p:cNvSpPr txBox="1"/>
          <p:nvPr/>
        </p:nvSpPr>
        <p:spPr>
          <a:xfrm>
            <a:off x="7927848" y="1757934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rgbClr val="70AD47"/>
                </a:solidFill>
              </a:rPr>
              <a:t>Phase 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80C8ACA-EF0C-9433-A48B-56ABBE0FC894}"/>
              </a:ext>
            </a:extLst>
          </p:cNvPr>
          <p:cNvSpPr txBox="1"/>
          <p:nvPr/>
        </p:nvSpPr>
        <p:spPr>
          <a:xfrm>
            <a:off x="7927848" y="2215134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依序執行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D3EABA2-E677-A4BE-2B87-BFCF324E9B5A}"/>
              </a:ext>
            </a:extLst>
          </p:cNvPr>
          <p:cNvSpPr txBox="1"/>
          <p:nvPr/>
        </p:nvSpPr>
        <p:spPr>
          <a:xfrm>
            <a:off x="7927848" y="2763774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步驟自動編排</a:t>
            </a:r>
          </a:p>
        </p:txBody>
      </p:sp>
      <p:sp>
        <p:nvSpPr>
          <p:cNvPr id="25" name="Right Arrow 24">
            <a:extLst>
              <a:ext uri="{FF2B5EF4-FFF2-40B4-BE49-F238E27FC236}">
                <a16:creationId xmlns:a16="http://schemas.microsoft.com/office/drawing/2014/main" id="{BD4E96E4-F514-A8DA-8B05-4FF0B1C63502}"/>
              </a:ext>
            </a:extLst>
          </p:cNvPr>
          <p:cNvSpPr/>
          <p:nvPr/>
        </p:nvSpPr>
        <p:spPr>
          <a:xfrm>
            <a:off x="9637776" y="2489454"/>
            <a:ext cx="137160" cy="228600"/>
          </a:xfrm>
          <a:prstGeom prst="rightArrow">
            <a:avLst/>
          </a:prstGeom>
          <a:solidFill>
            <a:srgbClr val="445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75C840D0-9B50-9F11-299F-10E619EB67C9}"/>
              </a:ext>
            </a:extLst>
          </p:cNvPr>
          <p:cNvSpPr/>
          <p:nvPr/>
        </p:nvSpPr>
        <p:spPr>
          <a:xfrm>
            <a:off x="9802368" y="1666494"/>
            <a:ext cx="1737360" cy="22860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B47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585E6DD-4DFE-A221-922B-59B4F2D7B13F}"/>
              </a:ext>
            </a:extLst>
          </p:cNvPr>
          <p:cNvSpPr txBox="1"/>
          <p:nvPr/>
        </p:nvSpPr>
        <p:spPr>
          <a:xfrm>
            <a:off x="9848088" y="1757934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B47EFF"/>
                </a:solidFill>
                <a:latin typeface="Microsoft JhengHei"/>
              </a:defRPr>
            </a:pPr>
            <a:r>
              <a:rPr lang="zh-TW" dirty="0">
                <a:solidFill>
                  <a:srgbClr val="B47EFF"/>
                </a:solidFill>
              </a:rPr>
              <a:t>Phase 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C04BAA6-6F79-8BC8-3956-85D9C5ABE9B0}"/>
              </a:ext>
            </a:extLst>
          </p:cNvPr>
          <p:cNvSpPr txBox="1"/>
          <p:nvPr/>
        </p:nvSpPr>
        <p:spPr>
          <a:xfrm>
            <a:off x="9848088" y="2215134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品質驗收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EA82CC6-A87A-3955-9701-82EC9EC861AB}"/>
              </a:ext>
            </a:extLst>
          </p:cNvPr>
          <p:cNvSpPr txBox="1"/>
          <p:nvPr/>
        </p:nvSpPr>
        <p:spPr>
          <a:xfrm>
            <a:off x="9848088" y="2763774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自動驗證結果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F695550-D23D-B558-2E3B-6820D723B51E}"/>
              </a:ext>
            </a:extLst>
          </p:cNvPr>
          <p:cNvSpPr txBox="1"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0"/>
              </a:spcAft>
              <a:defRPr sz="22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一個命令 = 一條完整的生產線</a:t>
            </a:r>
          </a:p>
          <a:p>
            <a:pPr algn="l">
              <a:spcAft>
                <a:spcPts val="760"/>
              </a:spcAft>
              <a:defRPr sz="18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使用者只需一行指令，系統自動編排所有步驟</a:t>
            </a:r>
          </a:p>
          <a:p>
            <a:pPr algn="l">
              <a:spcAft>
                <a:spcPts val="760"/>
              </a:spcAft>
              <a:defRPr sz="800" b="0">
                <a:solidFill>
                  <a:srgbClr val="444444"/>
                </a:solidFill>
                <a:latin typeface="Microsoft JhengHei"/>
              </a:defRPr>
            </a:pPr>
            <a:endParaRPr dirty="0"/>
          </a:p>
          <a:p>
            <a:pPr algn="l">
              <a:spcAft>
                <a:spcPts val="760"/>
              </a:spcAft>
              <a:defRPr sz="1800" b="0">
                <a:solidFill>
                  <a:srgbClr val="4472C4"/>
                </a:solidFill>
                <a:latin typeface="Microsoft JhengHei"/>
              </a:defRPr>
            </a:pPr>
            <a:r>
              <a:rPr lang="zh-TW" dirty="0">
                <a:solidFill>
                  <a:srgbClr val="4472C4"/>
                </a:solidFill>
              </a:rPr>
              <a:t>類比：工廠的生產線按鈕 — 按一下，整條產線啟動</a:t>
            </a:r>
          </a:p>
        </p:txBody>
      </p:sp>
      <p:pic>
        <p:nvPicPr>
          <p:cNvPr id="31" name="圖片 30">
            <a:extLst>
              <a:ext uri="{FF2B5EF4-FFF2-40B4-BE49-F238E27FC236}">
                <a16:creationId xmlns:a16="http://schemas.microsoft.com/office/drawing/2014/main" id="{75113F8D-98FE-D4F5-F4C7-44E722A86C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28828" y="1560239"/>
            <a:ext cx="4197793" cy="4592386"/>
          </a:xfrm>
          <a:prstGeom prst="rect">
            <a:avLst/>
          </a:prstGeom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F941E938-B106-9F2C-417E-A151A47BB72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7557"/>
          <a:stretch>
            <a:fillRect/>
          </a:stretch>
        </p:blipFill>
        <p:spPr>
          <a:xfrm>
            <a:off x="12454128" y="1826227"/>
            <a:ext cx="4919837" cy="4060410"/>
          </a:xfrm>
          <a:prstGeom prst="rect">
            <a:avLst/>
          </a:prstGeom>
        </p:spPr>
      </p:pic>
      <p:sp>
        <p:nvSpPr>
          <p:cNvPr id="55" name="TextBox 7">
            <a:extLst>
              <a:ext uri="{FF2B5EF4-FFF2-40B4-BE49-F238E27FC236}">
                <a16:creationId xmlns:a16="http://schemas.microsoft.com/office/drawing/2014/main" id="{7C7966EA-FB5E-2946-2920-E8486EE39B30}"/>
              </a:ext>
            </a:extLst>
          </p:cNvPr>
          <p:cNvSpPr txBox="1"/>
          <p:nvPr/>
        </p:nvSpPr>
        <p:spPr>
          <a:xfrm>
            <a:off x="13076285" y="14630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0"/>
              </a:spcAft>
              <a:defRPr sz="2600" b="1">
                <a:solidFill>
                  <a:srgbClr val="000000"/>
                </a:solidFill>
                <a:latin typeface="Microsoft JhengHei"/>
              </a:defRPr>
            </a:pPr>
            <a:r>
              <a:rPr lang="zh-TW" sz="2600" b="1" dirty="0">
                <a:solidFill>
                  <a:srgbClr val="000000"/>
                </a:solidFill>
                <a:latin typeface="Microsoft JhengHei"/>
              </a:rPr>
              <a:t>一份 Markdown 文件</a:t>
            </a:r>
          </a:p>
          <a:p>
            <a:pPr algn="l">
              <a:spcAft>
                <a:spcPts val="760"/>
              </a:spcAft>
              <a:defRPr sz="2000" b="0">
                <a:solidFill>
                  <a:srgbClr val="44546A"/>
                </a:solidFill>
                <a:latin typeface="Microsoft JhengHei"/>
              </a:defRPr>
            </a:pPr>
            <a:r>
              <a:rPr lang="zh-TW" sz="2000" b="0" dirty="0">
                <a:solidFill>
                  <a:srgbClr val="44546A"/>
                </a:solidFill>
                <a:latin typeface="Microsoft JhengHei"/>
              </a:rPr>
              <a:t>定義 AI 在此專案中的所有規則</a:t>
            </a:r>
          </a:p>
        </p:txBody>
      </p:sp>
      <p:sp>
        <p:nvSpPr>
          <p:cNvPr id="56" name="Rounded Rectangle 8">
            <a:extLst>
              <a:ext uri="{FF2B5EF4-FFF2-40B4-BE49-F238E27FC236}">
                <a16:creationId xmlns:a16="http://schemas.microsoft.com/office/drawing/2014/main" id="{A7133BEB-E2AF-0934-78B0-D47B0F456770}"/>
              </a:ext>
            </a:extLst>
          </p:cNvPr>
          <p:cNvSpPr/>
          <p:nvPr/>
        </p:nvSpPr>
        <p:spPr>
          <a:xfrm>
            <a:off x="13076285" y="2560320"/>
            <a:ext cx="5029200" cy="77724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9">
            <a:extLst>
              <a:ext uri="{FF2B5EF4-FFF2-40B4-BE49-F238E27FC236}">
                <a16:creationId xmlns:a16="http://schemas.microsoft.com/office/drawing/2014/main" id="{8636CBDA-B5FA-2C63-2792-15E58839A6F0}"/>
              </a:ext>
            </a:extLst>
          </p:cNvPr>
          <p:cNvSpPr txBox="1"/>
          <p:nvPr/>
        </p:nvSpPr>
        <p:spPr>
          <a:xfrm>
            <a:off x="13167725" y="2606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📖</a:t>
            </a:r>
          </a:p>
        </p:txBody>
      </p:sp>
      <p:sp>
        <p:nvSpPr>
          <p:cNvPr id="58" name="TextBox 10">
            <a:extLst>
              <a:ext uri="{FF2B5EF4-FFF2-40B4-BE49-F238E27FC236}">
                <a16:creationId xmlns:a16="http://schemas.microsoft.com/office/drawing/2014/main" id="{86FE74C3-A1E1-AFE1-D6B2-934FDC6F4474}"/>
              </a:ext>
            </a:extLst>
          </p:cNvPr>
          <p:cNvSpPr txBox="1"/>
          <p:nvPr/>
        </p:nvSpPr>
        <p:spPr>
          <a:xfrm>
            <a:off x="13807805" y="26060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專業術語定義</a:t>
            </a:r>
          </a:p>
        </p:txBody>
      </p:sp>
      <p:sp>
        <p:nvSpPr>
          <p:cNvPr id="59" name="TextBox 11">
            <a:extLst>
              <a:ext uri="{FF2B5EF4-FFF2-40B4-BE49-F238E27FC236}">
                <a16:creationId xmlns:a16="http://schemas.microsoft.com/office/drawing/2014/main" id="{1AF74503-0252-DDDB-297D-6027A856226A}"/>
              </a:ext>
            </a:extLst>
          </p:cNvPr>
          <p:cNvSpPr txBox="1"/>
          <p:nvPr/>
        </p:nvSpPr>
        <p:spPr>
          <a:xfrm>
            <a:off x="13807805" y="294436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4472C4"/>
                </a:solidFill>
                <a:latin typeface="Microsoft JhengHei"/>
              </a:defRPr>
            </a:pPr>
            <a:r>
              <a:rPr lang="zh-TW" dirty="0">
                <a:solidFill>
                  <a:srgbClr val="4472C4"/>
                </a:solidFill>
              </a:rPr>
              <a:t>AI 要說你的語言</a:t>
            </a:r>
          </a:p>
        </p:txBody>
      </p:sp>
      <p:sp>
        <p:nvSpPr>
          <p:cNvPr id="60" name="Rounded Rectangle 12">
            <a:extLst>
              <a:ext uri="{FF2B5EF4-FFF2-40B4-BE49-F238E27FC236}">
                <a16:creationId xmlns:a16="http://schemas.microsoft.com/office/drawing/2014/main" id="{E0725AD8-86C5-F528-4998-0D1DF859B5CB}"/>
              </a:ext>
            </a:extLst>
          </p:cNvPr>
          <p:cNvSpPr/>
          <p:nvPr/>
        </p:nvSpPr>
        <p:spPr>
          <a:xfrm>
            <a:off x="13076285" y="3474720"/>
            <a:ext cx="5029200" cy="77724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E27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13">
            <a:extLst>
              <a:ext uri="{FF2B5EF4-FFF2-40B4-BE49-F238E27FC236}">
                <a16:creationId xmlns:a16="http://schemas.microsoft.com/office/drawing/2014/main" id="{BF40A9E5-8023-B3F7-716F-187B433AA8F1}"/>
              </a:ext>
            </a:extLst>
          </p:cNvPr>
          <p:cNvSpPr txBox="1"/>
          <p:nvPr/>
        </p:nvSpPr>
        <p:spPr>
          <a:xfrm>
            <a:off x="13167725" y="35204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📏</a:t>
            </a:r>
          </a:p>
        </p:txBody>
      </p:sp>
      <p:sp>
        <p:nvSpPr>
          <p:cNvPr id="62" name="TextBox 14">
            <a:extLst>
              <a:ext uri="{FF2B5EF4-FFF2-40B4-BE49-F238E27FC236}">
                <a16:creationId xmlns:a16="http://schemas.microsoft.com/office/drawing/2014/main" id="{67D26A4F-A7CF-CDB5-DC37-3FAED4F171C6}"/>
              </a:ext>
            </a:extLst>
          </p:cNvPr>
          <p:cNvSpPr txBox="1"/>
          <p:nvPr/>
        </p:nvSpPr>
        <p:spPr>
          <a:xfrm>
            <a:off x="13807805" y="3520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工程規則與數值</a:t>
            </a:r>
          </a:p>
        </p:txBody>
      </p:sp>
      <p:sp>
        <p:nvSpPr>
          <p:cNvPr id="63" name="TextBox 15">
            <a:extLst>
              <a:ext uri="{FF2B5EF4-FFF2-40B4-BE49-F238E27FC236}">
                <a16:creationId xmlns:a16="http://schemas.microsoft.com/office/drawing/2014/main" id="{48608408-6193-0F24-F914-7311D52498D6}"/>
              </a:ext>
            </a:extLst>
          </p:cNvPr>
          <p:cNvSpPr txBox="1"/>
          <p:nvPr/>
        </p:nvSpPr>
        <p:spPr>
          <a:xfrm>
            <a:off x="13807805" y="385876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E27026"/>
                </a:solidFill>
                <a:latin typeface="Microsoft JhengHei"/>
              </a:defRPr>
            </a:pPr>
            <a:r>
              <a:rPr lang="zh-TW" dirty="0">
                <a:solidFill>
                  <a:srgbClr val="E27026"/>
                </a:solidFill>
              </a:rPr>
              <a:t>精確到小數點</a:t>
            </a:r>
          </a:p>
        </p:txBody>
      </p:sp>
      <p:sp>
        <p:nvSpPr>
          <p:cNvPr id="64" name="Rounded Rectangle 16">
            <a:extLst>
              <a:ext uri="{FF2B5EF4-FFF2-40B4-BE49-F238E27FC236}">
                <a16:creationId xmlns:a16="http://schemas.microsoft.com/office/drawing/2014/main" id="{BAF96283-997C-869E-4522-694D4CF09A86}"/>
              </a:ext>
            </a:extLst>
          </p:cNvPr>
          <p:cNvSpPr/>
          <p:nvPr/>
        </p:nvSpPr>
        <p:spPr>
          <a:xfrm>
            <a:off x="13076285" y="4389120"/>
            <a:ext cx="5029200" cy="77724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17">
            <a:extLst>
              <a:ext uri="{FF2B5EF4-FFF2-40B4-BE49-F238E27FC236}">
                <a16:creationId xmlns:a16="http://schemas.microsoft.com/office/drawing/2014/main" id="{2A072BCC-6175-3B1E-1A63-272E86EDE863}"/>
              </a:ext>
            </a:extLst>
          </p:cNvPr>
          <p:cNvSpPr txBox="1"/>
          <p:nvPr/>
        </p:nvSpPr>
        <p:spPr>
          <a:xfrm>
            <a:off x="13167725" y="44348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🔌</a:t>
            </a:r>
          </a:p>
        </p:txBody>
      </p:sp>
      <p:sp>
        <p:nvSpPr>
          <p:cNvPr id="66" name="TextBox 18">
            <a:extLst>
              <a:ext uri="{FF2B5EF4-FFF2-40B4-BE49-F238E27FC236}">
                <a16:creationId xmlns:a16="http://schemas.microsoft.com/office/drawing/2014/main" id="{DEE0360E-AD0C-6098-6E6C-1B073C1743C8}"/>
              </a:ext>
            </a:extLst>
          </p:cNvPr>
          <p:cNvSpPr txBox="1"/>
          <p:nvPr/>
        </p:nvSpPr>
        <p:spPr>
          <a:xfrm>
            <a:off x="13807805" y="4434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軟體 API 用法</a:t>
            </a:r>
          </a:p>
        </p:txBody>
      </p:sp>
      <p:sp>
        <p:nvSpPr>
          <p:cNvPr id="67" name="TextBox 19">
            <a:extLst>
              <a:ext uri="{FF2B5EF4-FFF2-40B4-BE49-F238E27FC236}">
                <a16:creationId xmlns:a16="http://schemas.microsoft.com/office/drawing/2014/main" id="{A5622551-0630-E58A-C26B-D2BC16BA489F}"/>
              </a:ext>
            </a:extLst>
          </p:cNvPr>
          <p:cNvSpPr txBox="1"/>
          <p:nvPr/>
        </p:nvSpPr>
        <p:spPr>
          <a:xfrm>
            <a:off x="13807805" y="477316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rgbClr val="70AD47"/>
                </a:solidFill>
              </a:rPr>
              <a:t>哪些能用、怎麼用</a:t>
            </a:r>
          </a:p>
        </p:txBody>
      </p:sp>
      <p:sp>
        <p:nvSpPr>
          <p:cNvPr id="68" name="Rounded Rectangle 20">
            <a:extLst>
              <a:ext uri="{FF2B5EF4-FFF2-40B4-BE49-F238E27FC236}">
                <a16:creationId xmlns:a16="http://schemas.microsoft.com/office/drawing/2014/main" id="{6B8DB76B-C51B-227C-2829-0B476000DA67}"/>
              </a:ext>
            </a:extLst>
          </p:cNvPr>
          <p:cNvSpPr/>
          <p:nvPr/>
        </p:nvSpPr>
        <p:spPr>
          <a:xfrm>
            <a:off x="13076285" y="5303520"/>
            <a:ext cx="5029200" cy="77724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21">
            <a:extLst>
              <a:ext uri="{FF2B5EF4-FFF2-40B4-BE49-F238E27FC236}">
                <a16:creationId xmlns:a16="http://schemas.microsoft.com/office/drawing/2014/main" id="{A5A867FC-F8DF-A68F-4BDC-36BF0AC4978C}"/>
              </a:ext>
            </a:extLst>
          </p:cNvPr>
          <p:cNvSpPr txBox="1"/>
          <p:nvPr/>
        </p:nvSpPr>
        <p:spPr>
          <a:xfrm>
            <a:off x="13167725" y="53492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🚫</a:t>
            </a:r>
          </a:p>
        </p:txBody>
      </p:sp>
      <p:sp>
        <p:nvSpPr>
          <p:cNvPr id="70" name="TextBox 22">
            <a:extLst>
              <a:ext uri="{FF2B5EF4-FFF2-40B4-BE49-F238E27FC236}">
                <a16:creationId xmlns:a16="http://schemas.microsoft.com/office/drawing/2014/main" id="{E5D73807-F828-098B-AEDA-58ED203DBE32}"/>
              </a:ext>
            </a:extLst>
          </p:cNvPr>
          <p:cNvSpPr txBox="1"/>
          <p:nvPr/>
        </p:nvSpPr>
        <p:spPr>
          <a:xfrm>
            <a:off x="13807805" y="53492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禁止事項</a:t>
            </a:r>
          </a:p>
        </p:txBody>
      </p:sp>
      <p:sp>
        <p:nvSpPr>
          <p:cNvPr id="71" name="TextBox 23">
            <a:extLst>
              <a:ext uri="{FF2B5EF4-FFF2-40B4-BE49-F238E27FC236}">
                <a16:creationId xmlns:a16="http://schemas.microsoft.com/office/drawing/2014/main" id="{28F60A19-1648-7BCA-3337-440AF2E0824C}"/>
              </a:ext>
            </a:extLst>
          </p:cNvPr>
          <p:cNvSpPr txBox="1"/>
          <p:nvPr/>
        </p:nvSpPr>
        <p:spPr>
          <a:xfrm>
            <a:off x="13807805" y="568756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ED7D31"/>
                </a:solidFill>
                <a:latin typeface="Microsoft JhengHei"/>
              </a:defRPr>
            </a:pPr>
            <a:r>
              <a:rPr lang="zh-TW" dirty="0">
                <a:solidFill>
                  <a:srgbClr val="ED7D31"/>
                </a:solidFill>
              </a:rPr>
              <a:t>哪些事絕不能做</a:t>
            </a:r>
          </a:p>
        </p:txBody>
      </p:sp>
      <p:sp>
        <p:nvSpPr>
          <p:cNvPr id="72" name="Rounded Rectangle 24">
            <a:extLst>
              <a:ext uri="{FF2B5EF4-FFF2-40B4-BE49-F238E27FC236}">
                <a16:creationId xmlns:a16="http://schemas.microsoft.com/office/drawing/2014/main" id="{8E41B7BC-25CB-33E3-C727-1D92A11C7737}"/>
              </a:ext>
            </a:extLst>
          </p:cNvPr>
          <p:cNvSpPr/>
          <p:nvPr/>
        </p:nvSpPr>
        <p:spPr>
          <a:xfrm>
            <a:off x="18745565" y="1280160"/>
            <a:ext cx="5303520" cy="484632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25">
            <a:extLst>
              <a:ext uri="{FF2B5EF4-FFF2-40B4-BE49-F238E27FC236}">
                <a16:creationId xmlns:a16="http://schemas.microsoft.com/office/drawing/2014/main" id="{DCE7B8B7-6989-41EF-58D9-933F495B4AF9}"/>
              </a:ext>
            </a:extLst>
          </p:cNvPr>
          <p:cNvSpPr txBox="1"/>
          <p:nvPr/>
        </p:nvSpPr>
        <p:spPr>
          <a:xfrm>
            <a:off x="18928445" y="146304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4472C4"/>
                </a:solidFill>
                <a:latin typeface="Microsoft JhengHei"/>
              </a:defRPr>
            </a:pPr>
            <a:r>
              <a:rPr lang="zh-TW" dirty="0">
                <a:solidFill>
                  <a:srgbClr val="4472C4"/>
                </a:solidFill>
              </a:rPr>
              <a:t>類比：新進員工的 SOP 手冊</a:t>
            </a:r>
          </a:p>
        </p:txBody>
      </p:sp>
      <p:sp>
        <p:nvSpPr>
          <p:cNvPr id="74" name="Rounded Rectangle 26">
            <a:extLst>
              <a:ext uri="{FF2B5EF4-FFF2-40B4-BE49-F238E27FC236}">
                <a16:creationId xmlns:a16="http://schemas.microsoft.com/office/drawing/2014/main" id="{0C3F4CAC-146A-A8EE-7801-F87A338BF5FC}"/>
              </a:ext>
            </a:extLst>
          </p:cNvPr>
          <p:cNvSpPr/>
          <p:nvPr/>
        </p:nvSpPr>
        <p:spPr>
          <a:xfrm>
            <a:off x="19202765" y="2194560"/>
            <a:ext cx="4572000" cy="3611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27">
            <a:extLst>
              <a:ext uri="{FF2B5EF4-FFF2-40B4-BE49-F238E27FC236}">
                <a16:creationId xmlns:a16="http://schemas.microsoft.com/office/drawing/2014/main" id="{BE5CA4C5-43ED-4EF9-A2EA-4EE559765495}"/>
              </a:ext>
            </a:extLst>
          </p:cNvPr>
          <p:cNvSpPr txBox="1"/>
          <p:nvPr/>
        </p:nvSpPr>
        <p:spPr>
          <a:xfrm>
            <a:off x="19385645" y="2377440"/>
            <a:ext cx="4206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E27026"/>
                </a:solidFill>
                <a:latin typeface="Consolas"/>
              </a:defRPr>
            </a:pPr>
            <a:r>
              <a:rPr lang="zh-TW" dirty="0">
                <a:solidFill>
                  <a:srgbClr val="E27026"/>
                </a:solidFill>
              </a:rPr>
              <a:t># 專案說明書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44444"/>
                </a:solidFill>
                <a:latin typeface="Consolas"/>
              </a:defRPr>
            </a:pPr>
            <a:endParaRPr dirty="0"/>
          </a:p>
          <a:p>
            <a:pPr algn="l">
              <a:spcAft>
                <a:spcPts val="400"/>
              </a:spcAft>
              <a:defRPr sz="1600" b="1">
                <a:solidFill>
                  <a:srgbClr val="4472C4"/>
                </a:solidFill>
                <a:latin typeface="Consolas"/>
              </a:defRPr>
            </a:pPr>
            <a:r>
              <a:rPr lang="zh-TW" dirty="0">
                <a:solidFill>
                  <a:srgbClr val="4472C4"/>
                </a:solidFill>
              </a:rPr>
              <a:t>## 術語定義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44546A"/>
                </a:solidFill>
                <a:latin typeface="Consolas"/>
              </a:defRPr>
            </a:pPr>
            <a:r>
              <a:rPr lang="zh-TW" dirty="0">
                <a:solidFill>
                  <a:srgbClr val="44546A"/>
                </a:solidFill>
              </a:rPr>
              <a:t>- 上構 = 1MF 以上樓層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44546A"/>
                </a:solidFill>
                <a:latin typeface="Consolas"/>
              </a:defRPr>
            </a:pPr>
            <a:r>
              <a:rPr lang="zh-TW" dirty="0">
                <a:solidFill>
                  <a:srgbClr val="44546A"/>
                </a:solidFill>
              </a:rPr>
              <a:t>- 下構 = B*F, 1F, BASE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44444"/>
                </a:solidFill>
                <a:latin typeface="Consolas"/>
              </a:defRPr>
            </a:pPr>
            <a:endParaRPr dirty="0"/>
          </a:p>
          <a:p>
            <a:pPr algn="l">
              <a:spcAft>
                <a:spcPts val="400"/>
              </a:spcAft>
              <a:defRPr sz="1600" b="1">
                <a:solidFill>
                  <a:srgbClr val="4472C4"/>
                </a:solidFill>
                <a:latin typeface="Consolas"/>
              </a:defRPr>
            </a:pPr>
            <a:r>
              <a:rPr lang="zh-TW" dirty="0">
                <a:solidFill>
                  <a:srgbClr val="4472C4"/>
                </a:solidFill>
              </a:rPr>
              <a:t>## 工程規則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44546A"/>
                </a:solidFill>
                <a:latin typeface="Consolas"/>
              </a:defRPr>
            </a:pPr>
            <a:r>
              <a:rPr lang="zh-TW" dirty="0">
                <a:solidFill>
                  <a:srgbClr val="44546A"/>
                </a:solidFill>
              </a:rPr>
              <a:t>- Rigid Zone = 0.75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44546A"/>
                </a:solidFill>
                <a:latin typeface="Consolas"/>
              </a:defRPr>
            </a:pPr>
            <a:r>
              <a:rPr lang="zh-TW" dirty="0">
                <a:solidFill>
                  <a:srgbClr val="44546A"/>
                </a:solidFill>
              </a:rPr>
              <a:t>- 柱保護層 = 7cm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44444"/>
                </a:solidFill>
                <a:latin typeface="Consolas"/>
              </a:defRPr>
            </a:pPr>
            <a:endParaRPr dirty="0"/>
          </a:p>
          <a:p>
            <a:pPr algn="l">
              <a:spcAft>
                <a:spcPts val="400"/>
              </a:spcAft>
              <a:defRPr sz="1600" b="1">
                <a:solidFill>
                  <a:srgbClr val="ED7D31"/>
                </a:solidFill>
                <a:latin typeface="Consolas"/>
              </a:defRPr>
            </a:pPr>
            <a:r>
              <a:rPr lang="zh-TW" dirty="0">
                <a:solidFill>
                  <a:srgbClr val="ED7D31"/>
                </a:solidFill>
              </a:rPr>
              <a:t>## 禁止事項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44546A"/>
                </a:solidFill>
                <a:latin typeface="Consolas"/>
              </a:defRPr>
            </a:pPr>
            <a:r>
              <a:rPr lang="zh-TW" dirty="0">
                <a:solidFill>
                  <a:srgbClr val="44546A"/>
                </a:solidFill>
              </a:rPr>
              <a:t>- 小梁位置不可用猜的</a:t>
            </a:r>
          </a:p>
        </p:txBody>
      </p:sp>
      <p:sp>
        <p:nvSpPr>
          <p:cNvPr id="76" name="TextBox 28">
            <a:extLst>
              <a:ext uri="{FF2B5EF4-FFF2-40B4-BE49-F238E27FC236}">
                <a16:creationId xmlns:a16="http://schemas.microsoft.com/office/drawing/2014/main" id="{3F8BAEFD-04B5-E482-874F-0AC2AA9CB6F6}"/>
              </a:ext>
            </a:extLst>
          </p:cNvPr>
          <p:cNvSpPr txBox="1"/>
          <p:nvPr/>
        </p:nvSpPr>
        <p:spPr>
          <a:xfrm>
            <a:off x="18928445" y="63093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000000"/>
                </a:solidFill>
                <a:latin typeface="Microsoft JhengHei"/>
              </a:defRPr>
            </a:pPr>
            <a:r>
              <a:rPr lang="zh-TW" dirty="0">
                <a:solidFill>
                  <a:srgbClr val="000000"/>
                </a:solidFill>
              </a:rPr>
              <a:t>📋 還沒上工就先讀手冊 → AI 每次啟動先讀這份</a:t>
            </a:r>
          </a:p>
        </p:txBody>
      </p:sp>
    </p:spTree>
    <p:extLst>
      <p:ext uri="{BB962C8B-B14F-4D97-AF65-F5344CB8AC3E}">
        <p14:creationId xmlns:p14="http://schemas.microsoft.com/office/powerpoint/2010/main" val="13397891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B5DC5-3EEE-AEAA-2597-60367C0AF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92EFDAF-FE5A-D7B3-CA82-DA036D5C6394}"/>
              </a:ext>
            </a:extLst>
          </p:cNvPr>
          <p:cNvSpPr/>
          <p:nvPr/>
        </p:nvSpPr>
        <p:spPr>
          <a:xfrm>
            <a:off x="548640" y="411480"/>
            <a:ext cx="1097280" cy="54864"/>
          </a:xfrm>
          <a:prstGeom prst="rect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CE84E9-C8F0-FC04-87AD-529C9DF5528D}"/>
              </a:ext>
            </a:extLst>
          </p:cNvPr>
          <p:cNvSpPr txBox="1"/>
          <p:nvPr/>
        </p:nvSpPr>
        <p:spPr>
          <a:xfrm>
            <a:off x="548640" y="502920"/>
            <a:ext cx="7772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第 2 層：一鍵啟動完整流程</a:t>
            </a:r>
            <a:r>
              <a:rPr lang="en-US" altLang="zh-TW" dirty="0">
                <a:solidFill>
                  <a:srgbClr val="000000"/>
                </a:solidFill>
              </a:rPr>
              <a:t>/COMMAND</a:t>
            </a:r>
            <a:endParaRPr lang="zh-TW" dirty="0">
              <a:solidFill>
                <a:srgbClr val="444444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D63FB6-936A-D167-6F54-F36D95A34BB9}"/>
              </a:ext>
            </a:extLst>
          </p:cNvPr>
          <p:cNvSpPr txBox="1"/>
          <p:nvPr/>
        </p:nvSpPr>
        <p:spPr>
          <a:xfrm>
            <a:off x="9601200" y="411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概念篇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D247865-A62C-1CB2-0463-9B2F0FF8FA52}"/>
              </a:ext>
            </a:extLst>
          </p:cNvPr>
          <p:cNvSpPr/>
          <p:nvPr/>
        </p:nvSpPr>
        <p:spPr>
          <a:xfrm>
            <a:off x="10744200" y="335661"/>
            <a:ext cx="457200" cy="457200"/>
          </a:xfrm>
          <a:prstGeom prst="ellipse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72C0AF-A835-762B-5F46-243540BA1813}"/>
              </a:ext>
            </a:extLst>
          </p:cNvPr>
          <p:cNvSpPr txBox="1"/>
          <p:nvPr/>
        </p:nvSpPr>
        <p:spPr>
          <a:xfrm>
            <a:off x="10744200" y="381381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FC8925-0F15-EDC6-52AA-9A3297ECA5EF}"/>
              </a:ext>
            </a:extLst>
          </p:cNvPr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6 / 16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6D7B9EC-3D98-0630-D8B7-DC3CEC52F846}"/>
              </a:ext>
            </a:extLst>
          </p:cNvPr>
          <p:cNvSpPr/>
          <p:nvPr/>
        </p:nvSpPr>
        <p:spPr>
          <a:xfrm>
            <a:off x="301751" y="1417033"/>
            <a:ext cx="2286000" cy="583693"/>
          </a:xfrm>
          <a:prstGeom prst="roundRect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92617D-0856-188D-249C-20D2DDEA0EDB}"/>
              </a:ext>
            </a:extLst>
          </p:cNvPr>
          <p:cNvSpPr txBox="1"/>
          <p:nvPr/>
        </p:nvSpPr>
        <p:spPr>
          <a:xfrm>
            <a:off x="283463" y="1507058"/>
            <a:ext cx="2286000" cy="309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444444"/>
                </a:solidFill>
                <a:latin typeface="Microsoft JhengHei"/>
              </a:defRPr>
            </a:pPr>
            <a:r>
              <a:rPr lang="zh-TW" sz="2400" dirty="0">
                <a:solidFill>
                  <a:srgbClr val="444444"/>
                </a:solidFill>
              </a:rPr>
              <a:t>▶ START</a:t>
            </a:r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311651EF-FBB8-B515-E170-93F9CE1ED4AA}"/>
              </a:ext>
            </a:extLst>
          </p:cNvPr>
          <p:cNvSpPr/>
          <p:nvPr/>
        </p:nvSpPr>
        <p:spPr>
          <a:xfrm rot="5400000">
            <a:off x="1259931" y="2016306"/>
            <a:ext cx="369639" cy="457200"/>
          </a:xfrm>
          <a:prstGeom prst="rightArrow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D576763-DBDE-79FA-D7F8-E16308480236}"/>
              </a:ext>
            </a:extLst>
          </p:cNvPr>
          <p:cNvSpPr/>
          <p:nvPr/>
        </p:nvSpPr>
        <p:spPr>
          <a:xfrm>
            <a:off x="557783" y="2468187"/>
            <a:ext cx="1737360" cy="8280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F98F81-EEE1-893D-0412-DD04A91E95E2}"/>
              </a:ext>
            </a:extLst>
          </p:cNvPr>
          <p:cNvSpPr txBox="1"/>
          <p:nvPr/>
        </p:nvSpPr>
        <p:spPr>
          <a:xfrm>
            <a:off x="603502" y="2538291"/>
            <a:ext cx="1645920" cy="280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472C4"/>
                </a:solidFill>
                <a:latin typeface="Microsoft JhengHei"/>
              </a:defRPr>
            </a:pPr>
            <a:r>
              <a:rPr lang="zh-TW" dirty="0">
                <a:solidFill>
                  <a:srgbClr val="4472C4"/>
                </a:solidFill>
              </a:rPr>
              <a:t>Phase 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FDB31B-1CDD-C029-F4C0-747BA223C24C}"/>
              </a:ext>
            </a:extLst>
          </p:cNvPr>
          <p:cNvSpPr txBox="1"/>
          <p:nvPr/>
        </p:nvSpPr>
        <p:spPr>
          <a:xfrm>
            <a:off x="603502" y="2888811"/>
            <a:ext cx="1645920" cy="35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參數檢查</a:t>
            </a:r>
          </a:p>
        </p:txBody>
      </p:sp>
      <p:sp>
        <p:nvSpPr>
          <p:cNvPr id="15" name="Right Arrow 14">
            <a:extLst>
              <a:ext uri="{FF2B5EF4-FFF2-40B4-BE49-F238E27FC236}">
                <a16:creationId xmlns:a16="http://schemas.microsoft.com/office/drawing/2014/main" id="{AD8A09E9-B136-1E5D-9717-857506CFDFE4}"/>
              </a:ext>
            </a:extLst>
          </p:cNvPr>
          <p:cNvSpPr/>
          <p:nvPr/>
        </p:nvSpPr>
        <p:spPr>
          <a:xfrm rot="5400000">
            <a:off x="1357882" y="3307617"/>
            <a:ext cx="137160" cy="228600"/>
          </a:xfrm>
          <a:prstGeom prst="rightArrow">
            <a:avLst/>
          </a:prstGeom>
          <a:solidFill>
            <a:srgbClr val="445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05DB0DC-5FFF-F358-44B4-CD1ABC5E6BCB}"/>
              </a:ext>
            </a:extLst>
          </p:cNvPr>
          <p:cNvSpPr/>
          <p:nvPr/>
        </p:nvSpPr>
        <p:spPr>
          <a:xfrm>
            <a:off x="557783" y="3505912"/>
            <a:ext cx="1737360" cy="8280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E27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830DFFD-F7B1-BA7A-2A1F-BEB23BCCB1E5}"/>
              </a:ext>
            </a:extLst>
          </p:cNvPr>
          <p:cNvSpPr txBox="1"/>
          <p:nvPr/>
        </p:nvSpPr>
        <p:spPr>
          <a:xfrm>
            <a:off x="603503" y="3576016"/>
            <a:ext cx="1645920" cy="280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27026"/>
                </a:solidFill>
                <a:latin typeface="Microsoft JhengHei"/>
              </a:defRPr>
            </a:pPr>
            <a:r>
              <a:rPr lang="zh-TW" dirty="0">
                <a:solidFill>
                  <a:srgbClr val="E27026"/>
                </a:solidFill>
              </a:rPr>
              <a:t>Phase 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E4602DC-4E03-FD16-5232-C241E2757766}"/>
              </a:ext>
            </a:extLst>
          </p:cNvPr>
          <p:cNvSpPr txBox="1"/>
          <p:nvPr/>
        </p:nvSpPr>
        <p:spPr>
          <a:xfrm>
            <a:off x="603503" y="3926536"/>
            <a:ext cx="1645920" cy="35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召集團隊</a:t>
            </a:r>
          </a:p>
        </p:txBody>
      </p:sp>
      <p:sp>
        <p:nvSpPr>
          <p:cNvPr id="20" name="Right Arrow 19">
            <a:extLst>
              <a:ext uri="{FF2B5EF4-FFF2-40B4-BE49-F238E27FC236}">
                <a16:creationId xmlns:a16="http://schemas.microsoft.com/office/drawing/2014/main" id="{2B13BE03-2DD3-71AC-AE4D-139A4009899C}"/>
              </a:ext>
            </a:extLst>
          </p:cNvPr>
          <p:cNvSpPr/>
          <p:nvPr/>
        </p:nvSpPr>
        <p:spPr>
          <a:xfrm rot="5400000">
            <a:off x="1357882" y="4330171"/>
            <a:ext cx="137160" cy="228600"/>
          </a:xfrm>
          <a:prstGeom prst="rightArrow">
            <a:avLst/>
          </a:prstGeom>
          <a:solidFill>
            <a:srgbClr val="445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B71A17F5-4E35-560A-B443-3D7E6A3AD725}"/>
              </a:ext>
            </a:extLst>
          </p:cNvPr>
          <p:cNvSpPr/>
          <p:nvPr/>
        </p:nvSpPr>
        <p:spPr>
          <a:xfrm>
            <a:off x="548640" y="4543637"/>
            <a:ext cx="1737360" cy="8280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B16B63A-2CE2-15EC-1DFF-12D14FFE3488}"/>
              </a:ext>
            </a:extLst>
          </p:cNvPr>
          <p:cNvSpPr txBox="1"/>
          <p:nvPr/>
        </p:nvSpPr>
        <p:spPr>
          <a:xfrm>
            <a:off x="594360" y="4613741"/>
            <a:ext cx="1645920" cy="280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rgbClr val="70AD47"/>
                </a:solidFill>
              </a:rPr>
              <a:t>Phase 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1FFC0A4-3879-FFF2-F460-6C696985936B}"/>
              </a:ext>
            </a:extLst>
          </p:cNvPr>
          <p:cNvSpPr txBox="1"/>
          <p:nvPr/>
        </p:nvSpPr>
        <p:spPr>
          <a:xfrm>
            <a:off x="594360" y="4964261"/>
            <a:ext cx="1645920" cy="35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依序執行</a:t>
            </a:r>
          </a:p>
        </p:txBody>
      </p:sp>
      <p:sp>
        <p:nvSpPr>
          <p:cNvPr id="25" name="Right Arrow 24">
            <a:extLst>
              <a:ext uri="{FF2B5EF4-FFF2-40B4-BE49-F238E27FC236}">
                <a16:creationId xmlns:a16="http://schemas.microsoft.com/office/drawing/2014/main" id="{2455A684-56E2-6D75-3083-1266C6B604EA}"/>
              </a:ext>
            </a:extLst>
          </p:cNvPr>
          <p:cNvSpPr/>
          <p:nvPr/>
        </p:nvSpPr>
        <p:spPr>
          <a:xfrm rot="5400000">
            <a:off x="1348740" y="5393079"/>
            <a:ext cx="137160" cy="228600"/>
          </a:xfrm>
          <a:prstGeom prst="rightArrow">
            <a:avLst/>
          </a:prstGeom>
          <a:solidFill>
            <a:srgbClr val="445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F97BF2BC-A26E-D242-510A-4EFCF13C87F3}"/>
              </a:ext>
            </a:extLst>
          </p:cNvPr>
          <p:cNvSpPr/>
          <p:nvPr/>
        </p:nvSpPr>
        <p:spPr>
          <a:xfrm>
            <a:off x="548640" y="5581362"/>
            <a:ext cx="1737360" cy="8280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B47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77ED783-0EDF-A1E2-8149-B1F1702CD1AA}"/>
              </a:ext>
            </a:extLst>
          </p:cNvPr>
          <p:cNvSpPr txBox="1"/>
          <p:nvPr/>
        </p:nvSpPr>
        <p:spPr>
          <a:xfrm>
            <a:off x="594360" y="5651466"/>
            <a:ext cx="1645920" cy="280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B47EFF"/>
                </a:solidFill>
                <a:latin typeface="Microsoft JhengHei"/>
              </a:defRPr>
            </a:pPr>
            <a:r>
              <a:rPr lang="zh-TW" dirty="0">
                <a:solidFill>
                  <a:srgbClr val="B47EFF"/>
                </a:solidFill>
              </a:rPr>
              <a:t>Phase 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ACAD604-5249-AB91-754B-CB22A7B7080B}"/>
              </a:ext>
            </a:extLst>
          </p:cNvPr>
          <p:cNvSpPr txBox="1"/>
          <p:nvPr/>
        </p:nvSpPr>
        <p:spPr>
          <a:xfrm>
            <a:off x="594360" y="6001986"/>
            <a:ext cx="1645920" cy="35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品質驗收</a:t>
            </a:r>
          </a:p>
        </p:txBody>
      </p:sp>
      <p:pic>
        <p:nvPicPr>
          <p:cNvPr id="41" name="圖片 40">
            <a:extLst>
              <a:ext uri="{FF2B5EF4-FFF2-40B4-BE49-F238E27FC236}">
                <a16:creationId xmlns:a16="http://schemas.microsoft.com/office/drawing/2014/main" id="{2699E060-2BC0-F57D-616C-FA18DACBFF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2946" y="1560239"/>
            <a:ext cx="4197793" cy="4592386"/>
          </a:xfrm>
          <a:prstGeom prst="rect">
            <a:avLst/>
          </a:prstGeom>
        </p:spPr>
      </p:pic>
      <p:pic>
        <p:nvPicPr>
          <p:cNvPr id="39" name="圖片 38">
            <a:extLst>
              <a:ext uri="{FF2B5EF4-FFF2-40B4-BE49-F238E27FC236}">
                <a16:creationId xmlns:a16="http://schemas.microsoft.com/office/drawing/2014/main" id="{13956BB5-63C1-4FCA-0B49-618675E94E1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7557"/>
          <a:stretch>
            <a:fillRect/>
          </a:stretch>
        </p:blipFill>
        <p:spPr>
          <a:xfrm>
            <a:off x="2858246" y="1826227"/>
            <a:ext cx="4919837" cy="4060410"/>
          </a:xfrm>
          <a:prstGeom prst="rect">
            <a:avLst/>
          </a:prstGeom>
        </p:spPr>
      </p:pic>
      <p:sp>
        <p:nvSpPr>
          <p:cNvPr id="42" name="Rounded Rectangle 7">
            <a:extLst>
              <a:ext uri="{FF2B5EF4-FFF2-40B4-BE49-F238E27FC236}">
                <a16:creationId xmlns:a16="http://schemas.microsoft.com/office/drawing/2014/main" id="{D2FD4C09-10CD-A898-1D1F-35A62DFD095F}"/>
              </a:ext>
            </a:extLst>
          </p:cNvPr>
          <p:cNvSpPr/>
          <p:nvPr/>
        </p:nvSpPr>
        <p:spPr>
          <a:xfrm>
            <a:off x="-11563335" y="1821892"/>
            <a:ext cx="3474720" cy="292608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8">
            <a:extLst>
              <a:ext uri="{FF2B5EF4-FFF2-40B4-BE49-F238E27FC236}">
                <a16:creationId xmlns:a16="http://schemas.microsoft.com/office/drawing/2014/main" id="{505B5904-9EAF-EA46-9F2A-C368D7AB7B4A}"/>
              </a:ext>
            </a:extLst>
          </p:cNvPr>
          <p:cNvSpPr txBox="1"/>
          <p:nvPr/>
        </p:nvSpPr>
        <p:spPr>
          <a:xfrm>
            <a:off x="-11471895" y="2004772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🔍</a:t>
            </a:r>
          </a:p>
        </p:txBody>
      </p:sp>
      <p:sp>
        <p:nvSpPr>
          <p:cNvPr id="44" name="TextBox 9">
            <a:extLst>
              <a:ext uri="{FF2B5EF4-FFF2-40B4-BE49-F238E27FC236}">
                <a16:creationId xmlns:a16="http://schemas.microsoft.com/office/drawing/2014/main" id="{90508670-722A-0BE3-403C-92E12B81A671}"/>
              </a:ext>
            </a:extLst>
          </p:cNvPr>
          <p:cNvSpPr txBox="1"/>
          <p:nvPr/>
        </p:nvSpPr>
        <p:spPr>
          <a:xfrm>
            <a:off x="-11471895" y="2736292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4472C4"/>
                </a:solidFill>
                <a:latin typeface="Microsoft JhengHei"/>
              </a:defRPr>
            </a:pPr>
            <a:r>
              <a:rPr lang="zh-TW" dirty="0">
                <a:solidFill>
                  <a:srgbClr val="4472C4"/>
                </a:solidFill>
              </a:rPr>
              <a:t>讀圖專家</a:t>
            </a:r>
          </a:p>
        </p:txBody>
      </p:sp>
      <p:sp>
        <p:nvSpPr>
          <p:cNvPr id="45" name="Rectangle 10">
            <a:extLst>
              <a:ext uri="{FF2B5EF4-FFF2-40B4-BE49-F238E27FC236}">
                <a16:creationId xmlns:a16="http://schemas.microsoft.com/office/drawing/2014/main" id="{0859CCE5-DA48-1F21-1E63-5BBF1F157632}"/>
              </a:ext>
            </a:extLst>
          </p:cNvPr>
          <p:cNvSpPr/>
          <p:nvPr/>
        </p:nvSpPr>
        <p:spPr>
          <a:xfrm>
            <a:off x="-11014695" y="3376372"/>
            <a:ext cx="2377440" cy="27432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11">
            <a:extLst>
              <a:ext uri="{FF2B5EF4-FFF2-40B4-BE49-F238E27FC236}">
                <a16:creationId xmlns:a16="http://schemas.microsoft.com/office/drawing/2014/main" id="{F62C2141-32A8-4231-49DE-8982C5CB48C4}"/>
              </a:ext>
            </a:extLst>
          </p:cNvPr>
          <p:cNvSpPr txBox="1"/>
          <p:nvPr/>
        </p:nvSpPr>
        <p:spPr>
          <a:xfrm>
            <a:off x="-11380455" y="3559252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判讀圖紙、辨識構件</a:t>
            </a:r>
            <a:br/>
            <a:r>
              <a:rPr lang="zh-TW" dirty="0">
                <a:solidFill>
                  <a:srgbClr val="555555"/>
                </a:solidFill>
              </a:rPr>
              <a:t>理解設計意圖</a:t>
            </a:r>
          </a:p>
        </p:txBody>
      </p:sp>
      <p:sp>
        <p:nvSpPr>
          <p:cNvPr id="47" name="Rounded Rectangle 12">
            <a:extLst>
              <a:ext uri="{FF2B5EF4-FFF2-40B4-BE49-F238E27FC236}">
                <a16:creationId xmlns:a16="http://schemas.microsoft.com/office/drawing/2014/main" id="{F752018E-17EB-B9F5-AFCA-4F28A17671E2}"/>
              </a:ext>
            </a:extLst>
          </p:cNvPr>
          <p:cNvSpPr/>
          <p:nvPr/>
        </p:nvSpPr>
        <p:spPr>
          <a:xfrm>
            <a:off x="-7722855" y="1821892"/>
            <a:ext cx="3474720" cy="292608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E27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13">
            <a:extLst>
              <a:ext uri="{FF2B5EF4-FFF2-40B4-BE49-F238E27FC236}">
                <a16:creationId xmlns:a16="http://schemas.microsoft.com/office/drawing/2014/main" id="{1F899F1F-22CA-EC2D-30C8-5778A252D4A5}"/>
              </a:ext>
            </a:extLst>
          </p:cNvPr>
          <p:cNvSpPr txBox="1"/>
          <p:nvPr/>
        </p:nvSpPr>
        <p:spPr>
          <a:xfrm>
            <a:off x="-7631415" y="2004772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📐</a:t>
            </a:r>
          </a:p>
        </p:txBody>
      </p:sp>
      <p:sp>
        <p:nvSpPr>
          <p:cNvPr id="49" name="TextBox 14">
            <a:extLst>
              <a:ext uri="{FF2B5EF4-FFF2-40B4-BE49-F238E27FC236}">
                <a16:creationId xmlns:a16="http://schemas.microsoft.com/office/drawing/2014/main" id="{ED7BDA7E-3BE8-2243-8A3D-D0FD4D2734B2}"/>
              </a:ext>
            </a:extLst>
          </p:cNvPr>
          <p:cNvSpPr txBox="1"/>
          <p:nvPr/>
        </p:nvSpPr>
        <p:spPr>
          <a:xfrm>
            <a:off x="-7631415" y="2736292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E27026"/>
                </a:solidFill>
                <a:latin typeface="Microsoft JhengHei"/>
              </a:defRPr>
            </a:pPr>
            <a:r>
              <a:rPr lang="zh-TW" dirty="0">
                <a:solidFill>
                  <a:srgbClr val="E27026"/>
                </a:solidFill>
              </a:rPr>
              <a:t>定位專家</a:t>
            </a:r>
          </a:p>
        </p:txBody>
      </p:sp>
      <p:sp>
        <p:nvSpPr>
          <p:cNvPr id="50" name="Rectangle 15">
            <a:extLst>
              <a:ext uri="{FF2B5EF4-FFF2-40B4-BE49-F238E27FC236}">
                <a16:creationId xmlns:a16="http://schemas.microsoft.com/office/drawing/2014/main" id="{DD4AB87E-9DDD-0A67-4AC0-4A983780EEFE}"/>
              </a:ext>
            </a:extLst>
          </p:cNvPr>
          <p:cNvSpPr/>
          <p:nvPr/>
        </p:nvSpPr>
        <p:spPr>
          <a:xfrm>
            <a:off x="-7174215" y="3376372"/>
            <a:ext cx="2377440" cy="27432"/>
          </a:xfrm>
          <a:prstGeom prst="rect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16">
            <a:extLst>
              <a:ext uri="{FF2B5EF4-FFF2-40B4-BE49-F238E27FC236}">
                <a16:creationId xmlns:a16="http://schemas.microsoft.com/office/drawing/2014/main" id="{D00C82B4-4F05-B1CE-D8D3-C64D4FE61397}"/>
              </a:ext>
            </a:extLst>
          </p:cNvPr>
          <p:cNvSpPr txBox="1"/>
          <p:nvPr/>
        </p:nvSpPr>
        <p:spPr>
          <a:xfrm>
            <a:off x="-7539975" y="3559252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精準定位座標</a:t>
            </a:r>
            <a:br/>
            <a:r>
              <a:rPr lang="zh-TW" dirty="0">
                <a:solidFill>
                  <a:srgbClr val="555555"/>
                </a:solidFill>
              </a:rPr>
              <a:t>驗證幾何合理性</a:t>
            </a:r>
          </a:p>
        </p:txBody>
      </p:sp>
      <p:sp>
        <p:nvSpPr>
          <p:cNvPr id="52" name="Rounded Rectangle 17">
            <a:extLst>
              <a:ext uri="{FF2B5EF4-FFF2-40B4-BE49-F238E27FC236}">
                <a16:creationId xmlns:a16="http://schemas.microsoft.com/office/drawing/2014/main" id="{5EABF56A-4171-7C0F-8F92-274CBA0134C3}"/>
              </a:ext>
            </a:extLst>
          </p:cNvPr>
          <p:cNvSpPr/>
          <p:nvPr/>
        </p:nvSpPr>
        <p:spPr>
          <a:xfrm>
            <a:off x="-3882375" y="1821892"/>
            <a:ext cx="3474720" cy="292608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18">
            <a:extLst>
              <a:ext uri="{FF2B5EF4-FFF2-40B4-BE49-F238E27FC236}">
                <a16:creationId xmlns:a16="http://schemas.microsoft.com/office/drawing/2014/main" id="{9D4007D4-A8F5-46B7-F02D-95D5B3FDB8AD}"/>
              </a:ext>
            </a:extLst>
          </p:cNvPr>
          <p:cNvSpPr txBox="1"/>
          <p:nvPr/>
        </p:nvSpPr>
        <p:spPr>
          <a:xfrm>
            <a:off x="-3790935" y="2004772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📋</a:t>
            </a:r>
          </a:p>
        </p:txBody>
      </p:sp>
      <p:sp>
        <p:nvSpPr>
          <p:cNvPr id="54" name="TextBox 19">
            <a:extLst>
              <a:ext uri="{FF2B5EF4-FFF2-40B4-BE49-F238E27FC236}">
                <a16:creationId xmlns:a16="http://schemas.microsoft.com/office/drawing/2014/main" id="{8328DDFC-0ABF-C41C-D633-EA446D9F5959}"/>
              </a:ext>
            </a:extLst>
          </p:cNvPr>
          <p:cNvSpPr txBox="1"/>
          <p:nvPr/>
        </p:nvSpPr>
        <p:spPr>
          <a:xfrm>
            <a:off x="-3790935" y="2736292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rgbClr val="70AD47"/>
                </a:solidFill>
              </a:rPr>
              <a:t>整合專家</a:t>
            </a:r>
          </a:p>
        </p:txBody>
      </p:sp>
      <p:sp>
        <p:nvSpPr>
          <p:cNvPr id="55" name="Rectangle 20">
            <a:extLst>
              <a:ext uri="{FF2B5EF4-FFF2-40B4-BE49-F238E27FC236}">
                <a16:creationId xmlns:a16="http://schemas.microsoft.com/office/drawing/2014/main" id="{2A4CDB1E-B73D-7E53-2B3C-BD120E851965}"/>
              </a:ext>
            </a:extLst>
          </p:cNvPr>
          <p:cNvSpPr/>
          <p:nvPr/>
        </p:nvSpPr>
        <p:spPr>
          <a:xfrm>
            <a:off x="-3333735" y="3376372"/>
            <a:ext cx="2377440" cy="27432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21">
            <a:extLst>
              <a:ext uri="{FF2B5EF4-FFF2-40B4-BE49-F238E27FC236}">
                <a16:creationId xmlns:a16="http://schemas.microsoft.com/office/drawing/2014/main" id="{183D2371-2F4F-A4A8-397F-0A4C78E3F498}"/>
              </a:ext>
            </a:extLst>
          </p:cNvPr>
          <p:cNvSpPr txBox="1"/>
          <p:nvPr/>
        </p:nvSpPr>
        <p:spPr>
          <a:xfrm>
            <a:off x="-3699495" y="3559252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彙整所有資訊</a:t>
            </a:r>
            <a:br/>
            <a:r>
              <a:rPr lang="zh-TW" dirty="0">
                <a:solidFill>
                  <a:srgbClr val="555555"/>
                </a:solidFill>
              </a:rPr>
              <a:t>產出標準化規格書</a:t>
            </a:r>
          </a:p>
        </p:txBody>
      </p:sp>
      <p:sp>
        <p:nvSpPr>
          <p:cNvPr id="58" name="TextBox 23">
            <a:extLst>
              <a:ext uri="{FF2B5EF4-FFF2-40B4-BE49-F238E27FC236}">
                <a16:creationId xmlns:a16="http://schemas.microsoft.com/office/drawing/2014/main" id="{7F02607A-5C2E-3E11-BC2D-C5FC617C6336}"/>
              </a:ext>
            </a:extLst>
          </p:cNvPr>
          <p:cNvSpPr txBox="1"/>
          <p:nvPr/>
        </p:nvSpPr>
        <p:spPr>
          <a:xfrm>
            <a:off x="-8042895" y="31020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◀▶</a:t>
            </a:r>
          </a:p>
        </p:txBody>
      </p:sp>
      <p:sp>
        <p:nvSpPr>
          <p:cNvPr id="60" name="TextBox 25">
            <a:extLst>
              <a:ext uri="{FF2B5EF4-FFF2-40B4-BE49-F238E27FC236}">
                <a16:creationId xmlns:a16="http://schemas.microsoft.com/office/drawing/2014/main" id="{8EF34EF9-9A5E-B2C6-6A53-765E458E6982}"/>
              </a:ext>
            </a:extLst>
          </p:cNvPr>
          <p:cNvSpPr txBox="1"/>
          <p:nvPr/>
        </p:nvSpPr>
        <p:spPr>
          <a:xfrm>
            <a:off x="-4202415" y="31020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◀▶</a:t>
            </a:r>
          </a:p>
        </p:txBody>
      </p:sp>
      <p:sp>
        <p:nvSpPr>
          <p:cNvPr id="61" name="Rounded Rectangle 26">
            <a:extLst>
              <a:ext uri="{FF2B5EF4-FFF2-40B4-BE49-F238E27FC236}">
                <a16:creationId xmlns:a16="http://schemas.microsoft.com/office/drawing/2014/main" id="{6BA620ED-CF31-D4D4-5ED6-0CB49265869B}"/>
              </a:ext>
            </a:extLst>
          </p:cNvPr>
          <p:cNvSpPr/>
          <p:nvPr/>
        </p:nvSpPr>
        <p:spPr>
          <a:xfrm>
            <a:off x="-11563335" y="5113732"/>
            <a:ext cx="3474720" cy="7772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27">
            <a:extLst>
              <a:ext uri="{FF2B5EF4-FFF2-40B4-BE49-F238E27FC236}">
                <a16:creationId xmlns:a16="http://schemas.microsoft.com/office/drawing/2014/main" id="{7EE23781-BD87-67BB-149D-C019A083BA7F}"/>
              </a:ext>
            </a:extLst>
          </p:cNvPr>
          <p:cNvSpPr txBox="1"/>
          <p:nvPr/>
        </p:nvSpPr>
        <p:spPr>
          <a:xfrm>
            <a:off x="-11426175" y="51594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27026"/>
                </a:solidFill>
                <a:latin typeface="Microsoft JhengHei"/>
              </a:defRPr>
            </a:pPr>
            <a:r>
              <a:rPr lang="zh-TW" dirty="0">
                <a:solidFill>
                  <a:srgbClr val="E27026"/>
                </a:solidFill>
              </a:rPr>
              <a:t>🎭  角色定義</a:t>
            </a:r>
          </a:p>
        </p:txBody>
      </p:sp>
      <p:sp>
        <p:nvSpPr>
          <p:cNvPr id="63" name="TextBox 28">
            <a:extLst>
              <a:ext uri="{FF2B5EF4-FFF2-40B4-BE49-F238E27FC236}">
                <a16:creationId xmlns:a16="http://schemas.microsoft.com/office/drawing/2014/main" id="{9614E0CB-A6B2-8BE0-16C0-EB8DDAF6B53E}"/>
              </a:ext>
            </a:extLst>
          </p:cNvPr>
          <p:cNvSpPr txBox="1"/>
          <p:nvPr/>
        </p:nvSpPr>
        <p:spPr>
          <a:xfrm>
            <a:off x="-11426175" y="547949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每位專家只負責自己擅長的事</a:t>
            </a:r>
          </a:p>
        </p:txBody>
      </p:sp>
      <p:sp>
        <p:nvSpPr>
          <p:cNvPr id="64" name="Rounded Rectangle 29">
            <a:extLst>
              <a:ext uri="{FF2B5EF4-FFF2-40B4-BE49-F238E27FC236}">
                <a16:creationId xmlns:a16="http://schemas.microsoft.com/office/drawing/2014/main" id="{FB661926-F515-0776-6CD9-0256ABCD8489}"/>
              </a:ext>
            </a:extLst>
          </p:cNvPr>
          <p:cNvSpPr/>
          <p:nvPr/>
        </p:nvSpPr>
        <p:spPr>
          <a:xfrm>
            <a:off x="-7722855" y="5113732"/>
            <a:ext cx="3474720" cy="7772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30">
            <a:extLst>
              <a:ext uri="{FF2B5EF4-FFF2-40B4-BE49-F238E27FC236}">
                <a16:creationId xmlns:a16="http://schemas.microsoft.com/office/drawing/2014/main" id="{160B0584-FF8E-C60A-79D8-F43F1E812EF4}"/>
              </a:ext>
            </a:extLst>
          </p:cNvPr>
          <p:cNvSpPr txBox="1"/>
          <p:nvPr/>
        </p:nvSpPr>
        <p:spPr>
          <a:xfrm>
            <a:off x="-7585695" y="51594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27026"/>
                </a:solidFill>
                <a:latin typeface="Microsoft JhengHei"/>
              </a:defRPr>
            </a:pPr>
            <a:r>
              <a:rPr lang="zh-TW" dirty="0">
                <a:solidFill>
                  <a:srgbClr val="E27026"/>
                </a:solidFill>
              </a:rPr>
              <a:t>🔧  工具權限</a:t>
            </a:r>
          </a:p>
        </p:txBody>
      </p:sp>
      <p:sp>
        <p:nvSpPr>
          <p:cNvPr id="66" name="TextBox 31">
            <a:extLst>
              <a:ext uri="{FF2B5EF4-FFF2-40B4-BE49-F238E27FC236}">
                <a16:creationId xmlns:a16="http://schemas.microsoft.com/office/drawing/2014/main" id="{0E9B7B63-16E4-5458-C740-83445DC41C65}"/>
              </a:ext>
            </a:extLst>
          </p:cNvPr>
          <p:cNvSpPr txBox="1"/>
          <p:nvPr/>
        </p:nvSpPr>
        <p:spPr>
          <a:xfrm>
            <a:off x="-7585695" y="547949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每位專家有自己能使用的工具</a:t>
            </a:r>
          </a:p>
        </p:txBody>
      </p:sp>
      <p:sp>
        <p:nvSpPr>
          <p:cNvPr id="67" name="Rounded Rectangle 32">
            <a:extLst>
              <a:ext uri="{FF2B5EF4-FFF2-40B4-BE49-F238E27FC236}">
                <a16:creationId xmlns:a16="http://schemas.microsoft.com/office/drawing/2014/main" id="{88FC53DB-E1FF-79E9-B961-9871867320E2}"/>
              </a:ext>
            </a:extLst>
          </p:cNvPr>
          <p:cNvSpPr/>
          <p:nvPr/>
        </p:nvSpPr>
        <p:spPr>
          <a:xfrm>
            <a:off x="-3882375" y="5113732"/>
            <a:ext cx="3474720" cy="7772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33">
            <a:extLst>
              <a:ext uri="{FF2B5EF4-FFF2-40B4-BE49-F238E27FC236}">
                <a16:creationId xmlns:a16="http://schemas.microsoft.com/office/drawing/2014/main" id="{47059094-64CF-28DD-701A-A4EBF68EDF36}"/>
              </a:ext>
            </a:extLst>
          </p:cNvPr>
          <p:cNvSpPr txBox="1"/>
          <p:nvPr/>
        </p:nvSpPr>
        <p:spPr>
          <a:xfrm>
            <a:off x="-3745215" y="51594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27026"/>
                </a:solidFill>
                <a:latin typeface="Microsoft JhengHei"/>
              </a:defRPr>
            </a:pPr>
            <a:r>
              <a:rPr lang="zh-TW" dirty="0">
                <a:solidFill>
                  <a:srgbClr val="E27026"/>
                </a:solidFill>
              </a:rPr>
              <a:t>💬  直接溝通</a:t>
            </a:r>
          </a:p>
        </p:txBody>
      </p:sp>
      <p:sp>
        <p:nvSpPr>
          <p:cNvPr id="69" name="TextBox 34">
            <a:extLst>
              <a:ext uri="{FF2B5EF4-FFF2-40B4-BE49-F238E27FC236}">
                <a16:creationId xmlns:a16="http://schemas.microsoft.com/office/drawing/2014/main" id="{35D66F94-1A63-2AFD-AF08-73BDE0F745F3}"/>
              </a:ext>
            </a:extLst>
          </p:cNvPr>
          <p:cNvSpPr txBox="1"/>
          <p:nvPr/>
        </p:nvSpPr>
        <p:spPr>
          <a:xfrm>
            <a:off x="-3745215" y="547949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專家之間可互傳訊息、交叉確認</a:t>
            </a:r>
          </a:p>
        </p:txBody>
      </p:sp>
      <p:sp>
        <p:nvSpPr>
          <p:cNvPr id="70" name="TextBox 35">
            <a:extLst>
              <a:ext uri="{FF2B5EF4-FFF2-40B4-BE49-F238E27FC236}">
                <a16:creationId xmlns:a16="http://schemas.microsoft.com/office/drawing/2014/main" id="{AFC3EAFA-518C-91AB-B2D6-18C9AA188D16}"/>
              </a:ext>
            </a:extLst>
          </p:cNvPr>
          <p:cNvSpPr txBox="1"/>
          <p:nvPr/>
        </p:nvSpPr>
        <p:spPr>
          <a:xfrm>
            <a:off x="-11563335" y="6211012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472C4"/>
                </a:solidFill>
                <a:latin typeface="Microsoft JhengHei"/>
              </a:defRPr>
            </a:pPr>
            <a:r>
              <a:rPr lang="zh-TW" dirty="0">
                <a:solidFill>
                  <a:srgbClr val="4472C4"/>
                </a:solidFill>
              </a:rPr>
              <a:t>類比：專案小組 — 每個人有明確分工，遇到問題可以互相討論</a:t>
            </a:r>
          </a:p>
        </p:txBody>
      </p:sp>
      <p:sp>
        <p:nvSpPr>
          <p:cNvPr id="71" name="TextBox 29">
            <a:extLst>
              <a:ext uri="{FF2B5EF4-FFF2-40B4-BE49-F238E27FC236}">
                <a16:creationId xmlns:a16="http://schemas.microsoft.com/office/drawing/2014/main" id="{604EE124-44E0-D08F-A997-CF7D36FD7A42}"/>
              </a:ext>
            </a:extLst>
          </p:cNvPr>
          <p:cNvSpPr txBox="1"/>
          <p:nvPr/>
        </p:nvSpPr>
        <p:spPr>
          <a:xfrm>
            <a:off x="746760" y="7106175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0"/>
              </a:spcAft>
              <a:defRPr sz="22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一個命令 = 一條完整的生產線</a:t>
            </a:r>
          </a:p>
          <a:p>
            <a:pPr algn="l">
              <a:spcAft>
                <a:spcPts val="760"/>
              </a:spcAft>
              <a:defRPr sz="18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使用者只需一行指令，系統自動編排所有步驟</a:t>
            </a:r>
          </a:p>
          <a:p>
            <a:pPr algn="l">
              <a:spcAft>
                <a:spcPts val="760"/>
              </a:spcAft>
              <a:defRPr sz="800" b="0">
                <a:solidFill>
                  <a:srgbClr val="444444"/>
                </a:solidFill>
                <a:latin typeface="Microsoft JhengHei"/>
              </a:defRPr>
            </a:pPr>
            <a:endParaRPr dirty="0"/>
          </a:p>
          <a:p>
            <a:pPr algn="l">
              <a:spcAft>
                <a:spcPts val="760"/>
              </a:spcAft>
              <a:defRPr sz="1800" b="0">
                <a:solidFill>
                  <a:srgbClr val="4472C4"/>
                </a:solidFill>
                <a:latin typeface="Microsoft JhengHei"/>
              </a:defRPr>
            </a:pPr>
            <a:r>
              <a:rPr lang="zh-TW" dirty="0">
                <a:solidFill>
                  <a:srgbClr val="4472C4"/>
                </a:solidFill>
              </a:rPr>
              <a:t>類比：工廠的生產線按鈕 — 按一下，整條產線啟動</a:t>
            </a:r>
          </a:p>
        </p:txBody>
      </p:sp>
    </p:spTree>
    <p:extLst>
      <p:ext uri="{BB962C8B-B14F-4D97-AF65-F5344CB8AC3E}">
        <p14:creationId xmlns:p14="http://schemas.microsoft.com/office/powerpoint/2010/main" val="5904431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11480"/>
            <a:ext cx="1097280" cy="54864"/>
          </a:xfrm>
          <a:prstGeom prst="rect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772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第 3 層：多專家分工</a:t>
            </a:r>
            <a:r>
              <a:rPr lang="zh-TW" altLang="zh-TW" dirty="0">
                <a:solidFill>
                  <a:srgbClr val="000000"/>
                </a:solidFill>
              </a:rPr>
              <a:t>Agent </a:t>
            </a:r>
            <a:r>
              <a:rPr lang="en-US" altLang="zh-TW" dirty="0">
                <a:solidFill>
                  <a:srgbClr val="000000"/>
                </a:solidFill>
              </a:rPr>
              <a:t>TEAM</a:t>
            </a:r>
            <a:endParaRPr lang="zh-TW" dirty="0">
              <a:solidFill>
                <a:srgbClr val="444444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概念篇</a:t>
            </a:r>
          </a:p>
        </p:txBody>
      </p:sp>
      <p:sp>
        <p:nvSpPr>
          <p:cNvPr id="5" name="Oval 4"/>
          <p:cNvSpPr/>
          <p:nvPr/>
        </p:nvSpPr>
        <p:spPr>
          <a:xfrm>
            <a:off x="10744200" y="365760"/>
            <a:ext cx="457200" cy="457200"/>
          </a:xfrm>
          <a:prstGeom prst="ellipse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744200" y="4114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7 / 16</a:t>
            </a:r>
          </a:p>
        </p:txBody>
      </p:sp>
      <p:sp>
        <p:nvSpPr>
          <p:cNvPr id="37" name="Rounded Rectangle 7">
            <a:extLst>
              <a:ext uri="{FF2B5EF4-FFF2-40B4-BE49-F238E27FC236}">
                <a16:creationId xmlns:a16="http://schemas.microsoft.com/office/drawing/2014/main" id="{6D6BF22D-684E-0F91-D79A-2B1162CC51E6}"/>
              </a:ext>
            </a:extLst>
          </p:cNvPr>
          <p:cNvSpPr/>
          <p:nvPr/>
        </p:nvSpPr>
        <p:spPr>
          <a:xfrm>
            <a:off x="566928" y="7344681"/>
            <a:ext cx="2286000" cy="583693"/>
          </a:xfrm>
          <a:prstGeom prst="roundRect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8">
            <a:extLst>
              <a:ext uri="{FF2B5EF4-FFF2-40B4-BE49-F238E27FC236}">
                <a16:creationId xmlns:a16="http://schemas.microsoft.com/office/drawing/2014/main" id="{51A2426D-9519-763B-7880-7F094FA7F030}"/>
              </a:ext>
            </a:extLst>
          </p:cNvPr>
          <p:cNvSpPr txBox="1"/>
          <p:nvPr/>
        </p:nvSpPr>
        <p:spPr>
          <a:xfrm>
            <a:off x="548640" y="7434706"/>
            <a:ext cx="2286000" cy="309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444444"/>
                </a:solidFill>
                <a:latin typeface="Microsoft JhengHei"/>
              </a:defRPr>
            </a:pPr>
            <a:r>
              <a:rPr lang="zh-TW" sz="2400" dirty="0">
                <a:solidFill>
                  <a:srgbClr val="444444"/>
                </a:solidFill>
              </a:rPr>
              <a:t>▶ START</a:t>
            </a:r>
          </a:p>
        </p:txBody>
      </p:sp>
      <p:sp>
        <p:nvSpPr>
          <p:cNvPr id="39" name="Right Arrow 9">
            <a:extLst>
              <a:ext uri="{FF2B5EF4-FFF2-40B4-BE49-F238E27FC236}">
                <a16:creationId xmlns:a16="http://schemas.microsoft.com/office/drawing/2014/main" id="{E72D93DB-6947-D2D2-AE86-AD2453076F4F}"/>
              </a:ext>
            </a:extLst>
          </p:cNvPr>
          <p:cNvSpPr/>
          <p:nvPr/>
        </p:nvSpPr>
        <p:spPr>
          <a:xfrm rot="5400000">
            <a:off x="1525108" y="7943954"/>
            <a:ext cx="369639" cy="457200"/>
          </a:xfrm>
          <a:prstGeom prst="rightArrow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10">
            <a:extLst>
              <a:ext uri="{FF2B5EF4-FFF2-40B4-BE49-F238E27FC236}">
                <a16:creationId xmlns:a16="http://schemas.microsoft.com/office/drawing/2014/main" id="{5648D3C4-436F-FC4C-FBA8-1305AAF37BE6}"/>
              </a:ext>
            </a:extLst>
          </p:cNvPr>
          <p:cNvSpPr/>
          <p:nvPr/>
        </p:nvSpPr>
        <p:spPr>
          <a:xfrm>
            <a:off x="822960" y="8395835"/>
            <a:ext cx="1737360" cy="8280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11">
            <a:extLst>
              <a:ext uri="{FF2B5EF4-FFF2-40B4-BE49-F238E27FC236}">
                <a16:creationId xmlns:a16="http://schemas.microsoft.com/office/drawing/2014/main" id="{AFA02387-D24A-C064-801A-D94B9273425D}"/>
              </a:ext>
            </a:extLst>
          </p:cNvPr>
          <p:cNvSpPr txBox="1"/>
          <p:nvPr/>
        </p:nvSpPr>
        <p:spPr>
          <a:xfrm>
            <a:off x="868679" y="8465939"/>
            <a:ext cx="1645920" cy="280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472C4"/>
                </a:solidFill>
                <a:latin typeface="Microsoft JhengHei"/>
              </a:defRPr>
            </a:pPr>
            <a:r>
              <a:rPr lang="zh-TW" dirty="0">
                <a:solidFill>
                  <a:srgbClr val="4472C4"/>
                </a:solidFill>
              </a:rPr>
              <a:t>Phase 1</a:t>
            </a:r>
          </a:p>
        </p:txBody>
      </p:sp>
      <p:sp>
        <p:nvSpPr>
          <p:cNvPr id="42" name="TextBox 12">
            <a:extLst>
              <a:ext uri="{FF2B5EF4-FFF2-40B4-BE49-F238E27FC236}">
                <a16:creationId xmlns:a16="http://schemas.microsoft.com/office/drawing/2014/main" id="{9FB3C3A6-569E-0B49-130C-B1533F640972}"/>
              </a:ext>
            </a:extLst>
          </p:cNvPr>
          <p:cNvSpPr txBox="1"/>
          <p:nvPr/>
        </p:nvSpPr>
        <p:spPr>
          <a:xfrm>
            <a:off x="868679" y="8816459"/>
            <a:ext cx="1645920" cy="35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參數檢查</a:t>
            </a:r>
          </a:p>
        </p:txBody>
      </p:sp>
      <p:sp>
        <p:nvSpPr>
          <p:cNvPr id="44" name="Rounded Rectangle 15">
            <a:extLst>
              <a:ext uri="{FF2B5EF4-FFF2-40B4-BE49-F238E27FC236}">
                <a16:creationId xmlns:a16="http://schemas.microsoft.com/office/drawing/2014/main" id="{510893DD-4151-8F14-A758-33E319A25356}"/>
              </a:ext>
            </a:extLst>
          </p:cNvPr>
          <p:cNvSpPr/>
          <p:nvPr/>
        </p:nvSpPr>
        <p:spPr>
          <a:xfrm>
            <a:off x="822960" y="9433560"/>
            <a:ext cx="1737360" cy="8280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E27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16">
            <a:extLst>
              <a:ext uri="{FF2B5EF4-FFF2-40B4-BE49-F238E27FC236}">
                <a16:creationId xmlns:a16="http://schemas.microsoft.com/office/drawing/2014/main" id="{661CCC0A-B919-8298-6EF0-A74111E95B2A}"/>
              </a:ext>
            </a:extLst>
          </p:cNvPr>
          <p:cNvSpPr txBox="1"/>
          <p:nvPr/>
        </p:nvSpPr>
        <p:spPr>
          <a:xfrm>
            <a:off x="868680" y="9503664"/>
            <a:ext cx="1645920" cy="280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27026"/>
                </a:solidFill>
                <a:latin typeface="Microsoft JhengHei"/>
              </a:defRPr>
            </a:pPr>
            <a:r>
              <a:rPr lang="zh-TW" dirty="0">
                <a:solidFill>
                  <a:srgbClr val="E27026"/>
                </a:solidFill>
              </a:rPr>
              <a:t>Phase 2</a:t>
            </a:r>
          </a:p>
        </p:txBody>
      </p:sp>
      <p:sp>
        <p:nvSpPr>
          <p:cNvPr id="46" name="TextBox 17">
            <a:extLst>
              <a:ext uri="{FF2B5EF4-FFF2-40B4-BE49-F238E27FC236}">
                <a16:creationId xmlns:a16="http://schemas.microsoft.com/office/drawing/2014/main" id="{B7CF4B4A-4F63-BDEE-3AD7-7A2C4CD651FD}"/>
              </a:ext>
            </a:extLst>
          </p:cNvPr>
          <p:cNvSpPr txBox="1"/>
          <p:nvPr/>
        </p:nvSpPr>
        <p:spPr>
          <a:xfrm>
            <a:off x="868680" y="9854184"/>
            <a:ext cx="1645920" cy="35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召集團隊</a:t>
            </a:r>
          </a:p>
        </p:txBody>
      </p:sp>
      <p:sp>
        <p:nvSpPr>
          <p:cNvPr id="48" name="Rounded Rectangle 20">
            <a:extLst>
              <a:ext uri="{FF2B5EF4-FFF2-40B4-BE49-F238E27FC236}">
                <a16:creationId xmlns:a16="http://schemas.microsoft.com/office/drawing/2014/main" id="{A5ED3202-362E-4473-04A4-1BC34B5AD04F}"/>
              </a:ext>
            </a:extLst>
          </p:cNvPr>
          <p:cNvSpPr/>
          <p:nvPr/>
        </p:nvSpPr>
        <p:spPr>
          <a:xfrm>
            <a:off x="813817" y="10471285"/>
            <a:ext cx="1737360" cy="8280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21">
            <a:extLst>
              <a:ext uri="{FF2B5EF4-FFF2-40B4-BE49-F238E27FC236}">
                <a16:creationId xmlns:a16="http://schemas.microsoft.com/office/drawing/2014/main" id="{C06ADCE1-AD51-F9A8-2B82-2E7D569B02D5}"/>
              </a:ext>
            </a:extLst>
          </p:cNvPr>
          <p:cNvSpPr txBox="1"/>
          <p:nvPr/>
        </p:nvSpPr>
        <p:spPr>
          <a:xfrm>
            <a:off x="859537" y="10541389"/>
            <a:ext cx="1645920" cy="280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rgbClr val="70AD47"/>
                </a:solidFill>
              </a:rPr>
              <a:t>Phase 3</a:t>
            </a:r>
          </a:p>
        </p:txBody>
      </p:sp>
      <p:sp>
        <p:nvSpPr>
          <p:cNvPr id="50" name="TextBox 22">
            <a:extLst>
              <a:ext uri="{FF2B5EF4-FFF2-40B4-BE49-F238E27FC236}">
                <a16:creationId xmlns:a16="http://schemas.microsoft.com/office/drawing/2014/main" id="{4CA47F9E-28BC-B680-F021-FAA0FA8A71D7}"/>
              </a:ext>
            </a:extLst>
          </p:cNvPr>
          <p:cNvSpPr txBox="1"/>
          <p:nvPr/>
        </p:nvSpPr>
        <p:spPr>
          <a:xfrm>
            <a:off x="859537" y="10891909"/>
            <a:ext cx="1645920" cy="35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依序執行</a:t>
            </a:r>
          </a:p>
        </p:txBody>
      </p:sp>
      <p:sp>
        <p:nvSpPr>
          <p:cNvPr id="52" name="Rounded Rectangle 25">
            <a:extLst>
              <a:ext uri="{FF2B5EF4-FFF2-40B4-BE49-F238E27FC236}">
                <a16:creationId xmlns:a16="http://schemas.microsoft.com/office/drawing/2014/main" id="{A091B82E-9524-A670-DE9A-B25224CDA84E}"/>
              </a:ext>
            </a:extLst>
          </p:cNvPr>
          <p:cNvSpPr/>
          <p:nvPr/>
        </p:nvSpPr>
        <p:spPr>
          <a:xfrm>
            <a:off x="813817" y="11509010"/>
            <a:ext cx="1737360" cy="8280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B47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26">
            <a:extLst>
              <a:ext uri="{FF2B5EF4-FFF2-40B4-BE49-F238E27FC236}">
                <a16:creationId xmlns:a16="http://schemas.microsoft.com/office/drawing/2014/main" id="{BF6AF209-33E8-93DC-16FD-72D1861C50E6}"/>
              </a:ext>
            </a:extLst>
          </p:cNvPr>
          <p:cNvSpPr txBox="1"/>
          <p:nvPr/>
        </p:nvSpPr>
        <p:spPr>
          <a:xfrm>
            <a:off x="859537" y="11579114"/>
            <a:ext cx="1645920" cy="280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B47EFF"/>
                </a:solidFill>
                <a:latin typeface="Microsoft JhengHei"/>
              </a:defRPr>
            </a:pPr>
            <a:r>
              <a:rPr lang="zh-TW" dirty="0">
                <a:solidFill>
                  <a:srgbClr val="B47EFF"/>
                </a:solidFill>
              </a:rPr>
              <a:t>Phase 4</a:t>
            </a:r>
          </a:p>
        </p:txBody>
      </p:sp>
      <p:sp>
        <p:nvSpPr>
          <p:cNvPr id="54" name="TextBox 27">
            <a:extLst>
              <a:ext uri="{FF2B5EF4-FFF2-40B4-BE49-F238E27FC236}">
                <a16:creationId xmlns:a16="http://schemas.microsoft.com/office/drawing/2014/main" id="{FF1C3479-46C6-84D4-BDC1-CBDBEA30D9AD}"/>
              </a:ext>
            </a:extLst>
          </p:cNvPr>
          <p:cNvSpPr txBox="1"/>
          <p:nvPr/>
        </p:nvSpPr>
        <p:spPr>
          <a:xfrm>
            <a:off x="859537" y="11929634"/>
            <a:ext cx="1645920" cy="35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品質驗收</a:t>
            </a:r>
          </a:p>
        </p:txBody>
      </p:sp>
      <p:pic>
        <p:nvPicPr>
          <p:cNvPr id="55" name="圖片 54">
            <a:extLst>
              <a:ext uri="{FF2B5EF4-FFF2-40B4-BE49-F238E27FC236}">
                <a16:creationId xmlns:a16="http://schemas.microsoft.com/office/drawing/2014/main" id="{53366500-8F62-1DB1-D22F-178F92D59E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8123" y="7487887"/>
            <a:ext cx="4197793" cy="4592386"/>
          </a:xfrm>
          <a:prstGeom prst="rect">
            <a:avLst/>
          </a:prstGeom>
        </p:spPr>
      </p:pic>
      <p:pic>
        <p:nvPicPr>
          <p:cNvPr id="56" name="圖片 55">
            <a:extLst>
              <a:ext uri="{FF2B5EF4-FFF2-40B4-BE49-F238E27FC236}">
                <a16:creationId xmlns:a16="http://schemas.microsoft.com/office/drawing/2014/main" id="{CEF42CAD-9208-A30A-8B2D-8CA55D96017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7557"/>
          <a:stretch>
            <a:fillRect/>
          </a:stretch>
        </p:blipFill>
        <p:spPr>
          <a:xfrm>
            <a:off x="3123423" y="7753875"/>
            <a:ext cx="4919837" cy="4060410"/>
          </a:xfrm>
          <a:prstGeom prst="rect">
            <a:avLst/>
          </a:prstGeom>
        </p:spPr>
      </p:pic>
      <p:pic>
        <p:nvPicPr>
          <p:cNvPr id="57" name="圖片 56">
            <a:extLst>
              <a:ext uri="{FF2B5EF4-FFF2-40B4-BE49-F238E27FC236}">
                <a16:creationId xmlns:a16="http://schemas.microsoft.com/office/drawing/2014/main" id="{1CE1AA63-F900-93A6-A74D-BB9B4B78C5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0646" y="7288842"/>
            <a:ext cx="6790476" cy="4990476"/>
          </a:xfrm>
          <a:prstGeom prst="rect">
            <a:avLst/>
          </a:prstGeom>
        </p:spPr>
      </p:pic>
      <p:pic>
        <p:nvPicPr>
          <p:cNvPr id="51" name="圖片 50">
            <a:extLst>
              <a:ext uri="{FF2B5EF4-FFF2-40B4-BE49-F238E27FC236}">
                <a16:creationId xmlns:a16="http://schemas.microsoft.com/office/drawing/2014/main" id="{35B465B0-85A6-3CB6-B907-28846AB2CE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5880" y="1540015"/>
            <a:ext cx="2361905" cy="4228571"/>
          </a:xfrm>
          <a:prstGeom prst="rect">
            <a:avLst/>
          </a:prstGeom>
        </p:spPr>
      </p:pic>
      <p:sp>
        <p:nvSpPr>
          <p:cNvPr id="58" name="矩形 57">
            <a:extLst>
              <a:ext uri="{FF2B5EF4-FFF2-40B4-BE49-F238E27FC236}">
                <a16:creationId xmlns:a16="http://schemas.microsoft.com/office/drawing/2014/main" id="{C9D8F41D-57F0-974C-9297-1532102C415F}"/>
              </a:ext>
            </a:extLst>
          </p:cNvPr>
          <p:cNvSpPr/>
          <p:nvPr/>
        </p:nvSpPr>
        <p:spPr>
          <a:xfrm>
            <a:off x="1231392" y="1755648"/>
            <a:ext cx="2596896" cy="209702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60" name="圖片 59">
            <a:extLst>
              <a:ext uri="{FF2B5EF4-FFF2-40B4-BE49-F238E27FC236}">
                <a16:creationId xmlns:a16="http://schemas.microsoft.com/office/drawing/2014/main" id="{693E7888-FE1A-EAD2-5A6C-7D7F761EE9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60646" y="1299522"/>
            <a:ext cx="6414943" cy="4743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88146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CFB55-0112-317D-14CF-6DA1F3B0E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6813BE8-48C4-3BA6-D9FA-FF135FCB305E}"/>
              </a:ext>
            </a:extLst>
          </p:cNvPr>
          <p:cNvSpPr/>
          <p:nvPr/>
        </p:nvSpPr>
        <p:spPr>
          <a:xfrm>
            <a:off x="548640" y="411480"/>
            <a:ext cx="1097280" cy="54864"/>
          </a:xfrm>
          <a:prstGeom prst="rect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367687-77E0-BC02-ECBC-BEAAACB74B54}"/>
              </a:ext>
            </a:extLst>
          </p:cNvPr>
          <p:cNvSpPr txBox="1"/>
          <p:nvPr/>
        </p:nvSpPr>
        <p:spPr>
          <a:xfrm>
            <a:off x="548640" y="502920"/>
            <a:ext cx="7772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第 3 層：多專家分工</a:t>
            </a:r>
            <a:r>
              <a:rPr lang="zh-TW" altLang="zh-TW" dirty="0">
                <a:solidFill>
                  <a:srgbClr val="000000"/>
                </a:solidFill>
              </a:rPr>
              <a:t>Agent </a:t>
            </a:r>
            <a:r>
              <a:rPr lang="en-US" altLang="zh-TW" dirty="0">
                <a:solidFill>
                  <a:srgbClr val="000000"/>
                </a:solidFill>
              </a:rPr>
              <a:t>TEAM</a:t>
            </a:r>
            <a:endParaRPr lang="zh-TW" dirty="0">
              <a:solidFill>
                <a:srgbClr val="444444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FDCF84-7AC4-8969-B65F-24A8CED015A7}"/>
              </a:ext>
            </a:extLst>
          </p:cNvPr>
          <p:cNvSpPr txBox="1"/>
          <p:nvPr/>
        </p:nvSpPr>
        <p:spPr>
          <a:xfrm>
            <a:off x="9601200" y="411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概念篇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C41B124-C1E6-D81A-A88C-281B302B51A0}"/>
              </a:ext>
            </a:extLst>
          </p:cNvPr>
          <p:cNvSpPr/>
          <p:nvPr/>
        </p:nvSpPr>
        <p:spPr>
          <a:xfrm>
            <a:off x="10744200" y="365760"/>
            <a:ext cx="457200" cy="457200"/>
          </a:xfrm>
          <a:prstGeom prst="ellipse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C3335A-5BD2-BB2D-C15A-A82603BF91C9}"/>
              </a:ext>
            </a:extLst>
          </p:cNvPr>
          <p:cNvSpPr txBox="1"/>
          <p:nvPr/>
        </p:nvSpPr>
        <p:spPr>
          <a:xfrm>
            <a:off x="10744200" y="4114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AB6F18-E319-958D-3904-9F8483E2340F}"/>
              </a:ext>
            </a:extLst>
          </p:cNvPr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7 / 16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5059A4A-46DD-E5AE-6013-B22763CFF900}"/>
              </a:ext>
            </a:extLst>
          </p:cNvPr>
          <p:cNvSpPr/>
          <p:nvPr/>
        </p:nvSpPr>
        <p:spPr>
          <a:xfrm>
            <a:off x="731520" y="1463040"/>
            <a:ext cx="3474720" cy="292608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285150-A2B4-3721-C1F5-C383D5E852CD}"/>
              </a:ext>
            </a:extLst>
          </p:cNvPr>
          <p:cNvSpPr txBox="1"/>
          <p:nvPr/>
        </p:nvSpPr>
        <p:spPr>
          <a:xfrm>
            <a:off x="822960" y="16459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🔍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A1046B-3300-5110-81B1-3FD9CE9A3480}"/>
              </a:ext>
            </a:extLst>
          </p:cNvPr>
          <p:cNvSpPr txBox="1"/>
          <p:nvPr/>
        </p:nvSpPr>
        <p:spPr>
          <a:xfrm>
            <a:off x="822960" y="237744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4472C4"/>
                </a:solidFill>
                <a:latin typeface="Microsoft JhengHei"/>
              </a:defRPr>
            </a:pPr>
            <a:r>
              <a:rPr lang="zh-TW" dirty="0">
                <a:solidFill>
                  <a:srgbClr val="4472C4"/>
                </a:solidFill>
              </a:rPr>
              <a:t>讀圖專家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C8EA30F-A7EE-41BA-21AE-549831A37444}"/>
              </a:ext>
            </a:extLst>
          </p:cNvPr>
          <p:cNvSpPr/>
          <p:nvPr/>
        </p:nvSpPr>
        <p:spPr>
          <a:xfrm>
            <a:off x="1280160" y="3017520"/>
            <a:ext cx="2377440" cy="27432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B69CA5-FF9F-5F6F-7E35-7DF086B3B2DC}"/>
              </a:ext>
            </a:extLst>
          </p:cNvPr>
          <p:cNvSpPr txBox="1"/>
          <p:nvPr/>
        </p:nvSpPr>
        <p:spPr>
          <a:xfrm>
            <a:off x="914400" y="320040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判讀圖紙、辨識構件</a:t>
            </a:r>
            <a:br/>
            <a:r>
              <a:rPr lang="zh-TW" dirty="0">
                <a:solidFill>
                  <a:srgbClr val="555555"/>
                </a:solidFill>
              </a:rPr>
              <a:t>理解設計意圖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F5F59EE-B2DC-B1E8-9965-F2E4D8789FD1}"/>
              </a:ext>
            </a:extLst>
          </p:cNvPr>
          <p:cNvSpPr/>
          <p:nvPr/>
        </p:nvSpPr>
        <p:spPr>
          <a:xfrm>
            <a:off x="4572000" y="1463040"/>
            <a:ext cx="3474720" cy="292608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E27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824E79-5A9E-77F2-9251-CDE3532CF898}"/>
              </a:ext>
            </a:extLst>
          </p:cNvPr>
          <p:cNvSpPr txBox="1"/>
          <p:nvPr/>
        </p:nvSpPr>
        <p:spPr>
          <a:xfrm>
            <a:off x="4663440" y="16459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📐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24B14E-5996-20E6-8B77-1E633C36B8B2}"/>
              </a:ext>
            </a:extLst>
          </p:cNvPr>
          <p:cNvSpPr txBox="1"/>
          <p:nvPr/>
        </p:nvSpPr>
        <p:spPr>
          <a:xfrm>
            <a:off x="4663440" y="237744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E27026"/>
                </a:solidFill>
                <a:latin typeface="Microsoft JhengHei"/>
              </a:defRPr>
            </a:pPr>
            <a:r>
              <a:rPr lang="zh-TW" dirty="0">
                <a:solidFill>
                  <a:srgbClr val="E27026"/>
                </a:solidFill>
              </a:rPr>
              <a:t>定位專家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A3B58C3-4E02-DE00-31BC-3680FF28A532}"/>
              </a:ext>
            </a:extLst>
          </p:cNvPr>
          <p:cNvSpPr/>
          <p:nvPr/>
        </p:nvSpPr>
        <p:spPr>
          <a:xfrm>
            <a:off x="5120640" y="3017520"/>
            <a:ext cx="2377440" cy="27432"/>
          </a:xfrm>
          <a:prstGeom prst="rect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0B10B3D-D164-B77B-E1E1-9BE4B7A30B26}"/>
              </a:ext>
            </a:extLst>
          </p:cNvPr>
          <p:cNvSpPr txBox="1"/>
          <p:nvPr/>
        </p:nvSpPr>
        <p:spPr>
          <a:xfrm>
            <a:off x="4754880" y="320040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精準定位座標</a:t>
            </a:r>
            <a:br>
              <a:rPr dirty="0"/>
            </a:br>
            <a:r>
              <a:rPr lang="zh-TW" dirty="0">
                <a:solidFill>
                  <a:srgbClr val="555555"/>
                </a:solidFill>
              </a:rPr>
              <a:t>驗證幾何合理性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4779EDAD-FB56-535F-DC93-E34ED686677D}"/>
              </a:ext>
            </a:extLst>
          </p:cNvPr>
          <p:cNvSpPr/>
          <p:nvPr/>
        </p:nvSpPr>
        <p:spPr>
          <a:xfrm>
            <a:off x="8412480" y="1463040"/>
            <a:ext cx="3474720" cy="292608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83BBE7-4023-1E07-0EAC-77E56AF56626}"/>
              </a:ext>
            </a:extLst>
          </p:cNvPr>
          <p:cNvSpPr txBox="1"/>
          <p:nvPr/>
        </p:nvSpPr>
        <p:spPr>
          <a:xfrm>
            <a:off x="8503920" y="16459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📋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D1D9F03-D136-38DE-0AA0-B19156C1B062}"/>
              </a:ext>
            </a:extLst>
          </p:cNvPr>
          <p:cNvSpPr txBox="1"/>
          <p:nvPr/>
        </p:nvSpPr>
        <p:spPr>
          <a:xfrm>
            <a:off x="8503920" y="237744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rgbClr val="70AD47"/>
                </a:solidFill>
              </a:rPr>
              <a:t>整合專家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98EECDE-3B2C-5DCA-C4AB-C168C53A8A41}"/>
              </a:ext>
            </a:extLst>
          </p:cNvPr>
          <p:cNvSpPr/>
          <p:nvPr/>
        </p:nvSpPr>
        <p:spPr>
          <a:xfrm>
            <a:off x="8961120" y="3017520"/>
            <a:ext cx="2377440" cy="27432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5BB5432-8E2C-068C-A83B-0339DA4A5A78}"/>
              </a:ext>
            </a:extLst>
          </p:cNvPr>
          <p:cNvSpPr txBox="1"/>
          <p:nvPr/>
        </p:nvSpPr>
        <p:spPr>
          <a:xfrm>
            <a:off x="8595360" y="320040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彙整所有資訊</a:t>
            </a:r>
            <a:br/>
            <a:r>
              <a:rPr lang="zh-TW" dirty="0">
                <a:solidFill>
                  <a:srgbClr val="555555"/>
                </a:solidFill>
              </a:rPr>
              <a:t>產出標準化規格書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705105C-A18A-5140-306E-8A835DC05583}"/>
              </a:ext>
            </a:extLst>
          </p:cNvPr>
          <p:cNvSpPr txBox="1"/>
          <p:nvPr/>
        </p:nvSpPr>
        <p:spPr>
          <a:xfrm>
            <a:off x="4251960" y="26670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◀▶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09DE55F-41EE-4E14-3712-D25D7F651714}"/>
              </a:ext>
            </a:extLst>
          </p:cNvPr>
          <p:cNvSpPr txBox="1"/>
          <p:nvPr/>
        </p:nvSpPr>
        <p:spPr>
          <a:xfrm>
            <a:off x="8092440" y="26670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◀▶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9A1437AD-ADF0-F6CB-7DF7-0C01406C9597}"/>
              </a:ext>
            </a:extLst>
          </p:cNvPr>
          <p:cNvSpPr/>
          <p:nvPr/>
        </p:nvSpPr>
        <p:spPr>
          <a:xfrm>
            <a:off x="731520" y="4754880"/>
            <a:ext cx="3474720" cy="7772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4043E8F-6F80-0840-CE8D-815D9E66A0EA}"/>
              </a:ext>
            </a:extLst>
          </p:cNvPr>
          <p:cNvSpPr txBox="1"/>
          <p:nvPr/>
        </p:nvSpPr>
        <p:spPr>
          <a:xfrm>
            <a:off x="868680" y="4800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27026"/>
                </a:solidFill>
                <a:latin typeface="Microsoft JhengHei"/>
              </a:defRPr>
            </a:pPr>
            <a:r>
              <a:rPr lang="zh-TW" dirty="0">
                <a:solidFill>
                  <a:srgbClr val="E27026"/>
                </a:solidFill>
              </a:rPr>
              <a:t>🎭  角色定義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40254F1-D0D8-164B-2D4A-80BF637075DE}"/>
              </a:ext>
            </a:extLst>
          </p:cNvPr>
          <p:cNvSpPr txBox="1"/>
          <p:nvPr/>
        </p:nvSpPr>
        <p:spPr>
          <a:xfrm>
            <a:off x="868680" y="51206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每位專家只負責自己擅長的事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56B46102-6B80-2EF3-B806-F3E2F70F13D5}"/>
              </a:ext>
            </a:extLst>
          </p:cNvPr>
          <p:cNvSpPr/>
          <p:nvPr/>
        </p:nvSpPr>
        <p:spPr>
          <a:xfrm>
            <a:off x="4572000" y="4754880"/>
            <a:ext cx="3474720" cy="7772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2C94725-F3AC-5FF4-1060-02F7322EA865}"/>
              </a:ext>
            </a:extLst>
          </p:cNvPr>
          <p:cNvSpPr txBox="1"/>
          <p:nvPr/>
        </p:nvSpPr>
        <p:spPr>
          <a:xfrm>
            <a:off x="4709160" y="4800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27026"/>
                </a:solidFill>
                <a:latin typeface="Microsoft JhengHei"/>
              </a:defRPr>
            </a:pPr>
            <a:r>
              <a:rPr lang="zh-TW" dirty="0">
                <a:solidFill>
                  <a:srgbClr val="E27026"/>
                </a:solidFill>
              </a:rPr>
              <a:t>🔧  工具權限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A75B166-A92E-DE18-2FB7-D6E837FA1722}"/>
              </a:ext>
            </a:extLst>
          </p:cNvPr>
          <p:cNvSpPr txBox="1"/>
          <p:nvPr/>
        </p:nvSpPr>
        <p:spPr>
          <a:xfrm>
            <a:off x="4709160" y="51206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每位專家有自己能使用的工具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19A2C6F8-06BA-B767-3C38-B353823C1A5F}"/>
              </a:ext>
            </a:extLst>
          </p:cNvPr>
          <p:cNvSpPr/>
          <p:nvPr/>
        </p:nvSpPr>
        <p:spPr>
          <a:xfrm>
            <a:off x="8412480" y="4754880"/>
            <a:ext cx="3474720" cy="7772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25E5587-EFF8-94D8-0122-F476112DC8F4}"/>
              </a:ext>
            </a:extLst>
          </p:cNvPr>
          <p:cNvSpPr txBox="1"/>
          <p:nvPr/>
        </p:nvSpPr>
        <p:spPr>
          <a:xfrm>
            <a:off x="8549640" y="4800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27026"/>
                </a:solidFill>
                <a:latin typeface="Microsoft JhengHei"/>
              </a:defRPr>
            </a:pPr>
            <a:r>
              <a:rPr lang="zh-TW" dirty="0">
                <a:solidFill>
                  <a:srgbClr val="E27026"/>
                </a:solidFill>
              </a:rPr>
              <a:t>💬  直接溝通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C0BD6F6-B45F-5EA5-B8E7-C80A73B18BA0}"/>
              </a:ext>
            </a:extLst>
          </p:cNvPr>
          <p:cNvSpPr txBox="1"/>
          <p:nvPr/>
        </p:nvSpPr>
        <p:spPr>
          <a:xfrm>
            <a:off x="8549640" y="51206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專家之間可互傳訊息、交叉確認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F981D07-8206-5961-8711-739F032A82AB}"/>
              </a:ext>
            </a:extLst>
          </p:cNvPr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472C4"/>
                </a:solidFill>
                <a:latin typeface="Microsoft JhengHei"/>
              </a:defRPr>
            </a:pPr>
            <a:r>
              <a:rPr lang="zh-TW" dirty="0">
                <a:solidFill>
                  <a:srgbClr val="4472C4"/>
                </a:solidFill>
              </a:rPr>
              <a:t>類比：專案小組 — 每個人有明確分工，遇到問題可以互相討論</a:t>
            </a:r>
          </a:p>
        </p:txBody>
      </p:sp>
      <p:sp>
        <p:nvSpPr>
          <p:cNvPr id="37" name="Rounded Rectangle 7">
            <a:extLst>
              <a:ext uri="{FF2B5EF4-FFF2-40B4-BE49-F238E27FC236}">
                <a16:creationId xmlns:a16="http://schemas.microsoft.com/office/drawing/2014/main" id="{306F9E6C-FE09-3285-447A-05BBD50FBC8E}"/>
              </a:ext>
            </a:extLst>
          </p:cNvPr>
          <p:cNvSpPr/>
          <p:nvPr/>
        </p:nvSpPr>
        <p:spPr>
          <a:xfrm>
            <a:off x="566928" y="7344681"/>
            <a:ext cx="2286000" cy="583693"/>
          </a:xfrm>
          <a:prstGeom prst="roundRect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8">
            <a:extLst>
              <a:ext uri="{FF2B5EF4-FFF2-40B4-BE49-F238E27FC236}">
                <a16:creationId xmlns:a16="http://schemas.microsoft.com/office/drawing/2014/main" id="{7DA55D14-A238-B649-C25B-FDF65518A7B5}"/>
              </a:ext>
            </a:extLst>
          </p:cNvPr>
          <p:cNvSpPr txBox="1"/>
          <p:nvPr/>
        </p:nvSpPr>
        <p:spPr>
          <a:xfrm>
            <a:off x="548640" y="7434706"/>
            <a:ext cx="2286000" cy="309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444444"/>
                </a:solidFill>
                <a:latin typeface="Microsoft JhengHei"/>
              </a:defRPr>
            </a:pPr>
            <a:r>
              <a:rPr lang="zh-TW" sz="2400" dirty="0">
                <a:solidFill>
                  <a:srgbClr val="444444"/>
                </a:solidFill>
              </a:rPr>
              <a:t>▶ START</a:t>
            </a:r>
          </a:p>
        </p:txBody>
      </p:sp>
      <p:sp>
        <p:nvSpPr>
          <p:cNvPr id="39" name="Right Arrow 9">
            <a:extLst>
              <a:ext uri="{FF2B5EF4-FFF2-40B4-BE49-F238E27FC236}">
                <a16:creationId xmlns:a16="http://schemas.microsoft.com/office/drawing/2014/main" id="{455860F9-B2BA-6B03-78AA-BE1F229CC1FF}"/>
              </a:ext>
            </a:extLst>
          </p:cNvPr>
          <p:cNvSpPr/>
          <p:nvPr/>
        </p:nvSpPr>
        <p:spPr>
          <a:xfrm rot="5400000">
            <a:off x="1525108" y="7943954"/>
            <a:ext cx="369639" cy="457200"/>
          </a:xfrm>
          <a:prstGeom prst="rightArrow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10">
            <a:extLst>
              <a:ext uri="{FF2B5EF4-FFF2-40B4-BE49-F238E27FC236}">
                <a16:creationId xmlns:a16="http://schemas.microsoft.com/office/drawing/2014/main" id="{3F901E84-6BBE-BD6D-3B34-929F0BECF608}"/>
              </a:ext>
            </a:extLst>
          </p:cNvPr>
          <p:cNvSpPr/>
          <p:nvPr/>
        </p:nvSpPr>
        <p:spPr>
          <a:xfrm>
            <a:off x="822960" y="8395835"/>
            <a:ext cx="1737360" cy="8280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11">
            <a:extLst>
              <a:ext uri="{FF2B5EF4-FFF2-40B4-BE49-F238E27FC236}">
                <a16:creationId xmlns:a16="http://schemas.microsoft.com/office/drawing/2014/main" id="{3AA7DB6C-D873-18A3-CCA1-730771B8A3BD}"/>
              </a:ext>
            </a:extLst>
          </p:cNvPr>
          <p:cNvSpPr txBox="1"/>
          <p:nvPr/>
        </p:nvSpPr>
        <p:spPr>
          <a:xfrm>
            <a:off x="868679" y="8465939"/>
            <a:ext cx="1645920" cy="280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472C4"/>
                </a:solidFill>
                <a:latin typeface="Microsoft JhengHei"/>
              </a:defRPr>
            </a:pPr>
            <a:r>
              <a:rPr lang="zh-TW" dirty="0">
                <a:solidFill>
                  <a:srgbClr val="4472C4"/>
                </a:solidFill>
              </a:rPr>
              <a:t>Phase 1</a:t>
            </a:r>
          </a:p>
        </p:txBody>
      </p:sp>
      <p:sp>
        <p:nvSpPr>
          <p:cNvPr id="42" name="TextBox 12">
            <a:extLst>
              <a:ext uri="{FF2B5EF4-FFF2-40B4-BE49-F238E27FC236}">
                <a16:creationId xmlns:a16="http://schemas.microsoft.com/office/drawing/2014/main" id="{E4F9C1B6-1983-F352-CE22-DFF246B849C0}"/>
              </a:ext>
            </a:extLst>
          </p:cNvPr>
          <p:cNvSpPr txBox="1"/>
          <p:nvPr/>
        </p:nvSpPr>
        <p:spPr>
          <a:xfrm>
            <a:off x="868679" y="8816459"/>
            <a:ext cx="1645920" cy="35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參數檢查</a:t>
            </a:r>
          </a:p>
        </p:txBody>
      </p:sp>
      <p:sp>
        <p:nvSpPr>
          <p:cNvPr id="44" name="Rounded Rectangle 15">
            <a:extLst>
              <a:ext uri="{FF2B5EF4-FFF2-40B4-BE49-F238E27FC236}">
                <a16:creationId xmlns:a16="http://schemas.microsoft.com/office/drawing/2014/main" id="{89052B56-B696-2352-1292-7E9D63426FCF}"/>
              </a:ext>
            </a:extLst>
          </p:cNvPr>
          <p:cNvSpPr/>
          <p:nvPr/>
        </p:nvSpPr>
        <p:spPr>
          <a:xfrm>
            <a:off x="822960" y="9433560"/>
            <a:ext cx="1737360" cy="8280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E27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16">
            <a:extLst>
              <a:ext uri="{FF2B5EF4-FFF2-40B4-BE49-F238E27FC236}">
                <a16:creationId xmlns:a16="http://schemas.microsoft.com/office/drawing/2014/main" id="{3047BCB2-A0E5-D60D-5230-D50720E8CEF9}"/>
              </a:ext>
            </a:extLst>
          </p:cNvPr>
          <p:cNvSpPr txBox="1"/>
          <p:nvPr/>
        </p:nvSpPr>
        <p:spPr>
          <a:xfrm>
            <a:off x="868680" y="9503664"/>
            <a:ext cx="1645920" cy="280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27026"/>
                </a:solidFill>
                <a:latin typeface="Microsoft JhengHei"/>
              </a:defRPr>
            </a:pPr>
            <a:r>
              <a:rPr lang="zh-TW" dirty="0">
                <a:solidFill>
                  <a:srgbClr val="E27026"/>
                </a:solidFill>
              </a:rPr>
              <a:t>Phase 2</a:t>
            </a:r>
          </a:p>
        </p:txBody>
      </p:sp>
      <p:sp>
        <p:nvSpPr>
          <p:cNvPr id="46" name="TextBox 17">
            <a:extLst>
              <a:ext uri="{FF2B5EF4-FFF2-40B4-BE49-F238E27FC236}">
                <a16:creationId xmlns:a16="http://schemas.microsoft.com/office/drawing/2014/main" id="{AAB3F4DA-63A1-726E-9C9F-E4EEC9F1C2C0}"/>
              </a:ext>
            </a:extLst>
          </p:cNvPr>
          <p:cNvSpPr txBox="1"/>
          <p:nvPr/>
        </p:nvSpPr>
        <p:spPr>
          <a:xfrm>
            <a:off x="868680" y="9854184"/>
            <a:ext cx="1645920" cy="35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召集團隊</a:t>
            </a:r>
          </a:p>
        </p:txBody>
      </p:sp>
      <p:sp>
        <p:nvSpPr>
          <p:cNvPr id="48" name="Rounded Rectangle 20">
            <a:extLst>
              <a:ext uri="{FF2B5EF4-FFF2-40B4-BE49-F238E27FC236}">
                <a16:creationId xmlns:a16="http://schemas.microsoft.com/office/drawing/2014/main" id="{21D519AE-948F-935E-AE8E-9325DF337EC3}"/>
              </a:ext>
            </a:extLst>
          </p:cNvPr>
          <p:cNvSpPr/>
          <p:nvPr/>
        </p:nvSpPr>
        <p:spPr>
          <a:xfrm>
            <a:off x="813817" y="10471285"/>
            <a:ext cx="1737360" cy="8280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21">
            <a:extLst>
              <a:ext uri="{FF2B5EF4-FFF2-40B4-BE49-F238E27FC236}">
                <a16:creationId xmlns:a16="http://schemas.microsoft.com/office/drawing/2014/main" id="{883420FB-8CE8-298B-639A-CC445069D129}"/>
              </a:ext>
            </a:extLst>
          </p:cNvPr>
          <p:cNvSpPr txBox="1"/>
          <p:nvPr/>
        </p:nvSpPr>
        <p:spPr>
          <a:xfrm>
            <a:off x="859537" y="10541389"/>
            <a:ext cx="1645920" cy="280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rgbClr val="70AD47"/>
                </a:solidFill>
              </a:rPr>
              <a:t>Phase 3</a:t>
            </a:r>
          </a:p>
        </p:txBody>
      </p:sp>
      <p:sp>
        <p:nvSpPr>
          <p:cNvPr id="50" name="TextBox 22">
            <a:extLst>
              <a:ext uri="{FF2B5EF4-FFF2-40B4-BE49-F238E27FC236}">
                <a16:creationId xmlns:a16="http://schemas.microsoft.com/office/drawing/2014/main" id="{9EA4CD43-4D7C-3F31-1C3F-ED76828B3493}"/>
              </a:ext>
            </a:extLst>
          </p:cNvPr>
          <p:cNvSpPr txBox="1"/>
          <p:nvPr/>
        </p:nvSpPr>
        <p:spPr>
          <a:xfrm>
            <a:off x="859537" y="10891909"/>
            <a:ext cx="1645920" cy="35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依序執行</a:t>
            </a:r>
          </a:p>
        </p:txBody>
      </p:sp>
      <p:sp>
        <p:nvSpPr>
          <p:cNvPr id="52" name="Rounded Rectangle 25">
            <a:extLst>
              <a:ext uri="{FF2B5EF4-FFF2-40B4-BE49-F238E27FC236}">
                <a16:creationId xmlns:a16="http://schemas.microsoft.com/office/drawing/2014/main" id="{C09CEF8E-234E-70DA-363C-F4013E733089}"/>
              </a:ext>
            </a:extLst>
          </p:cNvPr>
          <p:cNvSpPr/>
          <p:nvPr/>
        </p:nvSpPr>
        <p:spPr>
          <a:xfrm>
            <a:off x="813817" y="11509010"/>
            <a:ext cx="1737360" cy="8280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B47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26">
            <a:extLst>
              <a:ext uri="{FF2B5EF4-FFF2-40B4-BE49-F238E27FC236}">
                <a16:creationId xmlns:a16="http://schemas.microsoft.com/office/drawing/2014/main" id="{9BD29D69-0FE7-C709-FC0E-5E8AF8C171F8}"/>
              </a:ext>
            </a:extLst>
          </p:cNvPr>
          <p:cNvSpPr txBox="1"/>
          <p:nvPr/>
        </p:nvSpPr>
        <p:spPr>
          <a:xfrm>
            <a:off x="859537" y="11579114"/>
            <a:ext cx="1645920" cy="280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B47EFF"/>
                </a:solidFill>
                <a:latin typeface="Microsoft JhengHei"/>
              </a:defRPr>
            </a:pPr>
            <a:r>
              <a:rPr lang="zh-TW" dirty="0">
                <a:solidFill>
                  <a:srgbClr val="B47EFF"/>
                </a:solidFill>
              </a:rPr>
              <a:t>Phase 4</a:t>
            </a:r>
          </a:p>
        </p:txBody>
      </p:sp>
      <p:sp>
        <p:nvSpPr>
          <p:cNvPr id="54" name="TextBox 27">
            <a:extLst>
              <a:ext uri="{FF2B5EF4-FFF2-40B4-BE49-F238E27FC236}">
                <a16:creationId xmlns:a16="http://schemas.microsoft.com/office/drawing/2014/main" id="{BBFF7A67-1F24-6CE4-52CF-DF56546BF4EC}"/>
              </a:ext>
            </a:extLst>
          </p:cNvPr>
          <p:cNvSpPr txBox="1"/>
          <p:nvPr/>
        </p:nvSpPr>
        <p:spPr>
          <a:xfrm>
            <a:off x="859537" y="11929634"/>
            <a:ext cx="1645920" cy="35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品質驗收</a:t>
            </a:r>
          </a:p>
        </p:txBody>
      </p:sp>
      <p:pic>
        <p:nvPicPr>
          <p:cNvPr id="55" name="圖片 54">
            <a:extLst>
              <a:ext uri="{FF2B5EF4-FFF2-40B4-BE49-F238E27FC236}">
                <a16:creationId xmlns:a16="http://schemas.microsoft.com/office/drawing/2014/main" id="{1CA4A45B-A96A-700E-408B-914B638199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8123" y="7487887"/>
            <a:ext cx="4197793" cy="4592386"/>
          </a:xfrm>
          <a:prstGeom prst="rect">
            <a:avLst/>
          </a:prstGeom>
        </p:spPr>
      </p:pic>
      <p:pic>
        <p:nvPicPr>
          <p:cNvPr id="56" name="圖片 55">
            <a:extLst>
              <a:ext uri="{FF2B5EF4-FFF2-40B4-BE49-F238E27FC236}">
                <a16:creationId xmlns:a16="http://schemas.microsoft.com/office/drawing/2014/main" id="{511EAC35-07B3-040E-C67E-CFAF900B2BB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7557"/>
          <a:stretch>
            <a:fillRect/>
          </a:stretch>
        </p:blipFill>
        <p:spPr>
          <a:xfrm>
            <a:off x="3123423" y="7753875"/>
            <a:ext cx="4919837" cy="4060410"/>
          </a:xfrm>
          <a:prstGeom prst="rect">
            <a:avLst/>
          </a:prstGeom>
        </p:spPr>
      </p:pic>
      <p:pic>
        <p:nvPicPr>
          <p:cNvPr id="57" name="圖片 56">
            <a:extLst>
              <a:ext uri="{FF2B5EF4-FFF2-40B4-BE49-F238E27FC236}">
                <a16:creationId xmlns:a16="http://schemas.microsoft.com/office/drawing/2014/main" id="{098FBEA8-68EC-3565-2FC1-B1EA8C44A6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0646" y="7288842"/>
            <a:ext cx="6790476" cy="4990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88328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4B81A-E4BD-F45D-7F64-CC808338C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24CCDD7-E721-3E4C-49F2-6577E8783086}"/>
              </a:ext>
            </a:extLst>
          </p:cNvPr>
          <p:cNvSpPr/>
          <p:nvPr/>
        </p:nvSpPr>
        <p:spPr>
          <a:xfrm>
            <a:off x="548640" y="411480"/>
            <a:ext cx="1097280" cy="54864"/>
          </a:xfrm>
          <a:prstGeom prst="rect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0EA5B6-5EDC-522D-5B1C-7B39B8EB4B65}"/>
              </a:ext>
            </a:extLst>
          </p:cNvPr>
          <p:cNvSpPr txBox="1"/>
          <p:nvPr/>
        </p:nvSpPr>
        <p:spPr>
          <a:xfrm>
            <a:off x="548640" y="502920"/>
            <a:ext cx="7772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第 3 層：多專家分工</a:t>
            </a:r>
            <a:r>
              <a:rPr lang="zh-TW" altLang="zh-TW" dirty="0">
                <a:solidFill>
                  <a:srgbClr val="000000"/>
                </a:solidFill>
              </a:rPr>
              <a:t>Agent </a:t>
            </a:r>
            <a:r>
              <a:rPr lang="en-US" altLang="zh-TW" dirty="0">
                <a:solidFill>
                  <a:srgbClr val="000000"/>
                </a:solidFill>
              </a:rPr>
              <a:t>TEAM</a:t>
            </a:r>
            <a:endParaRPr lang="zh-TW" dirty="0">
              <a:solidFill>
                <a:srgbClr val="444444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255F3D-F032-2749-FAFA-D99FD89D4F3C}"/>
              </a:ext>
            </a:extLst>
          </p:cNvPr>
          <p:cNvSpPr txBox="1"/>
          <p:nvPr/>
        </p:nvSpPr>
        <p:spPr>
          <a:xfrm>
            <a:off x="9601200" y="411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概念篇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3942ED8-E77A-0BFD-65D5-009F116F3F11}"/>
              </a:ext>
            </a:extLst>
          </p:cNvPr>
          <p:cNvSpPr/>
          <p:nvPr/>
        </p:nvSpPr>
        <p:spPr>
          <a:xfrm>
            <a:off x="10744200" y="365760"/>
            <a:ext cx="457200" cy="457200"/>
          </a:xfrm>
          <a:prstGeom prst="ellipse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F9F9BA-CC41-ECEE-D364-07A2EB2C904D}"/>
              </a:ext>
            </a:extLst>
          </p:cNvPr>
          <p:cNvSpPr txBox="1"/>
          <p:nvPr/>
        </p:nvSpPr>
        <p:spPr>
          <a:xfrm>
            <a:off x="10744200" y="4114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991336-D44C-ED6F-C754-70EA141141F4}"/>
              </a:ext>
            </a:extLst>
          </p:cNvPr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7 / 16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BB09B9F-AE09-90D8-BBE3-C0D7E0EFEA09}"/>
              </a:ext>
            </a:extLst>
          </p:cNvPr>
          <p:cNvSpPr/>
          <p:nvPr/>
        </p:nvSpPr>
        <p:spPr>
          <a:xfrm>
            <a:off x="292238" y="1325880"/>
            <a:ext cx="3474720" cy="2622006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42293F-C005-5F0C-45FF-80A706C10FE6}"/>
              </a:ext>
            </a:extLst>
          </p:cNvPr>
          <p:cNvSpPr txBox="1"/>
          <p:nvPr/>
        </p:nvSpPr>
        <p:spPr>
          <a:xfrm>
            <a:off x="383678" y="150876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🔍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665352-38A0-378F-64FF-D83B35824FB4}"/>
              </a:ext>
            </a:extLst>
          </p:cNvPr>
          <p:cNvSpPr txBox="1"/>
          <p:nvPr/>
        </p:nvSpPr>
        <p:spPr>
          <a:xfrm>
            <a:off x="383678" y="224028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4472C4"/>
                </a:solidFill>
                <a:latin typeface="Microsoft JhengHei"/>
              </a:defRPr>
            </a:pPr>
            <a:r>
              <a:rPr lang="zh-TW" dirty="0">
                <a:solidFill>
                  <a:srgbClr val="4472C4"/>
                </a:solidFill>
              </a:rPr>
              <a:t>讀圖專家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163099A-E8E7-D471-49D4-EE41E8EFEC42}"/>
              </a:ext>
            </a:extLst>
          </p:cNvPr>
          <p:cNvSpPr/>
          <p:nvPr/>
        </p:nvSpPr>
        <p:spPr>
          <a:xfrm>
            <a:off x="840878" y="2880360"/>
            <a:ext cx="2377440" cy="27432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54EA97-0535-3C79-51E4-67E62F790547}"/>
              </a:ext>
            </a:extLst>
          </p:cNvPr>
          <p:cNvSpPr txBox="1"/>
          <p:nvPr/>
        </p:nvSpPr>
        <p:spPr>
          <a:xfrm>
            <a:off x="475118" y="306324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判讀圖紙、辨識構件</a:t>
            </a:r>
            <a:br>
              <a:rPr dirty="0"/>
            </a:br>
            <a:r>
              <a:rPr lang="zh-TW" dirty="0">
                <a:solidFill>
                  <a:srgbClr val="555555"/>
                </a:solidFill>
              </a:rPr>
              <a:t>理解設計意圖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9AFD9456-30F3-6648-36E1-66FA9FA252CC}"/>
              </a:ext>
            </a:extLst>
          </p:cNvPr>
          <p:cNvSpPr/>
          <p:nvPr/>
        </p:nvSpPr>
        <p:spPr>
          <a:xfrm>
            <a:off x="292238" y="4293471"/>
            <a:ext cx="3474720" cy="9000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E27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0D229433-CB5C-715D-1447-46998785C24E}"/>
              </a:ext>
            </a:extLst>
          </p:cNvPr>
          <p:cNvSpPr/>
          <p:nvPr/>
        </p:nvSpPr>
        <p:spPr>
          <a:xfrm>
            <a:off x="292238" y="5445036"/>
            <a:ext cx="3474720" cy="9000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6323416-4E26-FD50-DA88-A5E5E925F070}"/>
              </a:ext>
            </a:extLst>
          </p:cNvPr>
          <p:cNvSpPr txBox="1"/>
          <p:nvPr/>
        </p:nvSpPr>
        <p:spPr>
          <a:xfrm>
            <a:off x="383678" y="541140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📋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F8C840B-3A64-C691-4D98-9EE5924CB02A}"/>
              </a:ext>
            </a:extLst>
          </p:cNvPr>
          <p:cNvSpPr/>
          <p:nvPr/>
        </p:nvSpPr>
        <p:spPr>
          <a:xfrm>
            <a:off x="840878" y="6230262"/>
            <a:ext cx="2377440" cy="27432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20E93BB-FB69-6DC9-6684-41E4B0BF659D}"/>
              </a:ext>
            </a:extLst>
          </p:cNvPr>
          <p:cNvSpPr txBox="1"/>
          <p:nvPr/>
        </p:nvSpPr>
        <p:spPr>
          <a:xfrm rot="5400000">
            <a:off x="1883047" y="39728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◀▶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095E8323-6CAA-8169-0102-19E4566F4747}"/>
              </a:ext>
            </a:extLst>
          </p:cNvPr>
          <p:cNvSpPr/>
          <p:nvPr/>
        </p:nvSpPr>
        <p:spPr>
          <a:xfrm>
            <a:off x="12961620" y="4754880"/>
            <a:ext cx="3474720" cy="7772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F284CAF-947C-E54E-1BB8-A7D559521FA6}"/>
              </a:ext>
            </a:extLst>
          </p:cNvPr>
          <p:cNvSpPr txBox="1"/>
          <p:nvPr/>
        </p:nvSpPr>
        <p:spPr>
          <a:xfrm>
            <a:off x="13098780" y="4800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27026"/>
                </a:solidFill>
                <a:latin typeface="Microsoft JhengHei"/>
              </a:defRPr>
            </a:pPr>
            <a:r>
              <a:rPr lang="zh-TW" dirty="0">
                <a:solidFill>
                  <a:srgbClr val="E27026"/>
                </a:solidFill>
              </a:rPr>
              <a:t>🎭  角色定義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64717B2-9E77-42E0-7586-DB0ED9EC50F1}"/>
              </a:ext>
            </a:extLst>
          </p:cNvPr>
          <p:cNvSpPr txBox="1"/>
          <p:nvPr/>
        </p:nvSpPr>
        <p:spPr>
          <a:xfrm>
            <a:off x="13098780" y="51206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每位專家只負責自己擅長的事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CE9AB53E-696A-5040-F38B-66897F8AB71E}"/>
              </a:ext>
            </a:extLst>
          </p:cNvPr>
          <p:cNvSpPr/>
          <p:nvPr/>
        </p:nvSpPr>
        <p:spPr>
          <a:xfrm>
            <a:off x="16802100" y="4754880"/>
            <a:ext cx="3474720" cy="7772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73918C0-894F-D041-D4E1-563B58231635}"/>
              </a:ext>
            </a:extLst>
          </p:cNvPr>
          <p:cNvSpPr txBox="1"/>
          <p:nvPr/>
        </p:nvSpPr>
        <p:spPr>
          <a:xfrm>
            <a:off x="16939260" y="4800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27026"/>
                </a:solidFill>
                <a:latin typeface="Microsoft JhengHei"/>
              </a:defRPr>
            </a:pPr>
            <a:r>
              <a:rPr lang="zh-TW" dirty="0">
                <a:solidFill>
                  <a:srgbClr val="E27026"/>
                </a:solidFill>
              </a:rPr>
              <a:t>🔧  工具權限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4370E23-3A42-5B0D-9AC7-69E89C216A1A}"/>
              </a:ext>
            </a:extLst>
          </p:cNvPr>
          <p:cNvSpPr txBox="1"/>
          <p:nvPr/>
        </p:nvSpPr>
        <p:spPr>
          <a:xfrm>
            <a:off x="16939260" y="51206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每位專家有自己能使用的工具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677FF8DE-531E-D0AF-186F-6B0F8A40DFD0}"/>
              </a:ext>
            </a:extLst>
          </p:cNvPr>
          <p:cNvSpPr/>
          <p:nvPr/>
        </p:nvSpPr>
        <p:spPr>
          <a:xfrm>
            <a:off x="20642580" y="4754880"/>
            <a:ext cx="3474720" cy="7772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912D70C-B249-BB2D-9979-CF1AF00C361E}"/>
              </a:ext>
            </a:extLst>
          </p:cNvPr>
          <p:cNvSpPr txBox="1"/>
          <p:nvPr/>
        </p:nvSpPr>
        <p:spPr>
          <a:xfrm>
            <a:off x="20779740" y="4800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27026"/>
                </a:solidFill>
                <a:latin typeface="Microsoft JhengHei"/>
              </a:defRPr>
            </a:pPr>
            <a:r>
              <a:rPr lang="zh-TW" dirty="0">
                <a:solidFill>
                  <a:srgbClr val="E27026"/>
                </a:solidFill>
              </a:rPr>
              <a:t>💬  直接溝通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CD61E24-479C-914E-0747-A538B0701EB5}"/>
              </a:ext>
            </a:extLst>
          </p:cNvPr>
          <p:cNvSpPr txBox="1"/>
          <p:nvPr/>
        </p:nvSpPr>
        <p:spPr>
          <a:xfrm>
            <a:off x="20779740" y="51206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專家之間可互傳訊息、交叉確認</a:t>
            </a:r>
          </a:p>
        </p:txBody>
      </p:sp>
      <p:sp>
        <p:nvSpPr>
          <p:cNvPr id="42" name="TextBox 25">
            <a:extLst>
              <a:ext uri="{FF2B5EF4-FFF2-40B4-BE49-F238E27FC236}">
                <a16:creationId xmlns:a16="http://schemas.microsoft.com/office/drawing/2014/main" id="{EBA09287-91FE-7D99-CDFD-EF166B45342D}"/>
              </a:ext>
            </a:extLst>
          </p:cNvPr>
          <p:cNvSpPr txBox="1"/>
          <p:nvPr/>
        </p:nvSpPr>
        <p:spPr>
          <a:xfrm rot="5400000">
            <a:off x="1883047" y="5230569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◀▶</a:t>
            </a:r>
          </a:p>
        </p:txBody>
      </p:sp>
      <p:sp>
        <p:nvSpPr>
          <p:cNvPr id="44" name="TextBox 21">
            <a:extLst>
              <a:ext uri="{FF2B5EF4-FFF2-40B4-BE49-F238E27FC236}">
                <a16:creationId xmlns:a16="http://schemas.microsoft.com/office/drawing/2014/main" id="{3104F703-B81C-9099-2FBE-A40F5A78AA5E}"/>
              </a:ext>
            </a:extLst>
          </p:cNvPr>
          <p:cNvSpPr txBox="1"/>
          <p:nvPr/>
        </p:nvSpPr>
        <p:spPr>
          <a:xfrm>
            <a:off x="442006" y="6097408"/>
            <a:ext cx="3108960" cy="1231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555555"/>
                </a:solidFill>
                <a:latin typeface="Microsoft JhengHei"/>
              </a:defRPr>
            </a:pPr>
            <a:r>
              <a:rPr lang="zh-TW" sz="100" dirty="0">
                <a:solidFill>
                  <a:srgbClr val="555555"/>
                </a:solidFill>
              </a:rPr>
              <a:t>彙整所有資訊</a:t>
            </a:r>
            <a:br>
              <a:rPr sz="100" dirty="0"/>
            </a:br>
            <a:r>
              <a:rPr lang="zh-TW" sz="100" dirty="0">
                <a:solidFill>
                  <a:srgbClr val="555555"/>
                </a:solidFill>
              </a:rPr>
              <a:t>產出標準化規格書</a:t>
            </a:r>
          </a:p>
        </p:txBody>
      </p:sp>
      <p:sp>
        <p:nvSpPr>
          <p:cNvPr id="46" name="TextBox 19">
            <a:extLst>
              <a:ext uri="{FF2B5EF4-FFF2-40B4-BE49-F238E27FC236}">
                <a16:creationId xmlns:a16="http://schemas.microsoft.com/office/drawing/2014/main" id="{1B1301DB-A07F-008D-7AA9-CCACAA18871C}"/>
              </a:ext>
            </a:extLst>
          </p:cNvPr>
          <p:cNvSpPr txBox="1"/>
          <p:nvPr/>
        </p:nvSpPr>
        <p:spPr>
          <a:xfrm>
            <a:off x="350566" y="6190117"/>
            <a:ext cx="3291840" cy="1077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70AD47"/>
                </a:solidFill>
                <a:latin typeface="Microsoft JhengHei"/>
              </a:defRPr>
            </a:pPr>
            <a:r>
              <a:rPr lang="zh-TW" sz="100" dirty="0">
                <a:solidFill>
                  <a:srgbClr val="70AD47"/>
                </a:solidFill>
              </a:rPr>
              <a:t>整合專家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55249C2-7AFB-5771-D739-6E90B08422FD}"/>
              </a:ext>
            </a:extLst>
          </p:cNvPr>
          <p:cNvSpPr txBox="1"/>
          <p:nvPr/>
        </p:nvSpPr>
        <p:spPr>
          <a:xfrm>
            <a:off x="12961620" y="58521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472C4"/>
                </a:solidFill>
                <a:latin typeface="Microsoft JhengHei"/>
              </a:defRPr>
            </a:pPr>
            <a:r>
              <a:rPr lang="zh-TW" dirty="0">
                <a:solidFill>
                  <a:srgbClr val="4472C4"/>
                </a:solidFill>
              </a:rPr>
              <a:t>類比：專案小組 — 每個人有明確分工，遇到問題可以互相討論</a:t>
            </a:r>
          </a:p>
        </p:txBody>
      </p:sp>
      <p:pic>
        <p:nvPicPr>
          <p:cNvPr id="50" name="圖片 49">
            <a:extLst>
              <a:ext uri="{FF2B5EF4-FFF2-40B4-BE49-F238E27FC236}">
                <a16:creationId xmlns:a16="http://schemas.microsoft.com/office/drawing/2014/main" id="{0F6332B5-7B9F-4EF3-82CE-720677FD0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0646" y="1249680"/>
            <a:ext cx="6790476" cy="4990476"/>
          </a:xfrm>
          <a:prstGeom prst="rect">
            <a:avLst/>
          </a:prstGeom>
        </p:spPr>
      </p:pic>
      <p:pic>
        <p:nvPicPr>
          <p:cNvPr id="51" name="圖片 50">
            <a:extLst>
              <a:ext uri="{FF2B5EF4-FFF2-40B4-BE49-F238E27FC236}">
                <a16:creationId xmlns:a16="http://schemas.microsoft.com/office/drawing/2014/main" id="{3ACD81C4-1C79-307A-E857-2F5BE54A1A5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5435"/>
          <a:stretch>
            <a:fillRect/>
          </a:stretch>
        </p:blipFill>
        <p:spPr>
          <a:xfrm>
            <a:off x="4388724" y="7440930"/>
            <a:ext cx="7063203" cy="392380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9C52173-37CD-2401-DF67-86BD894D5169}"/>
              </a:ext>
            </a:extLst>
          </p:cNvPr>
          <p:cNvSpPr txBox="1"/>
          <p:nvPr/>
        </p:nvSpPr>
        <p:spPr>
          <a:xfrm>
            <a:off x="383678" y="4244124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📐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861A5CA-F737-4975-22ED-513047B8FD8B}"/>
              </a:ext>
            </a:extLst>
          </p:cNvPr>
          <p:cNvSpPr/>
          <p:nvPr/>
        </p:nvSpPr>
        <p:spPr>
          <a:xfrm>
            <a:off x="840878" y="5078697"/>
            <a:ext cx="2377440" cy="27432"/>
          </a:xfrm>
          <a:prstGeom prst="rect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16">
            <a:extLst>
              <a:ext uri="{FF2B5EF4-FFF2-40B4-BE49-F238E27FC236}">
                <a16:creationId xmlns:a16="http://schemas.microsoft.com/office/drawing/2014/main" id="{28F66B00-F9C5-528A-5406-27955A582F9C}"/>
              </a:ext>
            </a:extLst>
          </p:cNvPr>
          <p:cNvSpPr txBox="1"/>
          <p:nvPr/>
        </p:nvSpPr>
        <p:spPr>
          <a:xfrm>
            <a:off x="416589" y="4926980"/>
            <a:ext cx="3108960" cy="1231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555555"/>
                </a:solidFill>
                <a:latin typeface="Microsoft JhengHei"/>
              </a:defRPr>
            </a:pPr>
            <a:r>
              <a:rPr lang="zh-TW" sz="100" dirty="0">
                <a:solidFill>
                  <a:srgbClr val="555555"/>
                </a:solidFill>
              </a:rPr>
              <a:t>精準定位座標</a:t>
            </a:r>
            <a:br>
              <a:rPr sz="100" dirty="0"/>
            </a:br>
            <a:r>
              <a:rPr lang="zh-TW" sz="100" dirty="0">
                <a:solidFill>
                  <a:srgbClr val="555555"/>
                </a:solidFill>
              </a:rPr>
              <a:t>驗證幾何合理性</a:t>
            </a:r>
          </a:p>
        </p:txBody>
      </p:sp>
      <p:sp>
        <p:nvSpPr>
          <p:cNvPr id="45" name="TextBox 14">
            <a:extLst>
              <a:ext uri="{FF2B5EF4-FFF2-40B4-BE49-F238E27FC236}">
                <a16:creationId xmlns:a16="http://schemas.microsoft.com/office/drawing/2014/main" id="{2EAA75B3-1941-8897-BB11-15ACC928709A}"/>
              </a:ext>
            </a:extLst>
          </p:cNvPr>
          <p:cNvSpPr txBox="1"/>
          <p:nvPr/>
        </p:nvSpPr>
        <p:spPr>
          <a:xfrm>
            <a:off x="325149" y="5035942"/>
            <a:ext cx="3291840" cy="1077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E27026"/>
                </a:solidFill>
                <a:latin typeface="Microsoft JhengHei"/>
              </a:defRPr>
            </a:pPr>
            <a:r>
              <a:rPr lang="zh-TW" sz="100" dirty="0">
                <a:solidFill>
                  <a:srgbClr val="E27026"/>
                </a:solidFill>
              </a:rPr>
              <a:t>定位專家</a:t>
            </a:r>
          </a:p>
        </p:txBody>
      </p:sp>
    </p:spTree>
    <p:extLst>
      <p:ext uri="{BB962C8B-B14F-4D97-AF65-F5344CB8AC3E}">
        <p14:creationId xmlns:p14="http://schemas.microsoft.com/office/powerpoint/2010/main" val="28569924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A34CF-AF8B-9394-F323-A8E0EC106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9DB73C9-88C9-F896-9186-4905C976643B}"/>
              </a:ext>
            </a:extLst>
          </p:cNvPr>
          <p:cNvSpPr/>
          <p:nvPr/>
        </p:nvSpPr>
        <p:spPr>
          <a:xfrm>
            <a:off x="548640" y="411480"/>
            <a:ext cx="1097280" cy="54864"/>
          </a:xfrm>
          <a:prstGeom prst="rect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87C65D-32F6-E3E9-994F-1A8A07F3C3FA}"/>
              </a:ext>
            </a:extLst>
          </p:cNvPr>
          <p:cNvSpPr txBox="1"/>
          <p:nvPr/>
        </p:nvSpPr>
        <p:spPr>
          <a:xfrm>
            <a:off x="548640" y="502920"/>
            <a:ext cx="7772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第 3 層：多專家分工</a:t>
            </a:r>
            <a:r>
              <a:rPr lang="zh-TW" altLang="zh-TW" dirty="0">
                <a:solidFill>
                  <a:srgbClr val="000000"/>
                </a:solidFill>
              </a:rPr>
              <a:t>Agent </a:t>
            </a:r>
            <a:r>
              <a:rPr lang="en-US" altLang="zh-TW" dirty="0">
                <a:solidFill>
                  <a:srgbClr val="000000"/>
                </a:solidFill>
              </a:rPr>
              <a:t>TEAM</a:t>
            </a:r>
            <a:endParaRPr lang="zh-TW" dirty="0">
              <a:solidFill>
                <a:srgbClr val="444444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D87502-105E-948E-0127-C6182F96AC11}"/>
              </a:ext>
            </a:extLst>
          </p:cNvPr>
          <p:cNvSpPr txBox="1"/>
          <p:nvPr/>
        </p:nvSpPr>
        <p:spPr>
          <a:xfrm>
            <a:off x="9601200" y="411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概念篇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64B8BE0-6455-B32A-A948-E732447447DD}"/>
              </a:ext>
            </a:extLst>
          </p:cNvPr>
          <p:cNvSpPr/>
          <p:nvPr/>
        </p:nvSpPr>
        <p:spPr>
          <a:xfrm>
            <a:off x="10744200" y="365760"/>
            <a:ext cx="457200" cy="457200"/>
          </a:xfrm>
          <a:prstGeom prst="ellipse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1AC99D-59A7-A81B-EDEB-58B4D1063259}"/>
              </a:ext>
            </a:extLst>
          </p:cNvPr>
          <p:cNvSpPr txBox="1"/>
          <p:nvPr/>
        </p:nvSpPr>
        <p:spPr>
          <a:xfrm>
            <a:off x="10744200" y="4114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58BDDF-9D76-486E-EEBB-C0900A997B6D}"/>
              </a:ext>
            </a:extLst>
          </p:cNvPr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7 / 16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E4775B2-E063-BFEB-82AE-B8B4A2490043}"/>
              </a:ext>
            </a:extLst>
          </p:cNvPr>
          <p:cNvSpPr/>
          <p:nvPr/>
        </p:nvSpPr>
        <p:spPr>
          <a:xfrm>
            <a:off x="292238" y="1325880"/>
            <a:ext cx="3474720" cy="9000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DF569A-C770-0AB3-1583-5FDAE9BC59DE}"/>
              </a:ext>
            </a:extLst>
          </p:cNvPr>
          <p:cNvSpPr txBox="1"/>
          <p:nvPr/>
        </p:nvSpPr>
        <p:spPr>
          <a:xfrm>
            <a:off x="383678" y="1313688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🔍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6EA9088-68AC-5FC9-9371-A1691C7AAE29}"/>
              </a:ext>
            </a:extLst>
          </p:cNvPr>
          <p:cNvSpPr/>
          <p:nvPr/>
        </p:nvSpPr>
        <p:spPr>
          <a:xfrm>
            <a:off x="840878" y="2090928"/>
            <a:ext cx="2377440" cy="45720"/>
          </a:xfrm>
          <a:prstGeom prst="rect">
            <a:avLst/>
          </a:prstGeom>
          <a:solidFill>
            <a:srgbClr val="4472C4"/>
          </a:solidFill>
          <a:ln w="3175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C16B7AC-F800-AE15-0D12-AED47D4B94BF}"/>
              </a:ext>
            </a:extLst>
          </p:cNvPr>
          <p:cNvSpPr txBox="1"/>
          <p:nvPr/>
        </p:nvSpPr>
        <p:spPr>
          <a:xfrm>
            <a:off x="442006" y="2038584"/>
            <a:ext cx="3108960" cy="153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555555"/>
                </a:solidFill>
                <a:latin typeface="Microsoft JhengHei"/>
              </a:defRPr>
            </a:pPr>
            <a:r>
              <a:rPr lang="zh-TW" sz="200" dirty="0">
                <a:solidFill>
                  <a:srgbClr val="555555"/>
                </a:solidFill>
              </a:rPr>
              <a:t>判讀圖紙、辨識構件</a:t>
            </a:r>
            <a:br>
              <a:rPr sz="200" dirty="0"/>
            </a:br>
            <a:r>
              <a:rPr lang="zh-TW" sz="200" dirty="0">
                <a:solidFill>
                  <a:srgbClr val="555555"/>
                </a:solidFill>
              </a:rPr>
              <a:t>理解設計</a:t>
            </a:r>
            <a:r>
              <a:rPr lang="zh-TW" sz="100" dirty="0">
                <a:solidFill>
                  <a:srgbClr val="555555"/>
                </a:solidFill>
              </a:rPr>
              <a:t>意圖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63733664-FADA-D5AD-750A-A18F3D502210}"/>
              </a:ext>
            </a:extLst>
          </p:cNvPr>
          <p:cNvSpPr/>
          <p:nvPr/>
        </p:nvSpPr>
        <p:spPr>
          <a:xfrm>
            <a:off x="292238" y="2562207"/>
            <a:ext cx="3474720" cy="26208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E27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A14DFEB-47B5-628D-D402-89FD0A1E4571}"/>
              </a:ext>
            </a:extLst>
          </p:cNvPr>
          <p:cNvSpPr txBox="1"/>
          <p:nvPr/>
        </p:nvSpPr>
        <p:spPr>
          <a:xfrm>
            <a:off x="383678" y="2659164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📐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8B87AFD-958A-D015-B09A-DCCE1406CA90}"/>
              </a:ext>
            </a:extLst>
          </p:cNvPr>
          <p:cNvSpPr/>
          <p:nvPr/>
        </p:nvSpPr>
        <p:spPr>
          <a:xfrm>
            <a:off x="840878" y="4091145"/>
            <a:ext cx="2377440" cy="27432"/>
          </a:xfrm>
          <a:prstGeom prst="rect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47337D36-EEF3-C522-6378-0D3C288316DA}"/>
              </a:ext>
            </a:extLst>
          </p:cNvPr>
          <p:cNvSpPr/>
          <p:nvPr/>
        </p:nvSpPr>
        <p:spPr>
          <a:xfrm>
            <a:off x="292238" y="5445036"/>
            <a:ext cx="3474720" cy="9000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05CB8B1-FD9D-BAD1-9E54-45C41B965AFA}"/>
              </a:ext>
            </a:extLst>
          </p:cNvPr>
          <p:cNvSpPr txBox="1"/>
          <p:nvPr/>
        </p:nvSpPr>
        <p:spPr>
          <a:xfrm>
            <a:off x="383678" y="541140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📋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4A174AD-C5C2-C932-50C7-A1CF1B4E965C}"/>
              </a:ext>
            </a:extLst>
          </p:cNvPr>
          <p:cNvSpPr/>
          <p:nvPr/>
        </p:nvSpPr>
        <p:spPr>
          <a:xfrm>
            <a:off x="840878" y="6230262"/>
            <a:ext cx="2377440" cy="27432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45A4487-D4E1-5294-E301-A986F4F0739C}"/>
              </a:ext>
            </a:extLst>
          </p:cNvPr>
          <p:cNvSpPr txBox="1"/>
          <p:nvPr/>
        </p:nvSpPr>
        <p:spPr>
          <a:xfrm rot="5400000">
            <a:off x="1925349" y="2254554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◀▶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AD59654E-9272-E653-974E-032802555FFB}"/>
              </a:ext>
            </a:extLst>
          </p:cNvPr>
          <p:cNvSpPr/>
          <p:nvPr/>
        </p:nvSpPr>
        <p:spPr>
          <a:xfrm>
            <a:off x="12961620" y="4754880"/>
            <a:ext cx="3474720" cy="7772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63737EE-4E28-5FFF-8786-1AC4D21DEEAF}"/>
              </a:ext>
            </a:extLst>
          </p:cNvPr>
          <p:cNvSpPr txBox="1"/>
          <p:nvPr/>
        </p:nvSpPr>
        <p:spPr>
          <a:xfrm>
            <a:off x="13098780" y="4800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27026"/>
                </a:solidFill>
                <a:latin typeface="Microsoft JhengHei"/>
              </a:defRPr>
            </a:pPr>
            <a:r>
              <a:rPr lang="zh-TW" dirty="0">
                <a:solidFill>
                  <a:srgbClr val="E27026"/>
                </a:solidFill>
              </a:rPr>
              <a:t>🎭  角色定義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9676ED5-DD78-8E90-3C55-204EF36C18E0}"/>
              </a:ext>
            </a:extLst>
          </p:cNvPr>
          <p:cNvSpPr txBox="1"/>
          <p:nvPr/>
        </p:nvSpPr>
        <p:spPr>
          <a:xfrm>
            <a:off x="13098780" y="51206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每位專家只負責自己擅長的事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A303DE75-A0A3-027F-51CA-0B6D4675F946}"/>
              </a:ext>
            </a:extLst>
          </p:cNvPr>
          <p:cNvSpPr/>
          <p:nvPr/>
        </p:nvSpPr>
        <p:spPr>
          <a:xfrm>
            <a:off x="16802100" y="4754880"/>
            <a:ext cx="3474720" cy="7772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6108431-E966-FED0-2CF0-B3A7784A9DA4}"/>
              </a:ext>
            </a:extLst>
          </p:cNvPr>
          <p:cNvSpPr txBox="1"/>
          <p:nvPr/>
        </p:nvSpPr>
        <p:spPr>
          <a:xfrm>
            <a:off x="16939260" y="4800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27026"/>
                </a:solidFill>
                <a:latin typeface="Microsoft JhengHei"/>
              </a:defRPr>
            </a:pPr>
            <a:r>
              <a:rPr lang="zh-TW" dirty="0">
                <a:solidFill>
                  <a:srgbClr val="E27026"/>
                </a:solidFill>
              </a:rPr>
              <a:t>🔧  工具權限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A6B3F29-6243-EF67-E8A2-46553592CAC3}"/>
              </a:ext>
            </a:extLst>
          </p:cNvPr>
          <p:cNvSpPr txBox="1"/>
          <p:nvPr/>
        </p:nvSpPr>
        <p:spPr>
          <a:xfrm>
            <a:off x="16939260" y="51206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每位專家有自己能使用的工具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2A92AFB3-1F3D-3ED6-6C04-D842FCF48EB8}"/>
              </a:ext>
            </a:extLst>
          </p:cNvPr>
          <p:cNvSpPr/>
          <p:nvPr/>
        </p:nvSpPr>
        <p:spPr>
          <a:xfrm>
            <a:off x="20642580" y="4754880"/>
            <a:ext cx="3474720" cy="7772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3AE73AF-477B-1E52-BD63-AB6589FBC7F6}"/>
              </a:ext>
            </a:extLst>
          </p:cNvPr>
          <p:cNvSpPr txBox="1"/>
          <p:nvPr/>
        </p:nvSpPr>
        <p:spPr>
          <a:xfrm>
            <a:off x="20779740" y="4800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27026"/>
                </a:solidFill>
                <a:latin typeface="Microsoft JhengHei"/>
              </a:defRPr>
            </a:pPr>
            <a:r>
              <a:rPr lang="zh-TW" dirty="0">
                <a:solidFill>
                  <a:srgbClr val="E27026"/>
                </a:solidFill>
              </a:rPr>
              <a:t>💬  直接溝通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92CBBA0-D983-0EAF-40CE-76816FF380C5}"/>
              </a:ext>
            </a:extLst>
          </p:cNvPr>
          <p:cNvSpPr txBox="1"/>
          <p:nvPr/>
        </p:nvSpPr>
        <p:spPr>
          <a:xfrm>
            <a:off x="20779740" y="51206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專家之間可互傳訊息、交叉確認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05FA9E6-310A-75F2-06D7-54FB3A65B75E}"/>
              </a:ext>
            </a:extLst>
          </p:cNvPr>
          <p:cNvSpPr txBox="1"/>
          <p:nvPr/>
        </p:nvSpPr>
        <p:spPr>
          <a:xfrm>
            <a:off x="12961620" y="58521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472C4"/>
                </a:solidFill>
                <a:latin typeface="Microsoft JhengHei"/>
              </a:defRPr>
            </a:pPr>
            <a:r>
              <a:rPr lang="zh-TW" dirty="0">
                <a:solidFill>
                  <a:srgbClr val="4472C4"/>
                </a:solidFill>
              </a:rPr>
              <a:t>類比：專案小組 — 每個人有明確分工，遇到問題可以互相討論</a:t>
            </a:r>
          </a:p>
        </p:txBody>
      </p:sp>
      <p:sp>
        <p:nvSpPr>
          <p:cNvPr id="42" name="TextBox 25">
            <a:extLst>
              <a:ext uri="{FF2B5EF4-FFF2-40B4-BE49-F238E27FC236}">
                <a16:creationId xmlns:a16="http://schemas.microsoft.com/office/drawing/2014/main" id="{5044A1EB-D32F-19F0-EAEA-A64CDB636BE7}"/>
              </a:ext>
            </a:extLst>
          </p:cNvPr>
          <p:cNvSpPr txBox="1"/>
          <p:nvPr/>
        </p:nvSpPr>
        <p:spPr>
          <a:xfrm rot="5400000">
            <a:off x="1883047" y="5230569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◀▶</a:t>
            </a:r>
          </a:p>
        </p:txBody>
      </p:sp>
      <p:sp>
        <p:nvSpPr>
          <p:cNvPr id="43" name="TextBox 16">
            <a:extLst>
              <a:ext uri="{FF2B5EF4-FFF2-40B4-BE49-F238E27FC236}">
                <a16:creationId xmlns:a16="http://schemas.microsoft.com/office/drawing/2014/main" id="{C09C126C-6A5C-6015-C6BA-E32F3EBA4745}"/>
              </a:ext>
            </a:extLst>
          </p:cNvPr>
          <p:cNvSpPr txBox="1"/>
          <p:nvPr/>
        </p:nvSpPr>
        <p:spPr>
          <a:xfrm>
            <a:off x="475118" y="4257248"/>
            <a:ext cx="310896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555555"/>
                </a:solidFill>
                <a:latin typeface="Microsoft JhengHei"/>
              </a:defRPr>
            </a:pPr>
            <a:r>
              <a:rPr lang="zh-TW" sz="1700" dirty="0">
                <a:solidFill>
                  <a:srgbClr val="555555"/>
                </a:solidFill>
              </a:rPr>
              <a:t>精準定位座標</a:t>
            </a:r>
            <a:br>
              <a:rPr sz="1700" dirty="0"/>
            </a:br>
            <a:r>
              <a:rPr lang="zh-TW" sz="1700" dirty="0">
                <a:solidFill>
                  <a:srgbClr val="555555"/>
                </a:solidFill>
              </a:rPr>
              <a:t>驗證幾何合理性</a:t>
            </a:r>
          </a:p>
        </p:txBody>
      </p:sp>
      <p:sp>
        <p:nvSpPr>
          <p:cNvPr id="44" name="TextBox 21">
            <a:extLst>
              <a:ext uri="{FF2B5EF4-FFF2-40B4-BE49-F238E27FC236}">
                <a16:creationId xmlns:a16="http://schemas.microsoft.com/office/drawing/2014/main" id="{8EAC5DDD-0B67-1B45-1EAF-EAB04C07F243}"/>
              </a:ext>
            </a:extLst>
          </p:cNvPr>
          <p:cNvSpPr txBox="1"/>
          <p:nvPr/>
        </p:nvSpPr>
        <p:spPr>
          <a:xfrm>
            <a:off x="467960" y="6094809"/>
            <a:ext cx="3108960" cy="1231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555555"/>
                </a:solidFill>
                <a:latin typeface="Microsoft JhengHei"/>
              </a:defRPr>
            </a:pPr>
            <a:r>
              <a:rPr lang="zh-TW" sz="100" dirty="0">
                <a:solidFill>
                  <a:srgbClr val="555555"/>
                </a:solidFill>
              </a:rPr>
              <a:t>彙整所有資訊</a:t>
            </a:r>
            <a:br>
              <a:rPr sz="100" dirty="0"/>
            </a:br>
            <a:r>
              <a:rPr lang="zh-TW" sz="100" dirty="0">
                <a:solidFill>
                  <a:srgbClr val="555555"/>
                </a:solidFill>
              </a:rPr>
              <a:t>產出標準化規格書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A45B0C9-4DB8-D4D0-FC14-AB1C8FD54C19}"/>
              </a:ext>
            </a:extLst>
          </p:cNvPr>
          <p:cNvSpPr txBox="1"/>
          <p:nvPr/>
        </p:nvSpPr>
        <p:spPr>
          <a:xfrm>
            <a:off x="325149" y="3549096"/>
            <a:ext cx="329184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E27026"/>
                </a:solidFill>
                <a:latin typeface="Microsoft JhengHei"/>
              </a:defRPr>
            </a:pPr>
            <a:r>
              <a:rPr lang="zh-TW" sz="2600" dirty="0">
                <a:solidFill>
                  <a:srgbClr val="E27026"/>
                </a:solidFill>
              </a:rPr>
              <a:t>定位專家</a:t>
            </a:r>
          </a:p>
        </p:txBody>
      </p:sp>
      <p:sp>
        <p:nvSpPr>
          <p:cNvPr id="17" name="TextBox 19">
            <a:extLst>
              <a:ext uri="{FF2B5EF4-FFF2-40B4-BE49-F238E27FC236}">
                <a16:creationId xmlns:a16="http://schemas.microsoft.com/office/drawing/2014/main" id="{C0A07AF6-C284-0A0A-8A7E-3F2F11CBFA88}"/>
              </a:ext>
            </a:extLst>
          </p:cNvPr>
          <p:cNvSpPr txBox="1"/>
          <p:nvPr/>
        </p:nvSpPr>
        <p:spPr>
          <a:xfrm>
            <a:off x="471539" y="6197677"/>
            <a:ext cx="3291840" cy="1077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70AD47"/>
                </a:solidFill>
                <a:latin typeface="Microsoft JhengHei"/>
              </a:defRPr>
            </a:pPr>
            <a:r>
              <a:rPr lang="zh-TW" sz="100" dirty="0">
                <a:solidFill>
                  <a:srgbClr val="70AD47"/>
                </a:solidFill>
              </a:rPr>
              <a:t>整合專家</a:t>
            </a:r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68DEB94E-B53D-6AD6-9D6D-08783EB2AF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24358" y="1249680"/>
            <a:ext cx="6790476" cy="4990476"/>
          </a:xfrm>
          <a:prstGeom prst="rect">
            <a:avLst/>
          </a:prstGeom>
        </p:spPr>
      </p:pic>
      <p:pic>
        <p:nvPicPr>
          <p:cNvPr id="24" name="圖片 23">
            <a:extLst>
              <a:ext uri="{FF2B5EF4-FFF2-40B4-BE49-F238E27FC236}">
                <a16:creationId xmlns:a16="http://schemas.microsoft.com/office/drawing/2014/main" id="{B3CCE95A-2DA7-5040-2E96-45502D3F587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5435"/>
          <a:stretch>
            <a:fillRect/>
          </a:stretch>
        </p:blipFill>
        <p:spPr>
          <a:xfrm>
            <a:off x="4388724" y="1608311"/>
            <a:ext cx="7063203" cy="3923809"/>
          </a:xfrm>
          <a:prstGeom prst="rect">
            <a:avLst/>
          </a:prstGeom>
        </p:spPr>
      </p:pic>
      <p:pic>
        <p:nvPicPr>
          <p:cNvPr id="25" name="圖片 24">
            <a:extLst>
              <a:ext uri="{FF2B5EF4-FFF2-40B4-BE49-F238E27FC236}">
                <a16:creationId xmlns:a16="http://schemas.microsoft.com/office/drawing/2014/main" id="{0E366E30-46A8-9234-8339-9C4A425B0DE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1882"/>
          <a:stretch>
            <a:fillRect/>
          </a:stretch>
        </p:blipFill>
        <p:spPr>
          <a:xfrm>
            <a:off x="4348509" y="7868141"/>
            <a:ext cx="7368373" cy="3961905"/>
          </a:xfrm>
          <a:prstGeom prst="rect">
            <a:avLst/>
          </a:prstGeom>
        </p:spPr>
      </p:pic>
      <p:sp>
        <p:nvSpPr>
          <p:cNvPr id="37" name="TextBox 9">
            <a:extLst>
              <a:ext uri="{FF2B5EF4-FFF2-40B4-BE49-F238E27FC236}">
                <a16:creationId xmlns:a16="http://schemas.microsoft.com/office/drawing/2014/main" id="{C5EBE97A-C768-3A5A-A436-69EE1FC83066}"/>
              </a:ext>
            </a:extLst>
          </p:cNvPr>
          <p:cNvSpPr txBox="1"/>
          <p:nvPr/>
        </p:nvSpPr>
        <p:spPr>
          <a:xfrm>
            <a:off x="383678" y="2078355"/>
            <a:ext cx="3291840" cy="1077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4472C4"/>
                </a:solidFill>
                <a:latin typeface="Microsoft JhengHei"/>
              </a:defRPr>
            </a:pPr>
            <a:r>
              <a:rPr lang="zh-TW" sz="100" dirty="0">
                <a:solidFill>
                  <a:srgbClr val="4472C4"/>
                </a:solidFill>
              </a:rPr>
              <a:t>讀圖專家</a:t>
            </a:r>
          </a:p>
        </p:txBody>
      </p:sp>
    </p:spTree>
    <p:extLst>
      <p:ext uri="{BB962C8B-B14F-4D97-AF65-F5344CB8AC3E}">
        <p14:creationId xmlns:p14="http://schemas.microsoft.com/office/powerpoint/2010/main" val="7659726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B59B2-BD53-ECF3-29F4-91C517996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0DCCAF1-DDB7-C654-B403-19953D548FA1}"/>
              </a:ext>
            </a:extLst>
          </p:cNvPr>
          <p:cNvSpPr/>
          <p:nvPr/>
        </p:nvSpPr>
        <p:spPr>
          <a:xfrm>
            <a:off x="548640" y="411480"/>
            <a:ext cx="1097280" cy="54864"/>
          </a:xfrm>
          <a:prstGeom prst="rect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503674-8F0D-0F28-0AAE-0A6B87EE5717}"/>
              </a:ext>
            </a:extLst>
          </p:cNvPr>
          <p:cNvSpPr txBox="1"/>
          <p:nvPr/>
        </p:nvSpPr>
        <p:spPr>
          <a:xfrm>
            <a:off x="548640" y="502920"/>
            <a:ext cx="7772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第 3 層：多專家分工</a:t>
            </a:r>
            <a:r>
              <a:rPr lang="zh-TW" altLang="zh-TW" dirty="0">
                <a:solidFill>
                  <a:srgbClr val="000000"/>
                </a:solidFill>
              </a:rPr>
              <a:t>Agent </a:t>
            </a:r>
            <a:r>
              <a:rPr lang="en-US" altLang="zh-TW" dirty="0">
                <a:solidFill>
                  <a:srgbClr val="000000"/>
                </a:solidFill>
              </a:rPr>
              <a:t>TEAM</a:t>
            </a:r>
            <a:endParaRPr lang="zh-TW" dirty="0">
              <a:solidFill>
                <a:srgbClr val="444444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B5CF1C-653F-2551-62FB-8AC944222981}"/>
              </a:ext>
            </a:extLst>
          </p:cNvPr>
          <p:cNvSpPr txBox="1"/>
          <p:nvPr/>
        </p:nvSpPr>
        <p:spPr>
          <a:xfrm>
            <a:off x="9601200" y="411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概念篇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12B9CD8-3FF8-07E7-2A03-8B921200F9E5}"/>
              </a:ext>
            </a:extLst>
          </p:cNvPr>
          <p:cNvSpPr/>
          <p:nvPr/>
        </p:nvSpPr>
        <p:spPr>
          <a:xfrm>
            <a:off x="10744200" y="365760"/>
            <a:ext cx="457200" cy="457200"/>
          </a:xfrm>
          <a:prstGeom prst="ellipse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BC00D0-9D35-ED1A-E261-4C163CCCFE6D}"/>
              </a:ext>
            </a:extLst>
          </p:cNvPr>
          <p:cNvSpPr txBox="1"/>
          <p:nvPr/>
        </p:nvSpPr>
        <p:spPr>
          <a:xfrm>
            <a:off x="10744200" y="4114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4059BD0-A00C-35B3-7ABB-268EDF9C1DAF}"/>
              </a:ext>
            </a:extLst>
          </p:cNvPr>
          <p:cNvSpPr txBox="1"/>
          <p:nvPr/>
        </p:nvSpPr>
        <p:spPr>
          <a:xfrm>
            <a:off x="10436352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7 / 16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AB94F50-E08C-0E3E-CE1B-CB13236531BF}"/>
              </a:ext>
            </a:extLst>
          </p:cNvPr>
          <p:cNvSpPr/>
          <p:nvPr/>
        </p:nvSpPr>
        <p:spPr>
          <a:xfrm>
            <a:off x="292238" y="1325880"/>
            <a:ext cx="3474720" cy="9000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F6A2F8-BB66-3A1C-DDC9-3551A41ABF5A}"/>
              </a:ext>
            </a:extLst>
          </p:cNvPr>
          <p:cNvSpPr txBox="1"/>
          <p:nvPr/>
        </p:nvSpPr>
        <p:spPr>
          <a:xfrm>
            <a:off x="383678" y="1313688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🔍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E6188D0-D46D-80C0-042F-4F2BAD5C8CD3}"/>
              </a:ext>
            </a:extLst>
          </p:cNvPr>
          <p:cNvSpPr/>
          <p:nvPr/>
        </p:nvSpPr>
        <p:spPr>
          <a:xfrm>
            <a:off x="840878" y="2090928"/>
            <a:ext cx="2377440" cy="45720"/>
          </a:xfrm>
          <a:prstGeom prst="rect">
            <a:avLst/>
          </a:prstGeom>
          <a:solidFill>
            <a:srgbClr val="4472C4"/>
          </a:solidFill>
          <a:ln w="3175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599760-E153-AF34-86BC-2A79232EC9F8}"/>
              </a:ext>
            </a:extLst>
          </p:cNvPr>
          <p:cNvSpPr txBox="1"/>
          <p:nvPr/>
        </p:nvSpPr>
        <p:spPr>
          <a:xfrm>
            <a:off x="442006" y="2038584"/>
            <a:ext cx="3108960" cy="153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555555"/>
                </a:solidFill>
                <a:latin typeface="Microsoft JhengHei"/>
              </a:defRPr>
            </a:pPr>
            <a:r>
              <a:rPr lang="zh-TW" sz="200" dirty="0">
                <a:solidFill>
                  <a:srgbClr val="555555"/>
                </a:solidFill>
              </a:rPr>
              <a:t>判讀圖紙、辨識構件</a:t>
            </a:r>
            <a:br>
              <a:rPr sz="200" dirty="0"/>
            </a:br>
            <a:r>
              <a:rPr lang="zh-TW" sz="200" dirty="0">
                <a:solidFill>
                  <a:srgbClr val="555555"/>
                </a:solidFill>
              </a:rPr>
              <a:t>理解設計意圖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EBF0FAD-17C3-439C-E91C-D878E5E094CA}"/>
              </a:ext>
            </a:extLst>
          </p:cNvPr>
          <p:cNvSpPr/>
          <p:nvPr/>
        </p:nvSpPr>
        <p:spPr>
          <a:xfrm>
            <a:off x="292238" y="2562207"/>
            <a:ext cx="3474720" cy="9000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E27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A001CF0-11C6-FBB8-38F2-DB5C8A54B0F0}"/>
              </a:ext>
            </a:extLst>
          </p:cNvPr>
          <p:cNvSpPr txBox="1"/>
          <p:nvPr/>
        </p:nvSpPr>
        <p:spPr>
          <a:xfrm>
            <a:off x="383678" y="2525052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📐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D5A9B7D-FBDE-C17D-04E7-FDBBD40DBA20}"/>
              </a:ext>
            </a:extLst>
          </p:cNvPr>
          <p:cNvSpPr/>
          <p:nvPr/>
        </p:nvSpPr>
        <p:spPr>
          <a:xfrm>
            <a:off x="840878" y="3359625"/>
            <a:ext cx="2377440" cy="27432"/>
          </a:xfrm>
          <a:prstGeom prst="rect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6482B3FE-4320-16FD-8B23-3965D27EAD3C}"/>
              </a:ext>
            </a:extLst>
          </p:cNvPr>
          <p:cNvSpPr/>
          <p:nvPr/>
        </p:nvSpPr>
        <p:spPr>
          <a:xfrm>
            <a:off x="292238" y="3725964"/>
            <a:ext cx="3474720" cy="26208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30F9549-CC26-9721-D36A-610D8DB9D5DE}"/>
              </a:ext>
            </a:extLst>
          </p:cNvPr>
          <p:cNvSpPr txBox="1"/>
          <p:nvPr/>
        </p:nvSpPr>
        <p:spPr>
          <a:xfrm>
            <a:off x="383678" y="3850824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📋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A3CE96D-39C5-269A-0C6D-0EB8C73040F1}"/>
              </a:ext>
            </a:extLst>
          </p:cNvPr>
          <p:cNvSpPr/>
          <p:nvPr/>
        </p:nvSpPr>
        <p:spPr>
          <a:xfrm>
            <a:off x="840878" y="5364630"/>
            <a:ext cx="2377440" cy="27432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D25CDFB-0AAB-8704-331B-BB073E8B75D1}"/>
              </a:ext>
            </a:extLst>
          </p:cNvPr>
          <p:cNvSpPr txBox="1"/>
          <p:nvPr/>
        </p:nvSpPr>
        <p:spPr>
          <a:xfrm rot="5400000">
            <a:off x="1925349" y="2254554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◀▶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7039EA91-648D-4218-9C71-62BA34C27A4E}"/>
              </a:ext>
            </a:extLst>
          </p:cNvPr>
          <p:cNvSpPr/>
          <p:nvPr/>
        </p:nvSpPr>
        <p:spPr>
          <a:xfrm>
            <a:off x="12961620" y="4754880"/>
            <a:ext cx="3474720" cy="7772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5772457-AFE6-DB37-7D98-C02088F338AE}"/>
              </a:ext>
            </a:extLst>
          </p:cNvPr>
          <p:cNvSpPr txBox="1"/>
          <p:nvPr/>
        </p:nvSpPr>
        <p:spPr>
          <a:xfrm>
            <a:off x="13098780" y="4800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27026"/>
                </a:solidFill>
                <a:latin typeface="Microsoft JhengHei"/>
              </a:defRPr>
            </a:pPr>
            <a:r>
              <a:rPr lang="zh-TW" dirty="0">
                <a:solidFill>
                  <a:srgbClr val="E27026"/>
                </a:solidFill>
              </a:rPr>
              <a:t>🎭  角色定義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47EEDD9-443D-D9DB-9B42-3F3CC477022A}"/>
              </a:ext>
            </a:extLst>
          </p:cNvPr>
          <p:cNvSpPr txBox="1"/>
          <p:nvPr/>
        </p:nvSpPr>
        <p:spPr>
          <a:xfrm>
            <a:off x="13098780" y="51206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每位專家只負責自己擅長的事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ED5A1038-4D77-74C1-F76A-EC6551F68202}"/>
              </a:ext>
            </a:extLst>
          </p:cNvPr>
          <p:cNvSpPr/>
          <p:nvPr/>
        </p:nvSpPr>
        <p:spPr>
          <a:xfrm>
            <a:off x="16802100" y="4754880"/>
            <a:ext cx="3474720" cy="7772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342A9EC-A361-4BFA-7E98-37406DD7FCB4}"/>
              </a:ext>
            </a:extLst>
          </p:cNvPr>
          <p:cNvSpPr txBox="1"/>
          <p:nvPr/>
        </p:nvSpPr>
        <p:spPr>
          <a:xfrm>
            <a:off x="16939260" y="4800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27026"/>
                </a:solidFill>
                <a:latin typeface="Microsoft JhengHei"/>
              </a:defRPr>
            </a:pPr>
            <a:r>
              <a:rPr lang="zh-TW" dirty="0">
                <a:solidFill>
                  <a:srgbClr val="E27026"/>
                </a:solidFill>
              </a:rPr>
              <a:t>🔧  工具權限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6CFCE6A-84D7-586C-2FD9-2F76EF6ACED4}"/>
              </a:ext>
            </a:extLst>
          </p:cNvPr>
          <p:cNvSpPr txBox="1"/>
          <p:nvPr/>
        </p:nvSpPr>
        <p:spPr>
          <a:xfrm>
            <a:off x="16939260" y="51206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每位專家有自己能使用的工具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36930022-1FCE-27D6-2771-CCE02B1C083D}"/>
              </a:ext>
            </a:extLst>
          </p:cNvPr>
          <p:cNvSpPr/>
          <p:nvPr/>
        </p:nvSpPr>
        <p:spPr>
          <a:xfrm>
            <a:off x="20642580" y="4754880"/>
            <a:ext cx="3474720" cy="7772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429E57B-4656-75CC-A898-23E06CF7A717}"/>
              </a:ext>
            </a:extLst>
          </p:cNvPr>
          <p:cNvSpPr txBox="1"/>
          <p:nvPr/>
        </p:nvSpPr>
        <p:spPr>
          <a:xfrm>
            <a:off x="20779740" y="4800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27026"/>
                </a:solidFill>
                <a:latin typeface="Microsoft JhengHei"/>
              </a:defRPr>
            </a:pPr>
            <a:r>
              <a:rPr lang="zh-TW" dirty="0">
                <a:solidFill>
                  <a:srgbClr val="E27026"/>
                </a:solidFill>
              </a:rPr>
              <a:t>💬  直接溝通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0B5CC8A-A3B7-A5AA-3A10-C501AC80DB98}"/>
              </a:ext>
            </a:extLst>
          </p:cNvPr>
          <p:cNvSpPr txBox="1"/>
          <p:nvPr/>
        </p:nvSpPr>
        <p:spPr>
          <a:xfrm>
            <a:off x="20779740" y="51206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專家之間可互傳訊息、交叉確認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90D0E7E-DEAA-923B-9074-CFDA6B69FA14}"/>
              </a:ext>
            </a:extLst>
          </p:cNvPr>
          <p:cNvSpPr txBox="1"/>
          <p:nvPr/>
        </p:nvSpPr>
        <p:spPr>
          <a:xfrm>
            <a:off x="12961620" y="58521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472C4"/>
                </a:solidFill>
                <a:latin typeface="Microsoft JhengHei"/>
              </a:defRPr>
            </a:pPr>
            <a:r>
              <a:rPr lang="zh-TW" dirty="0">
                <a:solidFill>
                  <a:srgbClr val="4472C4"/>
                </a:solidFill>
              </a:rPr>
              <a:t>類比：專案小組 — 每個人有明確分工，遇到問題可以互相討論</a:t>
            </a:r>
          </a:p>
        </p:txBody>
      </p:sp>
      <p:sp>
        <p:nvSpPr>
          <p:cNvPr id="42" name="TextBox 25">
            <a:extLst>
              <a:ext uri="{FF2B5EF4-FFF2-40B4-BE49-F238E27FC236}">
                <a16:creationId xmlns:a16="http://schemas.microsoft.com/office/drawing/2014/main" id="{6B3C9526-1FD5-D104-CE37-A271CF21BECA}"/>
              </a:ext>
            </a:extLst>
          </p:cNvPr>
          <p:cNvSpPr txBox="1"/>
          <p:nvPr/>
        </p:nvSpPr>
        <p:spPr>
          <a:xfrm rot="5400000">
            <a:off x="1883047" y="3474921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◀▶</a:t>
            </a:r>
          </a:p>
        </p:txBody>
      </p:sp>
      <p:sp>
        <p:nvSpPr>
          <p:cNvPr id="43" name="TextBox 16">
            <a:extLst>
              <a:ext uri="{FF2B5EF4-FFF2-40B4-BE49-F238E27FC236}">
                <a16:creationId xmlns:a16="http://schemas.microsoft.com/office/drawing/2014/main" id="{06D532D6-2C75-3FF0-D3E8-D64CD59C462A}"/>
              </a:ext>
            </a:extLst>
          </p:cNvPr>
          <p:cNvSpPr txBox="1"/>
          <p:nvPr/>
        </p:nvSpPr>
        <p:spPr>
          <a:xfrm>
            <a:off x="475118" y="3208449"/>
            <a:ext cx="3108960" cy="1231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555555"/>
                </a:solidFill>
                <a:latin typeface="Microsoft JhengHei"/>
              </a:defRPr>
            </a:pPr>
            <a:r>
              <a:rPr lang="zh-TW" sz="100" dirty="0">
                <a:solidFill>
                  <a:srgbClr val="555555"/>
                </a:solidFill>
              </a:rPr>
              <a:t>精準定位座標</a:t>
            </a:r>
            <a:br>
              <a:rPr sz="100" dirty="0"/>
            </a:br>
            <a:r>
              <a:rPr lang="zh-TW" sz="100" dirty="0">
                <a:solidFill>
                  <a:srgbClr val="555555"/>
                </a:solidFill>
              </a:rPr>
              <a:t>驗證幾何合理性</a:t>
            </a:r>
          </a:p>
        </p:txBody>
      </p:sp>
      <p:sp>
        <p:nvSpPr>
          <p:cNvPr id="44" name="TextBox 21">
            <a:extLst>
              <a:ext uri="{FF2B5EF4-FFF2-40B4-BE49-F238E27FC236}">
                <a16:creationId xmlns:a16="http://schemas.microsoft.com/office/drawing/2014/main" id="{EEB7673B-FD15-2FCD-5E97-18826C443F0A}"/>
              </a:ext>
            </a:extLst>
          </p:cNvPr>
          <p:cNvSpPr txBox="1"/>
          <p:nvPr/>
        </p:nvSpPr>
        <p:spPr>
          <a:xfrm>
            <a:off x="475118" y="5577974"/>
            <a:ext cx="310896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555555"/>
                </a:solidFill>
                <a:latin typeface="Microsoft JhengHei"/>
              </a:defRPr>
            </a:pPr>
            <a:r>
              <a:rPr lang="zh-TW" sz="1700" dirty="0">
                <a:solidFill>
                  <a:srgbClr val="555555"/>
                </a:solidFill>
              </a:rPr>
              <a:t>彙整所有資訊</a:t>
            </a:r>
            <a:br>
              <a:rPr sz="1700" dirty="0"/>
            </a:br>
            <a:r>
              <a:rPr lang="zh-TW" sz="1700" dirty="0">
                <a:solidFill>
                  <a:srgbClr val="555555"/>
                </a:solidFill>
              </a:rPr>
              <a:t>產出標準化規格書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8CB9624-24F7-48BE-2552-F16FD4A10A23}"/>
              </a:ext>
            </a:extLst>
          </p:cNvPr>
          <p:cNvSpPr txBox="1"/>
          <p:nvPr/>
        </p:nvSpPr>
        <p:spPr>
          <a:xfrm>
            <a:off x="325149" y="3318040"/>
            <a:ext cx="3291840" cy="1077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E27026"/>
                </a:solidFill>
                <a:latin typeface="Microsoft JhengHei"/>
              </a:defRPr>
            </a:pPr>
            <a:r>
              <a:rPr lang="zh-TW" sz="100" dirty="0">
                <a:solidFill>
                  <a:srgbClr val="E27026"/>
                </a:solidFill>
              </a:rPr>
              <a:t>定位專家</a:t>
            </a:r>
          </a:p>
        </p:txBody>
      </p:sp>
      <p:sp>
        <p:nvSpPr>
          <p:cNvPr id="17" name="TextBox 19">
            <a:extLst>
              <a:ext uri="{FF2B5EF4-FFF2-40B4-BE49-F238E27FC236}">
                <a16:creationId xmlns:a16="http://schemas.microsoft.com/office/drawing/2014/main" id="{348AB683-EE07-2E02-7938-AE926DC43C21}"/>
              </a:ext>
            </a:extLst>
          </p:cNvPr>
          <p:cNvSpPr txBox="1"/>
          <p:nvPr/>
        </p:nvSpPr>
        <p:spPr>
          <a:xfrm>
            <a:off x="383678" y="4717686"/>
            <a:ext cx="329184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70AD47"/>
                </a:solidFill>
                <a:latin typeface="Microsoft JhengHei"/>
              </a:defRPr>
            </a:pPr>
            <a:r>
              <a:rPr lang="zh-TW" sz="2600" dirty="0">
                <a:solidFill>
                  <a:srgbClr val="70AD47"/>
                </a:solidFill>
              </a:rPr>
              <a:t>整合專家</a:t>
            </a:r>
          </a:p>
        </p:txBody>
      </p:sp>
      <p:pic>
        <p:nvPicPr>
          <p:cNvPr id="20" name="圖片 19">
            <a:extLst>
              <a:ext uri="{FF2B5EF4-FFF2-40B4-BE49-F238E27FC236}">
                <a16:creationId xmlns:a16="http://schemas.microsoft.com/office/drawing/2014/main" id="{DD152B72-736E-678F-65A1-DAFF6E28FEA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1882"/>
          <a:stretch>
            <a:fillRect/>
          </a:stretch>
        </p:blipFill>
        <p:spPr>
          <a:xfrm>
            <a:off x="4348509" y="1745011"/>
            <a:ext cx="7368373" cy="3961905"/>
          </a:xfrm>
          <a:prstGeom prst="rect">
            <a:avLst/>
          </a:prstGeom>
        </p:spPr>
      </p:pic>
      <p:sp>
        <p:nvSpPr>
          <p:cNvPr id="22" name="Rounded Rectangle 20">
            <a:extLst>
              <a:ext uri="{FF2B5EF4-FFF2-40B4-BE49-F238E27FC236}">
                <a16:creationId xmlns:a16="http://schemas.microsoft.com/office/drawing/2014/main" id="{2DCD2AD3-5C8C-572C-61E9-E44307332C8D}"/>
              </a:ext>
            </a:extLst>
          </p:cNvPr>
          <p:cNvSpPr/>
          <p:nvPr/>
        </p:nvSpPr>
        <p:spPr>
          <a:xfrm>
            <a:off x="12820650" y="1280160"/>
            <a:ext cx="5303520" cy="13716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B47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1">
            <a:extLst>
              <a:ext uri="{FF2B5EF4-FFF2-40B4-BE49-F238E27FC236}">
                <a16:creationId xmlns:a16="http://schemas.microsoft.com/office/drawing/2014/main" id="{35322457-8460-157A-CC27-39C53EF6B1CC}"/>
              </a:ext>
            </a:extLst>
          </p:cNvPr>
          <p:cNvSpPr txBox="1"/>
          <p:nvPr/>
        </p:nvSpPr>
        <p:spPr>
          <a:xfrm>
            <a:off x="13003530" y="13716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B47EFF"/>
                </a:solidFill>
                <a:latin typeface="Microsoft JhengHei"/>
              </a:defRPr>
            </a:pPr>
            <a:r>
              <a:rPr lang="zh-TW" dirty="0">
                <a:solidFill>
                  <a:srgbClr val="B47EFF"/>
                </a:solidFill>
              </a:rPr>
              <a:t>一份知識 → 多個專案</a:t>
            </a:r>
          </a:p>
        </p:txBody>
      </p:sp>
      <p:sp>
        <p:nvSpPr>
          <p:cNvPr id="24" name="TextBox 22">
            <a:extLst>
              <a:ext uri="{FF2B5EF4-FFF2-40B4-BE49-F238E27FC236}">
                <a16:creationId xmlns:a16="http://schemas.microsoft.com/office/drawing/2014/main" id="{F6F3B94A-E4E1-B1AB-AE56-C48E24FDEE75}"/>
              </a:ext>
            </a:extLst>
          </p:cNvPr>
          <p:cNvSpPr txBox="1"/>
          <p:nvPr/>
        </p:nvSpPr>
        <p:spPr>
          <a:xfrm>
            <a:off x="13186410" y="201168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專案 A</a:t>
            </a:r>
          </a:p>
        </p:txBody>
      </p:sp>
      <p:sp>
        <p:nvSpPr>
          <p:cNvPr id="25" name="TextBox 23">
            <a:extLst>
              <a:ext uri="{FF2B5EF4-FFF2-40B4-BE49-F238E27FC236}">
                <a16:creationId xmlns:a16="http://schemas.microsoft.com/office/drawing/2014/main" id="{691D6AB4-9B7E-4FCA-85E5-F995DAB76D82}"/>
              </a:ext>
            </a:extLst>
          </p:cNvPr>
          <p:cNvSpPr txBox="1"/>
          <p:nvPr/>
        </p:nvSpPr>
        <p:spPr>
          <a:xfrm>
            <a:off x="14375130" y="201168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專案 B</a:t>
            </a:r>
          </a:p>
        </p:txBody>
      </p:sp>
      <p:sp>
        <p:nvSpPr>
          <p:cNvPr id="37" name="TextBox 24">
            <a:extLst>
              <a:ext uri="{FF2B5EF4-FFF2-40B4-BE49-F238E27FC236}">
                <a16:creationId xmlns:a16="http://schemas.microsoft.com/office/drawing/2014/main" id="{50AA2615-C3C5-8E22-1D02-C2CBBE58F9B8}"/>
              </a:ext>
            </a:extLst>
          </p:cNvPr>
          <p:cNvSpPr txBox="1"/>
          <p:nvPr/>
        </p:nvSpPr>
        <p:spPr>
          <a:xfrm>
            <a:off x="15563850" y="201168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專案 C</a:t>
            </a:r>
          </a:p>
        </p:txBody>
      </p:sp>
      <p:sp>
        <p:nvSpPr>
          <p:cNvPr id="39" name="TextBox 25">
            <a:extLst>
              <a:ext uri="{FF2B5EF4-FFF2-40B4-BE49-F238E27FC236}">
                <a16:creationId xmlns:a16="http://schemas.microsoft.com/office/drawing/2014/main" id="{E4D92A97-3DEC-2DD0-5C52-667150ECF087}"/>
              </a:ext>
            </a:extLst>
          </p:cNvPr>
          <p:cNvSpPr txBox="1"/>
          <p:nvPr/>
        </p:nvSpPr>
        <p:spPr>
          <a:xfrm>
            <a:off x="16752570" y="201168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專案 D</a:t>
            </a:r>
          </a:p>
        </p:txBody>
      </p:sp>
    </p:spTree>
    <p:extLst>
      <p:ext uri="{BB962C8B-B14F-4D97-AF65-F5344CB8AC3E}">
        <p14:creationId xmlns:p14="http://schemas.microsoft.com/office/powerpoint/2010/main" val="42767738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圖片 31">
            <a:extLst>
              <a:ext uri="{FF2B5EF4-FFF2-40B4-BE49-F238E27FC236}">
                <a16:creationId xmlns:a16="http://schemas.microsoft.com/office/drawing/2014/main" id="{C416B944-068E-D2CC-2764-3259B1B1AF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2559" y="1189771"/>
            <a:ext cx="2426208" cy="4735361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548640" y="411480"/>
            <a:ext cx="1097280" cy="54864"/>
          </a:xfrm>
          <a:prstGeom prst="rect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772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第 4 層：可複用的知識庫</a:t>
            </a:r>
            <a:r>
              <a:rPr lang="en-US" altLang="zh-TW" dirty="0">
                <a:solidFill>
                  <a:srgbClr val="000000"/>
                </a:solidFill>
              </a:rPr>
              <a:t>SKILLS</a:t>
            </a:r>
            <a:endParaRPr lang="zh-TW" dirty="0">
              <a:solidFill>
                <a:srgbClr val="444444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概念篇</a:t>
            </a:r>
          </a:p>
        </p:txBody>
      </p:sp>
      <p:sp>
        <p:nvSpPr>
          <p:cNvPr id="5" name="Oval 4"/>
          <p:cNvSpPr/>
          <p:nvPr/>
        </p:nvSpPr>
        <p:spPr>
          <a:xfrm>
            <a:off x="10744200" y="365760"/>
            <a:ext cx="457200" cy="457200"/>
          </a:xfrm>
          <a:prstGeom prst="ellipse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744200" y="4114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8 / 16</a:t>
            </a:r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A4296FF5-A8D0-E750-F5A1-D48AE9B97E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92437" y="1271016"/>
            <a:ext cx="6828571" cy="4942857"/>
          </a:xfrm>
          <a:prstGeom prst="rect">
            <a:avLst/>
          </a:prstGeom>
        </p:spPr>
      </p:pic>
      <p:sp>
        <p:nvSpPr>
          <p:cNvPr id="49" name="Rounded Rectangle 8">
            <a:extLst>
              <a:ext uri="{FF2B5EF4-FFF2-40B4-BE49-F238E27FC236}">
                <a16:creationId xmlns:a16="http://schemas.microsoft.com/office/drawing/2014/main" id="{68FEF07F-B4AE-8771-C4AF-8B16839C2B79}"/>
              </a:ext>
            </a:extLst>
          </p:cNvPr>
          <p:cNvSpPr/>
          <p:nvPr/>
        </p:nvSpPr>
        <p:spPr>
          <a:xfrm>
            <a:off x="2302982" y="2762513"/>
            <a:ext cx="3474720" cy="73152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9">
            <a:extLst>
              <a:ext uri="{FF2B5EF4-FFF2-40B4-BE49-F238E27FC236}">
                <a16:creationId xmlns:a16="http://schemas.microsoft.com/office/drawing/2014/main" id="{D2036BE7-21B4-7DA3-34C4-1EBCF6C9906C}"/>
              </a:ext>
            </a:extLst>
          </p:cNvPr>
          <p:cNvSpPr txBox="1"/>
          <p:nvPr/>
        </p:nvSpPr>
        <p:spPr>
          <a:xfrm>
            <a:off x="2902422" y="2853953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📚</a:t>
            </a:r>
          </a:p>
        </p:txBody>
      </p:sp>
      <p:sp>
        <p:nvSpPr>
          <p:cNvPr id="51" name="TextBox 10">
            <a:extLst>
              <a:ext uri="{FF2B5EF4-FFF2-40B4-BE49-F238E27FC236}">
                <a16:creationId xmlns:a16="http://schemas.microsoft.com/office/drawing/2014/main" id="{CA66D2DB-B253-9B54-F0DE-B2798FE00A15}"/>
              </a:ext>
            </a:extLst>
          </p:cNvPr>
          <p:cNvSpPr txBox="1"/>
          <p:nvPr/>
        </p:nvSpPr>
        <p:spPr>
          <a:xfrm>
            <a:off x="3542502" y="2899673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472C4"/>
                </a:solidFill>
                <a:latin typeface="Microsoft JhengHei"/>
              </a:defRPr>
            </a:pPr>
            <a:r>
              <a:rPr lang="zh-TW" dirty="0">
                <a:solidFill>
                  <a:srgbClr val="4472C4"/>
                </a:solidFill>
              </a:rPr>
              <a:t>跨專案共享</a:t>
            </a:r>
          </a:p>
        </p:txBody>
      </p:sp>
      <p:sp>
        <p:nvSpPr>
          <p:cNvPr id="52" name="TextBox 11">
            <a:extLst>
              <a:ext uri="{FF2B5EF4-FFF2-40B4-BE49-F238E27FC236}">
                <a16:creationId xmlns:a16="http://schemas.microsoft.com/office/drawing/2014/main" id="{8580762F-F4AC-1690-2BA5-BBAFF714B19C}"/>
              </a:ext>
            </a:extLst>
          </p:cNvPr>
          <p:cNvSpPr txBox="1"/>
          <p:nvPr/>
        </p:nvSpPr>
        <p:spPr>
          <a:xfrm>
            <a:off x="2485862" y="3434341"/>
            <a:ext cx="3108960" cy="1231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555555"/>
                </a:solidFill>
                <a:latin typeface="Microsoft JhengHei"/>
              </a:defRPr>
            </a:pPr>
            <a:r>
              <a:rPr lang="zh-TW" sz="100" dirty="0">
                <a:solidFill>
                  <a:srgbClr val="555555"/>
                </a:solidFill>
              </a:rPr>
              <a:t>同一份專業知識</a:t>
            </a:r>
            <a:br>
              <a:rPr sz="100" dirty="0"/>
            </a:br>
            <a:r>
              <a:rPr lang="zh-TW" sz="100" dirty="0">
                <a:solidFill>
                  <a:srgbClr val="555555"/>
                </a:solidFill>
              </a:rPr>
              <a:t>可用於不同案件</a:t>
            </a:r>
          </a:p>
        </p:txBody>
      </p:sp>
      <p:sp>
        <p:nvSpPr>
          <p:cNvPr id="53" name="Rounded Rectangle 12">
            <a:extLst>
              <a:ext uri="{FF2B5EF4-FFF2-40B4-BE49-F238E27FC236}">
                <a16:creationId xmlns:a16="http://schemas.microsoft.com/office/drawing/2014/main" id="{F2A81367-745D-D054-106D-B667E7AC25F1}"/>
              </a:ext>
            </a:extLst>
          </p:cNvPr>
          <p:cNvSpPr/>
          <p:nvPr/>
        </p:nvSpPr>
        <p:spPr>
          <a:xfrm>
            <a:off x="2302982" y="3607277"/>
            <a:ext cx="3474720" cy="73152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E27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13">
            <a:extLst>
              <a:ext uri="{FF2B5EF4-FFF2-40B4-BE49-F238E27FC236}">
                <a16:creationId xmlns:a16="http://schemas.microsoft.com/office/drawing/2014/main" id="{DC8F0CAC-460C-02FF-FD90-644652A03A80}"/>
              </a:ext>
            </a:extLst>
          </p:cNvPr>
          <p:cNvSpPr txBox="1"/>
          <p:nvPr/>
        </p:nvSpPr>
        <p:spPr>
          <a:xfrm>
            <a:off x="2902422" y="3698717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🔄</a:t>
            </a:r>
          </a:p>
        </p:txBody>
      </p:sp>
      <p:sp>
        <p:nvSpPr>
          <p:cNvPr id="55" name="TextBox 14">
            <a:extLst>
              <a:ext uri="{FF2B5EF4-FFF2-40B4-BE49-F238E27FC236}">
                <a16:creationId xmlns:a16="http://schemas.microsoft.com/office/drawing/2014/main" id="{33A8F888-13E1-857B-B24A-199C7B966436}"/>
              </a:ext>
            </a:extLst>
          </p:cNvPr>
          <p:cNvSpPr txBox="1"/>
          <p:nvPr/>
        </p:nvSpPr>
        <p:spPr>
          <a:xfrm>
            <a:off x="3542502" y="3744437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27026"/>
                </a:solidFill>
                <a:latin typeface="Microsoft JhengHei"/>
              </a:defRPr>
            </a:pPr>
            <a:r>
              <a:rPr lang="zh-TW" dirty="0">
                <a:solidFill>
                  <a:srgbClr val="E27026"/>
                </a:solidFill>
              </a:rPr>
              <a:t>隨時更新</a:t>
            </a:r>
          </a:p>
        </p:txBody>
      </p:sp>
      <p:sp>
        <p:nvSpPr>
          <p:cNvPr id="56" name="TextBox 15">
            <a:extLst>
              <a:ext uri="{FF2B5EF4-FFF2-40B4-BE49-F238E27FC236}">
                <a16:creationId xmlns:a16="http://schemas.microsoft.com/office/drawing/2014/main" id="{22D24BC6-5296-2858-DD34-3BB2C404D126}"/>
              </a:ext>
            </a:extLst>
          </p:cNvPr>
          <p:cNvSpPr txBox="1"/>
          <p:nvPr/>
        </p:nvSpPr>
        <p:spPr>
          <a:xfrm>
            <a:off x="2485862" y="4279105"/>
            <a:ext cx="3108960" cy="1231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555555"/>
                </a:solidFill>
                <a:latin typeface="Microsoft JhengHei"/>
              </a:defRPr>
            </a:pPr>
            <a:r>
              <a:rPr lang="zh-TW" sz="100" dirty="0">
                <a:solidFill>
                  <a:srgbClr val="555555"/>
                </a:solidFill>
              </a:rPr>
              <a:t>規則變了改一處</a:t>
            </a:r>
            <a:br>
              <a:rPr sz="100" dirty="0"/>
            </a:br>
            <a:r>
              <a:rPr lang="zh-TW" sz="100" dirty="0">
                <a:solidFill>
                  <a:srgbClr val="555555"/>
                </a:solidFill>
              </a:rPr>
              <a:t>全案生效</a:t>
            </a:r>
          </a:p>
        </p:txBody>
      </p:sp>
      <p:sp>
        <p:nvSpPr>
          <p:cNvPr id="57" name="Rounded Rectangle 16">
            <a:extLst>
              <a:ext uri="{FF2B5EF4-FFF2-40B4-BE49-F238E27FC236}">
                <a16:creationId xmlns:a16="http://schemas.microsoft.com/office/drawing/2014/main" id="{E5D4D526-F6AB-1B64-AD6A-9C19CDFDF6B9}"/>
              </a:ext>
            </a:extLst>
          </p:cNvPr>
          <p:cNvSpPr/>
          <p:nvPr/>
        </p:nvSpPr>
        <p:spPr>
          <a:xfrm>
            <a:off x="2302982" y="4535432"/>
            <a:ext cx="3474720" cy="73152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17">
            <a:extLst>
              <a:ext uri="{FF2B5EF4-FFF2-40B4-BE49-F238E27FC236}">
                <a16:creationId xmlns:a16="http://schemas.microsoft.com/office/drawing/2014/main" id="{F735B7E7-A559-3531-512B-242D88379507}"/>
              </a:ext>
            </a:extLst>
          </p:cNvPr>
          <p:cNvSpPr txBox="1"/>
          <p:nvPr/>
        </p:nvSpPr>
        <p:spPr>
          <a:xfrm>
            <a:off x="3062079" y="4626872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📋</a:t>
            </a:r>
          </a:p>
        </p:txBody>
      </p:sp>
      <p:sp>
        <p:nvSpPr>
          <p:cNvPr id="59" name="TextBox 18">
            <a:extLst>
              <a:ext uri="{FF2B5EF4-FFF2-40B4-BE49-F238E27FC236}">
                <a16:creationId xmlns:a16="http://schemas.microsoft.com/office/drawing/2014/main" id="{CB3CE802-43D5-DAFA-EEE1-6157CB2B5B15}"/>
              </a:ext>
            </a:extLst>
          </p:cNvPr>
          <p:cNvSpPr txBox="1"/>
          <p:nvPr/>
        </p:nvSpPr>
        <p:spPr>
          <a:xfrm>
            <a:off x="3702159" y="467259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rgbClr val="70AD47"/>
                </a:solidFill>
              </a:rPr>
              <a:t>標準化</a:t>
            </a:r>
          </a:p>
        </p:txBody>
      </p:sp>
      <p:sp>
        <p:nvSpPr>
          <p:cNvPr id="60" name="TextBox 19">
            <a:extLst>
              <a:ext uri="{FF2B5EF4-FFF2-40B4-BE49-F238E27FC236}">
                <a16:creationId xmlns:a16="http://schemas.microsoft.com/office/drawing/2014/main" id="{7F2943C8-C14B-6E99-5363-EAF36874ED7F}"/>
              </a:ext>
            </a:extLst>
          </p:cNvPr>
          <p:cNvSpPr txBox="1"/>
          <p:nvPr/>
        </p:nvSpPr>
        <p:spPr>
          <a:xfrm>
            <a:off x="2485862" y="5207260"/>
            <a:ext cx="3108960" cy="1231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555555"/>
                </a:solidFill>
                <a:latin typeface="Microsoft JhengHei"/>
              </a:defRPr>
            </a:pPr>
            <a:r>
              <a:rPr lang="zh-TW" sz="100" dirty="0">
                <a:solidFill>
                  <a:srgbClr val="555555"/>
                </a:solidFill>
              </a:rPr>
              <a:t>所有 Agent 引用同一套知識</a:t>
            </a:r>
            <a:br>
              <a:rPr sz="100" dirty="0"/>
            </a:br>
            <a:r>
              <a:rPr lang="zh-TW" sz="100" dirty="0">
                <a:solidFill>
                  <a:srgbClr val="555555"/>
                </a:solidFill>
              </a:rPr>
              <a:t>不會各說各話</a:t>
            </a:r>
          </a:p>
        </p:txBody>
      </p:sp>
      <p:sp>
        <p:nvSpPr>
          <p:cNvPr id="61" name="Rounded Rectangle 20">
            <a:extLst>
              <a:ext uri="{FF2B5EF4-FFF2-40B4-BE49-F238E27FC236}">
                <a16:creationId xmlns:a16="http://schemas.microsoft.com/office/drawing/2014/main" id="{5682CFD1-F3E0-BAAF-BECA-496925D12F05}"/>
              </a:ext>
            </a:extLst>
          </p:cNvPr>
          <p:cNvSpPr/>
          <p:nvPr/>
        </p:nvSpPr>
        <p:spPr>
          <a:xfrm>
            <a:off x="2012695" y="1513045"/>
            <a:ext cx="4019007" cy="645156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B47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21">
            <a:extLst>
              <a:ext uri="{FF2B5EF4-FFF2-40B4-BE49-F238E27FC236}">
                <a16:creationId xmlns:a16="http://schemas.microsoft.com/office/drawing/2014/main" id="{99AE1E5E-7D10-2AFA-8565-2EA40F6AA97F}"/>
              </a:ext>
            </a:extLst>
          </p:cNvPr>
          <p:cNvSpPr txBox="1"/>
          <p:nvPr/>
        </p:nvSpPr>
        <p:spPr>
          <a:xfrm>
            <a:off x="1502519" y="1607011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B47EFF"/>
                </a:solidFill>
                <a:latin typeface="Microsoft JhengHei"/>
              </a:defRPr>
            </a:pPr>
            <a:r>
              <a:rPr lang="zh-TW" dirty="0">
                <a:solidFill>
                  <a:srgbClr val="B47EFF"/>
                </a:solidFill>
              </a:rPr>
              <a:t>一份知識 → 多個專案</a:t>
            </a:r>
          </a:p>
        </p:txBody>
      </p:sp>
      <p:sp>
        <p:nvSpPr>
          <p:cNvPr id="63" name="TextBox 22">
            <a:extLst>
              <a:ext uri="{FF2B5EF4-FFF2-40B4-BE49-F238E27FC236}">
                <a16:creationId xmlns:a16="http://schemas.microsoft.com/office/drawing/2014/main" id="{9CA7E131-F6CE-1943-B0C7-B63B27651FCD}"/>
              </a:ext>
            </a:extLst>
          </p:cNvPr>
          <p:cNvSpPr txBox="1"/>
          <p:nvPr/>
        </p:nvSpPr>
        <p:spPr>
          <a:xfrm>
            <a:off x="1984974" y="2109133"/>
            <a:ext cx="1005840" cy="1077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555"/>
                </a:solidFill>
                <a:latin typeface="Microsoft JhengHei"/>
              </a:defRPr>
            </a:pPr>
            <a:r>
              <a:rPr lang="zh-TW" sz="100" dirty="0">
                <a:solidFill>
                  <a:srgbClr val="555555"/>
                </a:solidFill>
              </a:rPr>
              <a:t>專案 A</a:t>
            </a:r>
          </a:p>
        </p:txBody>
      </p:sp>
      <p:sp>
        <p:nvSpPr>
          <p:cNvPr id="64" name="TextBox 23">
            <a:extLst>
              <a:ext uri="{FF2B5EF4-FFF2-40B4-BE49-F238E27FC236}">
                <a16:creationId xmlns:a16="http://schemas.microsoft.com/office/drawing/2014/main" id="{C7FDC542-695E-9485-CE62-F52FE4076738}"/>
              </a:ext>
            </a:extLst>
          </p:cNvPr>
          <p:cNvSpPr txBox="1"/>
          <p:nvPr/>
        </p:nvSpPr>
        <p:spPr>
          <a:xfrm>
            <a:off x="3173694" y="2109133"/>
            <a:ext cx="1005840" cy="1077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555"/>
                </a:solidFill>
                <a:latin typeface="Microsoft JhengHei"/>
              </a:defRPr>
            </a:pPr>
            <a:r>
              <a:rPr lang="zh-TW" sz="100" dirty="0">
                <a:solidFill>
                  <a:srgbClr val="555555"/>
                </a:solidFill>
              </a:rPr>
              <a:t>專案 B</a:t>
            </a:r>
          </a:p>
        </p:txBody>
      </p:sp>
      <p:sp>
        <p:nvSpPr>
          <p:cNvPr id="65" name="TextBox 24">
            <a:extLst>
              <a:ext uri="{FF2B5EF4-FFF2-40B4-BE49-F238E27FC236}">
                <a16:creationId xmlns:a16="http://schemas.microsoft.com/office/drawing/2014/main" id="{66D9264E-1BF9-116E-3F5C-54027E4A4671}"/>
              </a:ext>
            </a:extLst>
          </p:cNvPr>
          <p:cNvSpPr txBox="1"/>
          <p:nvPr/>
        </p:nvSpPr>
        <p:spPr>
          <a:xfrm>
            <a:off x="4362414" y="2109133"/>
            <a:ext cx="1005840" cy="1077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555"/>
                </a:solidFill>
                <a:latin typeface="Microsoft JhengHei"/>
              </a:defRPr>
            </a:pPr>
            <a:r>
              <a:rPr lang="zh-TW" sz="100" dirty="0">
                <a:solidFill>
                  <a:srgbClr val="555555"/>
                </a:solidFill>
              </a:rPr>
              <a:t>專案 C</a:t>
            </a:r>
          </a:p>
        </p:txBody>
      </p:sp>
      <p:sp>
        <p:nvSpPr>
          <p:cNvPr id="66" name="TextBox 25">
            <a:extLst>
              <a:ext uri="{FF2B5EF4-FFF2-40B4-BE49-F238E27FC236}">
                <a16:creationId xmlns:a16="http://schemas.microsoft.com/office/drawing/2014/main" id="{EDD3DF9C-3F7F-59A0-6BA8-621FF4AA241A}"/>
              </a:ext>
            </a:extLst>
          </p:cNvPr>
          <p:cNvSpPr txBox="1"/>
          <p:nvPr/>
        </p:nvSpPr>
        <p:spPr>
          <a:xfrm>
            <a:off x="4883478" y="2109133"/>
            <a:ext cx="1005840" cy="1077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555"/>
                </a:solidFill>
                <a:latin typeface="Microsoft JhengHei"/>
              </a:defRPr>
            </a:pPr>
            <a:r>
              <a:rPr lang="zh-TW" sz="100" dirty="0">
                <a:solidFill>
                  <a:srgbClr val="555555"/>
                </a:solidFill>
              </a:rPr>
              <a:t>專案 D</a:t>
            </a:r>
          </a:p>
        </p:txBody>
      </p:sp>
    </p:spTree>
    <p:extLst>
      <p:ext uri="{BB962C8B-B14F-4D97-AF65-F5344CB8AC3E}">
        <p14:creationId xmlns:p14="http://schemas.microsoft.com/office/powerpoint/2010/main" val="30834205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D7286-1BE2-F05E-F983-D6AD22AAB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FE928E4-63A2-7EA8-7074-0E3843D9E3BE}"/>
              </a:ext>
            </a:extLst>
          </p:cNvPr>
          <p:cNvSpPr/>
          <p:nvPr/>
        </p:nvSpPr>
        <p:spPr>
          <a:xfrm>
            <a:off x="548640" y="411480"/>
            <a:ext cx="1097280" cy="54864"/>
          </a:xfrm>
          <a:prstGeom prst="rect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755608-A4E8-D9B6-5C7B-B46261FBEA37}"/>
              </a:ext>
            </a:extLst>
          </p:cNvPr>
          <p:cNvSpPr txBox="1"/>
          <p:nvPr/>
        </p:nvSpPr>
        <p:spPr>
          <a:xfrm>
            <a:off x="548640" y="502920"/>
            <a:ext cx="7772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第 4 層：可複用的知識庫</a:t>
            </a:r>
            <a:r>
              <a:rPr lang="en-US" altLang="zh-TW" dirty="0">
                <a:solidFill>
                  <a:srgbClr val="000000"/>
                </a:solidFill>
              </a:rPr>
              <a:t>SKILLS</a:t>
            </a:r>
            <a:endParaRPr lang="zh-TW" dirty="0">
              <a:solidFill>
                <a:srgbClr val="444444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D0BCC3-22DF-C047-75B4-E704674751E1}"/>
              </a:ext>
            </a:extLst>
          </p:cNvPr>
          <p:cNvSpPr txBox="1"/>
          <p:nvPr/>
        </p:nvSpPr>
        <p:spPr>
          <a:xfrm>
            <a:off x="9601200" y="411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概念篇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3AE547A-929C-2196-5C30-1B7067EFB15E}"/>
              </a:ext>
            </a:extLst>
          </p:cNvPr>
          <p:cNvSpPr/>
          <p:nvPr/>
        </p:nvSpPr>
        <p:spPr>
          <a:xfrm>
            <a:off x="10744200" y="365760"/>
            <a:ext cx="457200" cy="457200"/>
          </a:xfrm>
          <a:prstGeom prst="ellipse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67DF19-B043-711D-A4F7-D23431D45084}"/>
              </a:ext>
            </a:extLst>
          </p:cNvPr>
          <p:cNvSpPr txBox="1"/>
          <p:nvPr/>
        </p:nvSpPr>
        <p:spPr>
          <a:xfrm>
            <a:off x="10744200" y="4114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09BED8-0DC5-60CC-D887-9DA1AD40C761}"/>
              </a:ext>
            </a:extLst>
          </p:cNvPr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8 / 16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70126A-22C3-FE8E-655F-32B15C0A60A3}"/>
              </a:ext>
            </a:extLst>
          </p:cNvPr>
          <p:cNvSpPr txBox="1"/>
          <p:nvPr/>
        </p:nvSpPr>
        <p:spPr>
          <a:xfrm>
            <a:off x="731520" y="1463040"/>
            <a:ext cx="4937760" cy="7950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0"/>
              </a:spcAft>
              <a:defRPr sz="22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技能模組 = 封裝好的專業知識</a:t>
            </a:r>
          </a:p>
          <a:p>
            <a:pPr algn="l">
              <a:spcAft>
                <a:spcPts val="760"/>
              </a:spcAft>
              <a:defRPr sz="17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Domain Knowledge，打包成可重複使用的模組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2A2ED104-7A51-C599-450C-AC55F82D17DB}"/>
              </a:ext>
            </a:extLst>
          </p:cNvPr>
          <p:cNvSpPr/>
          <p:nvPr/>
        </p:nvSpPr>
        <p:spPr>
          <a:xfrm>
            <a:off x="731520" y="2926080"/>
            <a:ext cx="3474720" cy="22860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473A47-6F85-4127-80ED-27B6B1DE77B0}"/>
              </a:ext>
            </a:extLst>
          </p:cNvPr>
          <p:cNvSpPr txBox="1"/>
          <p:nvPr/>
        </p:nvSpPr>
        <p:spPr>
          <a:xfrm>
            <a:off x="822960" y="301752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📚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C3F59E-0744-A215-33EA-D0987ACDF15D}"/>
              </a:ext>
            </a:extLst>
          </p:cNvPr>
          <p:cNvSpPr txBox="1"/>
          <p:nvPr/>
        </p:nvSpPr>
        <p:spPr>
          <a:xfrm>
            <a:off x="1463040" y="30632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472C4"/>
                </a:solidFill>
                <a:latin typeface="Microsoft JhengHei"/>
              </a:defRPr>
            </a:pPr>
            <a:r>
              <a:rPr lang="zh-TW" dirty="0">
                <a:solidFill>
                  <a:srgbClr val="4472C4"/>
                </a:solidFill>
              </a:rPr>
              <a:t>跨專案共享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44F275-1989-1258-C079-E12EBCA71B52}"/>
              </a:ext>
            </a:extLst>
          </p:cNvPr>
          <p:cNvSpPr txBox="1"/>
          <p:nvPr/>
        </p:nvSpPr>
        <p:spPr>
          <a:xfrm>
            <a:off x="914400" y="3749039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同一份專業知識</a:t>
            </a:r>
            <a:br>
              <a:rPr dirty="0"/>
            </a:br>
            <a:r>
              <a:rPr lang="zh-TW" dirty="0">
                <a:solidFill>
                  <a:srgbClr val="555555"/>
                </a:solidFill>
              </a:rPr>
              <a:t>可用於不同案件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CA7BECF-41B7-179B-09FC-AF74D4CB60BA}"/>
              </a:ext>
            </a:extLst>
          </p:cNvPr>
          <p:cNvSpPr/>
          <p:nvPr/>
        </p:nvSpPr>
        <p:spPr>
          <a:xfrm>
            <a:off x="4572000" y="2926080"/>
            <a:ext cx="3474720" cy="22860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E27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66B416-28D5-2EAD-DE15-70C7E1C6C968}"/>
              </a:ext>
            </a:extLst>
          </p:cNvPr>
          <p:cNvSpPr txBox="1"/>
          <p:nvPr/>
        </p:nvSpPr>
        <p:spPr>
          <a:xfrm>
            <a:off x="4663440" y="301752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🔄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E93E7A-B2CA-8AAF-6880-B7755EF1F7A8}"/>
              </a:ext>
            </a:extLst>
          </p:cNvPr>
          <p:cNvSpPr txBox="1"/>
          <p:nvPr/>
        </p:nvSpPr>
        <p:spPr>
          <a:xfrm>
            <a:off x="5303520" y="30632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27026"/>
                </a:solidFill>
                <a:latin typeface="Microsoft JhengHei"/>
              </a:defRPr>
            </a:pPr>
            <a:r>
              <a:rPr lang="zh-TW" dirty="0">
                <a:solidFill>
                  <a:srgbClr val="E27026"/>
                </a:solidFill>
              </a:rPr>
              <a:t>隨時更新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BDBBDC8-848E-C8B9-44DD-2112660A3775}"/>
              </a:ext>
            </a:extLst>
          </p:cNvPr>
          <p:cNvSpPr txBox="1"/>
          <p:nvPr/>
        </p:nvSpPr>
        <p:spPr>
          <a:xfrm>
            <a:off x="4754880" y="3749039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規則變了改一處</a:t>
            </a:r>
            <a:br/>
            <a:r>
              <a:rPr lang="zh-TW" dirty="0">
                <a:solidFill>
                  <a:srgbClr val="555555"/>
                </a:solidFill>
              </a:rPr>
              <a:t>全案生效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6C3B4A3-8D80-C66E-813B-1B5FEE93B638}"/>
              </a:ext>
            </a:extLst>
          </p:cNvPr>
          <p:cNvSpPr/>
          <p:nvPr/>
        </p:nvSpPr>
        <p:spPr>
          <a:xfrm>
            <a:off x="8412480" y="2926080"/>
            <a:ext cx="3474720" cy="22860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A93F2C-1A0A-8DE3-DAA9-9096D7609E7B}"/>
              </a:ext>
            </a:extLst>
          </p:cNvPr>
          <p:cNvSpPr txBox="1"/>
          <p:nvPr/>
        </p:nvSpPr>
        <p:spPr>
          <a:xfrm>
            <a:off x="8503920" y="301752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📋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0213554-8BC0-E6B1-CD15-6A41FD859F2B}"/>
              </a:ext>
            </a:extLst>
          </p:cNvPr>
          <p:cNvSpPr txBox="1"/>
          <p:nvPr/>
        </p:nvSpPr>
        <p:spPr>
          <a:xfrm>
            <a:off x="9144000" y="30632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rgbClr val="70AD47"/>
                </a:solidFill>
              </a:rPr>
              <a:t>標準化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3C24F04-EB01-6841-1B68-704F582A4C8F}"/>
              </a:ext>
            </a:extLst>
          </p:cNvPr>
          <p:cNvSpPr txBox="1"/>
          <p:nvPr/>
        </p:nvSpPr>
        <p:spPr>
          <a:xfrm>
            <a:off x="8595360" y="3749039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所有 Agent 引用同一套知識</a:t>
            </a:r>
            <a:br/>
            <a:r>
              <a:rPr lang="zh-TW" dirty="0">
                <a:solidFill>
                  <a:srgbClr val="555555"/>
                </a:solidFill>
              </a:rPr>
              <a:t>不會各說各話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717DB125-1A7A-7365-C52A-DCF4A96DA274}"/>
              </a:ext>
            </a:extLst>
          </p:cNvPr>
          <p:cNvSpPr/>
          <p:nvPr/>
        </p:nvSpPr>
        <p:spPr>
          <a:xfrm>
            <a:off x="6400800" y="1280160"/>
            <a:ext cx="5303520" cy="13716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B47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91B22CD-8D96-064F-286D-5E49D9BBA8A7}"/>
              </a:ext>
            </a:extLst>
          </p:cNvPr>
          <p:cNvSpPr txBox="1"/>
          <p:nvPr/>
        </p:nvSpPr>
        <p:spPr>
          <a:xfrm>
            <a:off x="6583680" y="13716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B47EFF"/>
                </a:solidFill>
                <a:latin typeface="Microsoft JhengHei"/>
              </a:defRPr>
            </a:pPr>
            <a:r>
              <a:rPr lang="zh-TW" dirty="0">
                <a:solidFill>
                  <a:srgbClr val="B47EFF"/>
                </a:solidFill>
              </a:rPr>
              <a:t>一份知識 → 多個專案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5D5854B-4DF5-19E2-8B4F-F51C7CB957F8}"/>
              </a:ext>
            </a:extLst>
          </p:cNvPr>
          <p:cNvSpPr txBox="1"/>
          <p:nvPr/>
        </p:nvSpPr>
        <p:spPr>
          <a:xfrm>
            <a:off x="6766560" y="201168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專案 A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93A6BAB-E26F-0DA6-7BAA-6C94CDE418A7}"/>
              </a:ext>
            </a:extLst>
          </p:cNvPr>
          <p:cNvSpPr txBox="1"/>
          <p:nvPr/>
        </p:nvSpPr>
        <p:spPr>
          <a:xfrm>
            <a:off x="7955280" y="201168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專案 B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53E4DA4-2D28-289A-C73B-F2EA1A80D3BC}"/>
              </a:ext>
            </a:extLst>
          </p:cNvPr>
          <p:cNvSpPr txBox="1"/>
          <p:nvPr/>
        </p:nvSpPr>
        <p:spPr>
          <a:xfrm>
            <a:off x="9144000" y="201168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專案 C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482B97-5DE3-86B2-F709-2BA613619E75}"/>
              </a:ext>
            </a:extLst>
          </p:cNvPr>
          <p:cNvSpPr txBox="1"/>
          <p:nvPr/>
        </p:nvSpPr>
        <p:spPr>
          <a:xfrm>
            <a:off x="10332720" y="201168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專案 D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0099833-7FEE-E66F-B270-0AD64427785E}"/>
              </a:ext>
            </a:extLst>
          </p:cNvPr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472C4"/>
                </a:solidFill>
                <a:latin typeface="Microsoft JhengHei"/>
              </a:defRPr>
            </a:pPr>
            <a:r>
              <a:rPr lang="zh-TW" dirty="0">
                <a:solidFill>
                  <a:srgbClr val="4472C4"/>
                </a:solidFill>
              </a:rPr>
              <a:t>類比：專業教科書 / 參考手冊 — 每個工程師桌上都有一本，翻開就能查</a:t>
            </a:r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F10DE9BF-4667-7D04-557D-A9E576B4A6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92437" y="1271016"/>
            <a:ext cx="6828571" cy="4942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1804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23505-AC65-9865-AADC-A45EDBD76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D2FD314-5143-68C8-0696-166244E6FDD4}"/>
              </a:ext>
            </a:extLst>
          </p:cNvPr>
          <p:cNvSpPr/>
          <p:nvPr/>
        </p:nvSpPr>
        <p:spPr>
          <a:xfrm>
            <a:off x="548640" y="411480"/>
            <a:ext cx="1097280" cy="54864"/>
          </a:xfrm>
          <a:prstGeom prst="rect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67C8A5-9A9E-103D-7E14-0DC5DF52CDE2}"/>
              </a:ext>
            </a:extLst>
          </p:cNvPr>
          <p:cNvSpPr txBox="1"/>
          <p:nvPr/>
        </p:nvSpPr>
        <p:spPr>
          <a:xfrm>
            <a:off x="548640" y="502920"/>
            <a:ext cx="7772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第 4 層：可複用的知識庫</a:t>
            </a:r>
            <a:r>
              <a:rPr lang="en-US" altLang="zh-TW" dirty="0">
                <a:solidFill>
                  <a:srgbClr val="000000"/>
                </a:solidFill>
              </a:rPr>
              <a:t>SKILLS</a:t>
            </a:r>
            <a:endParaRPr lang="zh-TW" dirty="0">
              <a:solidFill>
                <a:srgbClr val="444444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5B292A-627C-338C-6436-5C23CE5E78CC}"/>
              </a:ext>
            </a:extLst>
          </p:cNvPr>
          <p:cNvSpPr txBox="1"/>
          <p:nvPr/>
        </p:nvSpPr>
        <p:spPr>
          <a:xfrm>
            <a:off x="9601200" y="411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概念篇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103EE47-C813-D20C-F6AD-6C61F4149D2C}"/>
              </a:ext>
            </a:extLst>
          </p:cNvPr>
          <p:cNvSpPr/>
          <p:nvPr/>
        </p:nvSpPr>
        <p:spPr>
          <a:xfrm>
            <a:off x="10744200" y="365760"/>
            <a:ext cx="457200" cy="457200"/>
          </a:xfrm>
          <a:prstGeom prst="ellipse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4571F0-F6B1-B4C3-043D-94A89919A3F8}"/>
              </a:ext>
            </a:extLst>
          </p:cNvPr>
          <p:cNvSpPr txBox="1"/>
          <p:nvPr/>
        </p:nvSpPr>
        <p:spPr>
          <a:xfrm>
            <a:off x="10744200" y="4114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326174-6A29-F527-7ACB-64A7AB73CA33}"/>
              </a:ext>
            </a:extLst>
          </p:cNvPr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8 / 16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141A45-4B8C-EE2D-A9FF-0B6C5CFE16EF}"/>
              </a:ext>
            </a:extLst>
          </p:cNvPr>
          <p:cNvSpPr txBox="1"/>
          <p:nvPr/>
        </p:nvSpPr>
        <p:spPr>
          <a:xfrm>
            <a:off x="-4798423" y="1463040"/>
            <a:ext cx="4937760" cy="7950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0"/>
              </a:spcAft>
              <a:defRPr sz="22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技能模組 = 封裝好的專業知識</a:t>
            </a:r>
          </a:p>
          <a:p>
            <a:pPr algn="l">
              <a:spcAft>
                <a:spcPts val="760"/>
              </a:spcAft>
              <a:defRPr sz="17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Domain Knowledge，打包成可重複使用的模組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5B6B447-5B76-945F-F5A5-C29BF48118D2}"/>
              </a:ext>
            </a:extLst>
          </p:cNvPr>
          <p:cNvSpPr/>
          <p:nvPr/>
        </p:nvSpPr>
        <p:spPr>
          <a:xfrm>
            <a:off x="864326" y="2762513"/>
            <a:ext cx="3474720" cy="73152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B461E6-8107-CC72-FBF8-DCFDAC8F6BCE}"/>
              </a:ext>
            </a:extLst>
          </p:cNvPr>
          <p:cNvSpPr txBox="1"/>
          <p:nvPr/>
        </p:nvSpPr>
        <p:spPr>
          <a:xfrm>
            <a:off x="1463766" y="2853953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📚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122B9F-A815-B5EA-42A4-87F6627AB92F}"/>
              </a:ext>
            </a:extLst>
          </p:cNvPr>
          <p:cNvSpPr txBox="1"/>
          <p:nvPr/>
        </p:nvSpPr>
        <p:spPr>
          <a:xfrm>
            <a:off x="2103846" y="2899673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472C4"/>
                </a:solidFill>
                <a:latin typeface="Microsoft JhengHei"/>
              </a:defRPr>
            </a:pPr>
            <a:r>
              <a:rPr lang="zh-TW" dirty="0">
                <a:solidFill>
                  <a:srgbClr val="4472C4"/>
                </a:solidFill>
              </a:rPr>
              <a:t>跨專案共享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09D9A5-C788-126D-6343-8F0D700AA810}"/>
              </a:ext>
            </a:extLst>
          </p:cNvPr>
          <p:cNvSpPr txBox="1"/>
          <p:nvPr/>
        </p:nvSpPr>
        <p:spPr>
          <a:xfrm>
            <a:off x="1047206" y="3434341"/>
            <a:ext cx="3108960" cy="1231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555555"/>
                </a:solidFill>
                <a:latin typeface="Microsoft JhengHei"/>
              </a:defRPr>
            </a:pPr>
            <a:r>
              <a:rPr lang="zh-TW" sz="100" dirty="0">
                <a:solidFill>
                  <a:srgbClr val="555555"/>
                </a:solidFill>
              </a:rPr>
              <a:t>同一份專業知識</a:t>
            </a:r>
            <a:br>
              <a:rPr sz="100" dirty="0"/>
            </a:br>
            <a:r>
              <a:rPr lang="zh-TW" sz="100" dirty="0">
                <a:solidFill>
                  <a:srgbClr val="555555"/>
                </a:solidFill>
              </a:rPr>
              <a:t>可用於不同案件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2545553-ED93-3F51-0779-2E1CFD03B58B}"/>
              </a:ext>
            </a:extLst>
          </p:cNvPr>
          <p:cNvSpPr/>
          <p:nvPr/>
        </p:nvSpPr>
        <p:spPr>
          <a:xfrm>
            <a:off x="864326" y="3607277"/>
            <a:ext cx="3474720" cy="73152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E27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3F2C665-66FA-CB38-8EB9-183002A8B68B}"/>
              </a:ext>
            </a:extLst>
          </p:cNvPr>
          <p:cNvSpPr txBox="1"/>
          <p:nvPr/>
        </p:nvSpPr>
        <p:spPr>
          <a:xfrm>
            <a:off x="1463766" y="3698717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🔄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996217E-2241-0619-473D-AE23C1C81815}"/>
              </a:ext>
            </a:extLst>
          </p:cNvPr>
          <p:cNvSpPr txBox="1"/>
          <p:nvPr/>
        </p:nvSpPr>
        <p:spPr>
          <a:xfrm>
            <a:off x="2103846" y="3744437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27026"/>
                </a:solidFill>
                <a:latin typeface="Microsoft JhengHei"/>
              </a:defRPr>
            </a:pPr>
            <a:r>
              <a:rPr lang="zh-TW" dirty="0">
                <a:solidFill>
                  <a:srgbClr val="E27026"/>
                </a:solidFill>
              </a:rPr>
              <a:t>隨時更新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CBC0BA-8869-218C-3DF5-D737337936F1}"/>
              </a:ext>
            </a:extLst>
          </p:cNvPr>
          <p:cNvSpPr txBox="1"/>
          <p:nvPr/>
        </p:nvSpPr>
        <p:spPr>
          <a:xfrm>
            <a:off x="1047206" y="4279105"/>
            <a:ext cx="3108960" cy="1231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555555"/>
                </a:solidFill>
                <a:latin typeface="Microsoft JhengHei"/>
              </a:defRPr>
            </a:pPr>
            <a:r>
              <a:rPr lang="zh-TW" sz="100" dirty="0">
                <a:solidFill>
                  <a:srgbClr val="555555"/>
                </a:solidFill>
              </a:rPr>
              <a:t>規則變了改一處</a:t>
            </a:r>
            <a:br>
              <a:rPr sz="100" dirty="0"/>
            </a:br>
            <a:r>
              <a:rPr lang="zh-TW" sz="100" dirty="0">
                <a:solidFill>
                  <a:srgbClr val="555555"/>
                </a:solidFill>
              </a:rPr>
              <a:t>全案生效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47B454A4-E962-2FAA-5E0B-103CDCAD52AE}"/>
              </a:ext>
            </a:extLst>
          </p:cNvPr>
          <p:cNvSpPr/>
          <p:nvPr/>
        </p:nvSpPr>
        <p:spPr>
          <a:xfrm>
            <a:off x="864326" y="4535432"/>
            <a:ext cx="3474720" cy="73152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B4E8384-6674-4BA2-2E3D-5A742BB33D4B}"/>
              </a:ext>
            </a:extLst>
          </p:cNvPr>
          <p:cNvSpPr txBox="1"/>
          <p:nvPr/>
        </p:nvSpPr>
        <p:spPr>
          <a:xfrm>
            <a:off x="1623423" y="4626872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📋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36731D6-1157-0524-72F5-2AAD4B03E2B2}"/>
              </a:ext>
            </a:extLst>
          </p:cNvPr>
          <p:cNvSpPr txBox="1"/>
          <p:nvPr/>
        </p:nvSpPr>
        <p:spPr>
          <a:xfrm>
            <a:off x="2263503" y="467259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rgbClr val="70AD47"/>
                </a:solidFill>
              </a:rPr>
              <a:t>標準化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CF90636-8C96-1CF3-9FF3-DBA533215FC5}"/>
              </a:ext>
            </a:extLst>
          </p:cNvPr>
          <p:cNvSpPr txBox="1"/>
          <p:nvPr/>
        </p:nvSpPr>
        <p:spPr>
          <a:xfrm>
            <a:off x="1047206" y="5207260"/>
            <a:ext cx="3108960" cy="1231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555555"/>
                </a:solidFill>
                <a:latin typeface="Microsoft JhengHei"/>
              </a:defRPr>
            </a:pPr>
            <a:r>
              <a:rPr lang="zh-TW" sz="100" dirty="0">
                <a:solidFill>
                  <a:srgbClr val="555555"/>
                </a:solidFill>
              </a:rPr>
              <a:t>所有 Agent 引用同一套知識</a:t>
            </a:r>
            <a:br>
              <a:rPr sz="100" dirty="0"/>
            </a:br>
            <a:r>
              <a:rPr lang="zh-TW" sz="100" dirty="0">
                <a:solidFill>
                  <a:srgbClr val="555555"/>
                </a:solidFill>
              </a:rPr>
              <a:t>不會各說各話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D950B32E-650C-F6C0-9EB6-0DB8E67CC26A}"/>
              </a:ext>
            </a:extLst>
          </p:cNvPr>
          <p:cNvSpPr/>
          <p:nvPr/>
        </p:nvSpPr>
        <p:spPr>
          <a:xfrm>
            <a:off x="574039" y="1513045"/>
            <a:ext cx="4019007" cy="645156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B47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EB5F9D5-DE7B-4A4B-F662-7876053BA828}"/>
              </a:ext>
            </a:extLst>
          </p:cNvPr>
          <p:cNvSpPr txBox="1"/>
          <p:nvPr/>
        </p:nvSpPr>
        <p:spPr>
          <a:xfrm>
            <a:off x="63863" y="1607011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B47EFF"/>
                </a:solidFill>
                <a:latin typeface="Microsoft JhengHei"/>
              </a:defRPr>
            </a:pPr>
            <a:r>
              <a:rPr lang="zh-TW" dirty="0">
                <a:solidFill>
                  <a:srgbClr val="B47EFF"/>
                </a:solidFill>
              </a:rPr>
              <a:t>一份知識 → 多個專案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ED43D5-4E37-BB85-347F-A2DF232FC42B}"/>
              </a:ext>
            </a:extLst>
          </p:cNvPr>
          <p:cNvSpPr txBox="1"/>
          <p:nvPr/>
        </p:nvSpPr>
        <p:spPr>
          <a:xfrm>
            <a:off x="546318" y="2109133"/>
            <a:ext cx="1005840" cy="1077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555"/>
                </a:solidFill>
                <a:latin typeface="Microsoft JhengHei"/>
              </a:defRPr>
            </a:pPr>
            <a:r>
              <a:rPr lang="zh-TW" sz="100" dirty="0">
                <a:solidFill>
                  <a:srgbClr val="555555"/>
                </a:solidFill>
              </a:rPr>
              <a:t>專案 A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7FB73CF-51D0-377F-648F-82D44A68849D}"/>
              </a:ext>
            </a:extLst>
          </p:cNvPr>
          <p:cNvSpPr txBox="1"/>
          <p:nvPr/>
        </p:nvSpPr>
        <p:spPr>
          <a:xfrm>
            <a:off x="1735038" y="2109133"/>
            <a:ext cx="1005840" cy="1077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555"/>
                </a:solidFill>
                <a:latin typeface="Microsoft JhengHei"/>
              </a:defRPr>
            </a:pPr>
            <a:r>
              <a:rPr lang="zh-TW" sz="100" dirty="0">
                <a:solidFill>
                  <a:srgbClr val="555555"/>
                </a:solidFill>
              </a:rPr>
              <a:t>專案 B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85AFE9-19BE-6B72-19DF-89AF40B008E7}"/>
              </a:ext>
            </a:extLst>
          </p:cNvPr>
          <p:cNvSpPr txBox="1"/>
          <p:nvPr/>
        </p:nvSpPr>
        <p:spPr>
          <a:xfrm>
            <a:off x="2923758" y="2109133"/>
            <a:ext cx="1005840" cy="1077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555"/>
                </a:solidFill>
                <a:latin typeface="Microsoft JhengHei"/>
              </a:defRPr>
            </a:pPr>
            <a:r>
              <a:rPr lang="zh-TW" sz="100" dirty="0">
                <a:solidFill>
                  <a:srgbClr val="555555"/>
                </a:solidFill>
              </a:rPr>
              <a:t>專案 C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ADD28C7-C059-820A-F36D-9214E3A3236D}"/>
              </a:ext>
            </a:extLst>
          </p:cNvPr>
          <p:cNvSpPr txBox="1"/>
          <p:nvPr/>
        </p:nvSpPr>
        <p:spPr>
          <a:xfrm>
            <a:off x="3444822" y="2109133"/>
            <a:ext cx="1005840" cy="1077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555"/>
                </a:solidFill>
                <a:latin typeface="Microsoft JhengHei"/>
              </a:defRPr>
            </a:pPr>
            <a:r>
              <a:rPr lang="zh-TW" sz="100" dirty="0">
                <a:solidFill>
                  <a:srgbClr val="555555"/>
                </a:solidFill>
              </a:rPr>
              <a:t>專案 D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C88ABC8-20FF-3FEA-DF46-3982FA1008AA}"/>
              </a:ext>
            </a:extLst>
          </p:cNvPr>
          <p:cNvSpPr txBox="1"/>
          <p:nvPr/>
        </p:nvSpPr>
        <p:spPr>
          <a:xfrm>
            <a:off x="731520" y="743203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472C4"/>
                </a:solidFill>
                <a:latin typeface="Microsoft JhengHei"/>
              </a:defRPr>
            </a:pPr>
            <a:r>
              <a:rPr lang="zh-TW" dirty="0">
                <a:solidFill>
                  <a:srgbClr val="4472C4"/>
                </a:solidFill>
              </a:rPr>
              <a:t>類比：專業教科書 / 參考手冊 — 每個工程師桌上都有一本，翻開就能查</a:t>
            </a:r>
          </a:p>
        </p:txBody>
      </p:sp>
      <p:pic>
        <p:nvPicPr>
          <p:cNvPr id="31" name="圖片 30">
            <a:extLst>
              <a:ext uri="{FF2B5EF4-FFF2-40B4-BE49-F238E27FC236}">
                <a16:creationId xmlns:a16="http://schemas.microsoft.com/office/drawing/2014/main" id="{0EE71D45-E6AE-E56E-333D-23286AA5E2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9315" y="1271016"/>
            <a:ext cx="6828571" cy="4942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95270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11480"/>
            <a:ext cx="1097280" cy="54864"/>
          </a:xfrm>
          <a:prstGeom prst="rect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第 5 層：AI 理解，程式執行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概念篇</a:t>
            </a:r>
          </a:p>
        </p:txBody>
      </p:sp>
      <p:sp>
        <p:nvSpPr>
          <p:cNvPr id="5" name="Oval 4"/>
          <p:cNvSpPr/>
          <p:nvPr/>
        </p:nvSpPr>
        <p:spPr>
          <a:xfrm>
            <a:off x="10744200" y="331410"/>
            <a:ext cx="457200" cy="457200"/>
          </a:xfrm>
          <a:prstGeom prst="ellipse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744200" y="377130"/>
            <a:ext cx="457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9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474720" cy="32004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73736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472C4"/>
                </a:solidFill>
                <a:latin typeface="Microsoft JhengHei"/>
              </a:defRPr>
            </a:pPr>
            <a:r>
              <a:rPr lang="zh-TW" dirty="0">
                <a:solidFill>
                  <a:srgbClr val="4472C4"/>
                </a:solidFill>
              </a:rPr>
              <a:t>🧠 AI 負責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68880"/>
            <a:ext cx="3108960" cy="14080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19"/>
              </a:spcAft>
              <a:defRPr sz="2000" b="1">
                <a:solidFill>
                  <a:srgbClr val="444444"/>
                </a:solidFill>
                <a:latin typeface="Microsoft JhengHei"/>
              </a:defRPr>
            </a:pPr>
            <a:r>
              <a:rPr dirty="0" err="1">
                <a:solidFill>
                  <a:srgbClr val="444444"/>
                </a:solidFill>
              </a:rPr>
              <a:t>讀懂需求</a:t>
            </a:r>
            <a:endParaRPr dirty="0"/>
          </a:p>
          <a:p>
            <a:pPr algn="ctr">
              <a:spcAft>
                <a:spcPts val="719"/>
              </a:spcAft>
              <a:defRPr sz="1600" b="0">
                <a:solidFill>
                  <a:srgbClr val="555555"/>
                </a:solidFill>
                <a:latin typeface="Microsoft JhengHei"/>
              </a:defRPr>
            </a:pPr>
            <a:r>
              <a:rPr dirty="0" err="1">
                <a:solidFill>
                  <a:srgbClr val="555555"/>
                </a:solidFill>
              </a:rPr>
              <a:t>理解自然語言</a:t>
            </a:r>
            <a:endParaRPr dirty="0"/>
          </a:p>
          <a:p>
            <a:pPr algn="ctr">
              <a:spcAft>
                <a:spcPts val="719"/>
              </a:spcAft>
              <a:defRPr sz="1600" b="0">
                <a:solidFill>
                  <a:srgbClr val="555555"/>
                </a:solidFill>
                <a:latin typeface="Microsoft JhengHei"/>
              </a:defRPr>
            </a:pPr>
            <a:r>
              <a:rPr dirty="0" err="1">
                <a:solidFill>
                  <a:srgbClr val="555555"/>
                </a:solidFill>
              </a:rPr>
              <a:t>判讀圖紙</a:t>
            </a:r>
            <a:endParaRPr dirty="0"/>
          </a:p>
          <a:p>
            <a:pPr algn="ctr">
              <a:spcAft>
                <a:spcPts val="719"/>
              </a:spcAft>
              <a:defRPr sz="1600" b="0">
                <a:solidFill>
                  <a:srgbClr val="555555"/>
                </a:solidFill>
                <a:latin typeface="Microsoft JhengHei"/>
              </a:defRPr>
            </a:pPr>
            <a:r>
              <a:rPr dirty="0" err="1">
                <a:solidFill>
                  <a:srgbClr val="555555"/>
                </a:solidFill>
              </a:rPr>
              <a:t>處理模糊資訊</a:t>
            </a:r>
            <a:endParaRPr dirty="0"/>
          </a:p>
        </p:txBody>
      </p:sp>
      <p:sp>
        <p:nvSpPr>
          <p:cNvPr id="11" name="Right Arrow 10"/>
          <p:cNvSpPr/>
          <p:nvPr/>
        </p:nvSpPr>
        <p:spPr>
          <a:xfrm>
            <a:off x="4297680" y="2743200"/>
            <a:ext cx="548640" cy="365760"/>
          </a:xfrm>
          <a:prstGeom prst="rightArrow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937760" y="1828800"/>
            <a:ext cx="2286000" cy="27432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E27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0" y="19202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E27026"/>
                </a:solidFill>
                <a:latin typeface="Microsoft JhengHei"/>
              </a:defRPr>
            </a:pPr>
            <a:r>
              <a:rPr lang="zh-TW" dirty="0">
                <a:solidFill>
                  <a:srgbClr val="E27026"/>
                </a:solidFill>
              </a:rPr>
              <a:t>📄 規格書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4688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設定檔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3017520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79"/>
              </a:spcAft>
              <a:defRPr sz="14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結構化資料</a:t>
            </a:r>
          </a:p>
          <a:p>
            <a:pPr algn="ctr">
              <a:spcAft>
                <a:spcPts val="679"/>
              </a:spcAft>
              <a:defRPr sz="14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JSON 格式</a:t>
            </a:r>
          </a:p>
          <a:p>
            <a:pPr algn="ctr">
              <a:spcAft>
                <a:spcPts val="679"/>
              </a:spcAft>
              <a:defRPr sz="14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可版控追溯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315200" y="2743200"/>
            <a:ext cx="548640" cy="365760"/>
          </a:xfrm>
          <a:prstGeom prst="rightArrow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955279" y="1645920"/>
            <a:ext cx="3474720" cy="32004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rgbClr val="70AD47"/>
                </a:solidFill>
              </a:rPr>
              <a:t>⚙️ 程式負責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46888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19"/>
              </a:spcAft>
              <a:defRPr sz="2000" b="1">
                <a:solidFill>
                  <a:srgbClr val="444444"/>
                </a:solidFill>
                <a:latin typeface="Microsoft JhengHei"/>
              </a:defRPr>
            </a:pPr>
            <a:r>
              <a:rPr dirty="0" err="1">
                <a:solidFill>
                  <a:srgbClr val="444444"/>
                </a:solidFill>
              </a:rPr>
              <a:t>精準動作</a:t>
            </a:r>
            <a:endParaRPr dirty="0"/>
          </a:p>
          <a:p>
            <a:pPr algn="ctr">
              <a:spcAft>
                <a:spcPts val="719"/>
              </a:spcAft>
              <a:defRPr sz="1600" b="0">
                <a:solidFill>
                  <a:srgbClr val="555555"/>
                </a:solidFill>
                <a:latin typeface="Microsoft JhengHei"/>
              </a:defRPr>
            </a:pPr>
            <a:r>
              <a:rPr dirty="0" err="1">
                <a:solidFill>
                  <a:srgbClr val="555555"/>
                </a:solidFill>
              </a:rPr>
              <a:t>數值計算零誤差</a:t>
            </a:r>
            <a:endParaRPr dirty="0"/>
          </a:p>
          <a:p>
            <a:pPr algn="ctr">
              <a:spcAft>
                <a:spcPts val="719"/>
              </a:spcAft>
              <a:defRPr sz="1600" b="0">
                <a:solidFill>
                  <a:srgbClr val="555555"/>
                </a:solidFill>
                <a:latin typeface="Microsoft JhengHei"/>
              </a:defRPr>
            </a:pPr>
            <a:r>
              <a:rPr dirty="0" err="1">
                <a:solidFill>
                  <a:srgbClr val="555555"/>
                </a:solidFill>
              </a:rPr>
              <a:t>同輸入</a:t>
            </a:r>
            <a:r>
              <a:rPr dirty="0">
                <a:solidFill>
                  <a:srgbClr val="555555"/>
                </a:solidFill>
              </a:rPr>
              <a:t> = </a:t>
            </a:r>
            <a:r>
              <a:rPr dirty="0" err="1">
                <a:solidFill>
                  <a:srgbClr val="555555"/>
                </a:solidFill>
              </a:rPr>
              <a:t>同輸出</a:t>
            </a:r>
            <a:endParaRPr dirty="0"/>
          </a:p>
          <a:p>
            <a:pPr algn="ctr">
              <a:spcAft>
                <a:spcPts val="719"/>
              </a:spcAft>
              <a:defRPr sz="1600" b="0">
                <a:solidFill>
                  <a:srgbClr val="555555"/>
                </a:solidFill>
                <a:latin typeface="Microsoft JhengHei"/>
              </a:defRPr>
            </a:pPr>
            <a:r>
              <a:rPr dirty="0" err="1">
                <a:solidFill>
                  <a:srgbClr val="555555"/>
                </a:solidFill>
              </a:rPr>
              <a:t>大量重複操作</a:t>
            </a:r>
            <a:endParaRPr dirty="0"/>
          </a:p>
        </p:txBody>
      </p:sp>
      <p:sp>
        <p:nvSpPr>
          <p:cNvPr id="20" name="Rounded Rectangle 19"/>
          <p:cNvSpPr/>
          <p:nvPr/>
        </p:nvSpPr>
        <p:spPr>
          <a:xfrm>
            <a:off x="731520" y="5120640"/>
            <a:ext cx="10698480" cy="118872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52120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C000"/>
                </a:solidFill>
                <a:latin typeface="Microsoft JhengHei"/>
              </a:defRPr>
            </a:pPr>
            <a:r>
              <a:rPr lang="zh-TW" dirty="0">
                <a:solidFill>
                  <a:srgbClr val="FFC000"/>
                </a:solidFill>
              </a:rPr>
              <a:t>確定性 = 同樣的輸入，永遠得到同樣的結果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類比：AI 是建築師，腳本是施工隊 — 建築師畫好圖，施工隊照圖施工，不會自己改設計</a:t>
            </a:r>
          </a:p>
        </p:txBody>
      </p:sp>
      <p:pic>
        <p:nvPicPr>
          <p:cNvPr id="23" name="圖片 22">
            <a:extLst>
              <a:ext uri="{FF2B5EF4-FFF2-40B4-BE49-F238E27FC236}">
                <a16:creationId xmlns:a16="http://schemas.microsoft.com/office/drawing/2014/main" id="{A6C6373F-D56D-2DE4-7C15-9EEE7E34DB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6590" y="1271016"/>
            <a:ext cx="6828571" cy="4942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15143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11480"/>
            <a:ext cx="1097280" cy="54864"/>
          </a:xfrm>
          <a:prstGeom prst="rect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第 6 層：每次執行，自動品質檢查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概念篇</a:t>
            </a:r>
          </a:p>
        </p:txBody>
      </p:sp>
      <p:sp>
        <p:nvSpPr>
          <p:cNvPr id="5" name="Oval 4"/>
          <p:cNvSpPr/>
          <p:nvPr/>
        </p:nvSpPr>
        <p:spPr>
          <a:xfrm>
            <a:off x="10744200" y="365760"/>
            <a:ext cx="457200" cy="457200"/>
          </a:xfrm>
          <a:prstGeom prst="ellipse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744200" y="4114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10 / 16</a:t>
            </a:r>
          </a:p>
        </p:txBody>
      </p:sp>
      <p:pic>
        <p:nvPicPr>
          <p:cNvPr id="30" name="圖片 29">
            <a:extLst>
              <a:ext uri="{FF2B5EF4-FFF2-40B4-BE49-F238E27FC236}">
                <a16:creationId xmlns:a16="http://schemas.microsoft.com/office/drawing/2014/main" id="{254BBA5A-17D8-8032-79B7-17E221931D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5686" y="1162362"/>
            <a:ext cx="6085714" cy="4990476"/>
          </a:xfrm>
          <a:prstGeom prst="rect">
            <a:avLst/>
          </a:prstGeom>
        </p:spPr>
      </p:pic>
      <p:sp>
        <p:nvSpPr>
          <p:cNvPr id="31" name="Rounded Rectangle 8">
            <a:extLst>
              <a:ext uri="{FF2B5EF4-FFF2-40B4-BE49-F238E27FC236}">
                <a16:creationId xmlns:a16="http://schemas.microsoft.com/office/drawing/2014/main" id="{5DDE89CE-2F1B-6698-4C87-79E02ACE900F}"/>
              </a:ext>
            </a:extLst>
          </p:cNvPr>
          <p:cNvSpPr/>
          <p:nvPr/>
        </p:nvSpPr>
        <p:spPr>
          <a:xfrm>
            <a:off x="833120" y="2356612"/>
            <a:ext cx="3434080" cy="2144776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dirty="0">
                <a:solidFill>
                  <a:schemeClr val="tx1"/>
                </a:solidFill>
              </a:rPr>
              <a:t>利用</a:t>
            </a:r>
            <a:r>
              <a:rPr lang="en-US" altLang="zh-TW" sz="2000" dirty="0">
                <a:solidFill>
                  <a:schemeClr val="tx1"/>
                </a:solidFill>
              </a:rPr>
              <a:t>SKILL</a:t>
            </a:r>
            <a:r>
              <a:rPr lang="zh-TW" altLang="en-US" sz="2000" dirty="0">
                <a:solidFill>
                  <a:schemeClr val="tx1"/>
                </a:solidFill>
              </a:rPr>
              <a:t>、</a:t>
            </a:r>
            <a:r>
              <a:rPr lang="en-US" altLang="zh-TW" sz="2000" dirty="0">
                <a:solidFill>
                  <a:schemeClr val="tx1"/>
                </a:solidFill>
              </a:rPr>
              <a:t>AGENT</a:t>
            </a:r>
            <a:r>
              <a:rPr lang="zh-TW" altLang="en-US" sz="2000" dirty="0">
                <a:solidFill>
                  <a:schemeClr val="tx1"/>
                </a:solidFill>
              </a:rPr>
              <a:t>、</a:t>
            </a:r>
            <a:r>
              <a:rPr lang="en-US" altLang="zh-TW" sz="2000" dirty="0">
                <a:solidFill>
                  <a:schemeClr val="tx1"/>
                </a:solidFill>
              </a:rPr>
              <a:t>/COMMAND</a:t>
            </a:r>
            <a:r>
              <a:rPr lang="zh-TW" altLang="en-US" sz="2000" dirty="0">
                <a:solidFill>
                  <a:schemeClr val="tx1"/>
                </a:solidFill>
              </a:rPr>
              <a:t> 的概念</a:t>
            </a:r>
            <a:endParaRPr lang="en-US" altLang="zh-TW" sz="2000" dirty="0">
              <a:solidFill>
                <a:schemeClr val="tx1"/>
              </a:solidFill>
            </a:endParaRPr>
          </a:p>
          <a:p>
            <a:pPr algn="ctr"/>
            <a:r>
              <a:rPr lang="zh-TW" altLang="en-US" sz="2000" dirty="0">
                <a:solidFill>
                  <a:schemeClr val="tx1"/>
                </a:solidFill>
              </a:rPr>
              <a:t>實現自動品質控管</a:t>
            </a:r>
            <a:endParaRPr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24650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B0BE2-752B-7F2B-3863-9A2C5EA26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D51B634-0C09-D470-E4DC-F340EC3BF1BD}"/>
              </a:ext>
            </a:extLst>
          </p:cNvPr>
          <p:cNvSpPr/>
          <p:nvPr/>
        </p:nvSpPr>
        <p:spPr>
          <a:xfrm>
            <a:off x="548640" y="411480"/>
            <a:ext cx="1097280" cy="54864"/>
          </a:xfrm>
          <a:prstGeom prst="rect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D263C7-481B-6EB7-6BDC-73F0ABC3E4EE}"/>
              </a:ext>
            </a:extLst>
          </p:cNvPr>
          <p:cNvSpPr txBox="1"/>
          <p:nvPr/>
        </p:nvSpPr>
        <p:spPr>
          <a:xfrm>
            <a:off x="548640" y="50292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第 6 層：每次執行，自動品質檢查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34B5A6-07E3-66E4-41A0-72074CD91308}"/>
              </a:ext>
            </a:extLst>
          </p:cNvPr>
          <p:cNvSpPr txBox="1"/>
          <p:nvPr/>
        </p:nvSpPr>
        <p:spPr>
          <a:xfrm>
            <a:off x="9601200" y="411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概念篇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40C1B37-1BE0-084E-C80D-FB92160991A3}"/>
              </a:ext>
            </a:extLst>
          </p:cNvPr>
          <p:cNvSpPr/>
          <p:nvPr/>
        </p:nvSpPr>
        <p:spPr>
          <a:xfrm>
            <a:off x="10744200" y="365760"/>
            <a:ext cx="457200" cy="457200"/>
          </a:xfrm>
          <a:prstGeom prst="ellipse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D3107C-FEC7-D36F-D494-03880D974174}"/>
              </a:ext>
            </a:extLst>
          </p:cNvPr>
          <p:cNvSpPr txBox="1"/>
          <p:nvPr/>
        </p:nvSpPr>
        <p:spPr>
          <a:xfrm>
            <a:off x="10744200" y="4114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BC03F3-DD0A-4A5A-A8C6-0179371A615A}"/>
              </a:ext>
            </a:extLst>
          </p:cNvPr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10 / 16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13437C-A6BD-15F8-E0E1-7C88F4BDDD55}"/>
              </a:ext>
            </a:extLst>
          </p:cNvPr>
          <p:cNvSpPr txBox="1"/>
          <p:nvPr/>
        </p:nvSpPr>
        <p:spPr>
          <a:xfrm>
            <a:off x="731520" y="1209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每次執行完成後，自動跑品質檢測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93F8CC7-73B2-59AB-7ABE-4A7B0B68DD98}"/>
              </a:ext>
            </a:extLst>
          </p:cNvPr>
          <p:cNvSpPr/>
          <p:nvPr/>
        </p:nvSpPr>
        <p:spPr>
          <a:xfrm>
            <a:off x="731520" y="1766824"/>
            <a:ext cx="5486400" cy="9144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40DE18-B53D-51B8-11CB-3E3A98EFF4AE}"/>
              </a:ext>
            </a:extLst>
          </p:cNvPr>
          <p:cNvSpPr txBox="1"/>
          <p:nvPr/>
        </p:nvSpPr>
        <p:spPr>
          <a:xfrm>
            <a:off x="914400" y="185826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rgbClr val="70AD47"/>
                </a:solidFill>
              </a:rPr>
              <a:t>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4F59F8-B9A7-9454-446F-0F50BDF8DAC7}"/>
              </a:ext>
            </a:extLst>
          </p:cNvPr>
          <p:cNvSpPr txBox="1"/>
          <p:nvPr/>
        </p:nvSpPr>
        <p:spPr>
          <a:xfrm>
            <a:off x="1463040" y="1858264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數值正確性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7E54D77-602C-C9FF-8093-2E19F43B48FD}"/>
              </a:ext>
            </a:extLst>
          </p:cNvPr>
          <p:cNvSpPr txBox="1"/>
          <p:nvPr/>
        </p:nvSpPr>
        <p:spPr>
          <a:xfrm>
            <a:off x="1463040" y="2224024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所有參數、設定值是否正確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EFEC0A8-ED96-1CDC-EC54-D6856B9E3654}"/>
              </a:ext>
            </a:extLst>
          </p:cNvPr>
          <p:cNvSpPr/>
          <p:nvPr/>
        </p:nvSpPr>
        <p:spPr>
          <a:xfrm>
            <a:off x="731520" y="2864104"/>
            <a:ext cx="5486400" cy="9144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4D8856-A7FC-0870-FC6E-48E95EC0FD19}"/>
              </a:ext>
            </a:extLst>
          </p:cNvPr>
          <p:cNvSpPr txBox="1"/>
          <p:nvPr/>
        </p:nvSpPr>
        <p:spPr>
          <a:xfrm>
            <a:off x="914400" y="295554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rgbClr val="70AD47"/>
                </a:solidFill>
              </a:rPr>
              <a:t>✅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C271FEF-B862-1353-BCA1-ED6E3228AED7}"/>
              </a:ext>
            </a:extLst>
          </p:cNvPr>
          <p:cNvSpPr txBox="1"/>
          <p:nvPr/>
        </p:nvSpPr>
        <p:spPr>
          <a:xfrm>
            <a:off x="1463040" y="2955544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完整性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964847-E893-055B-DFF7-CBA59D36D5E4}"/>
              </a:ext>
            </a:extLst>
          </p:cNvPr>
          <p:cNvSpPr txBox="1"/>
          <p:nvPr/>
        </p:nvSpPr>
        <p:spPr>
          <a:xfrm>
            <a:off x="1463040" y="3321304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該有的東西是否都有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B86589D-F423-4E13-8581-8665F3A8759F}"/>
              </a:ext>
            </a:extLst>
          </p:cNvPr>
          <p:cNvSpPr/>
          <p:nvPr/>
        </p:nvSpPr>
        <p:spPr>
          <a:xfrm>
            <a:off x="731520" y="3961384"/>
            <a:ext cx="5486400" cy="9144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F71E48A-C7D0-F7B8-AD26-CFDF0DADA10D}"/>
              </a:ext>
            </a:extLst>
          </p:cNvPr>
          <p:cNvSpPr txBox="1"/>
          <p:nvPr/>
        </p:nvSpPr>
        <p:spPr>
          <a:xfrm>
            <a:off x="914400" y="405282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rgbClr val="70AD47"/>
                </a:solidFill>
              </a:rPr>
              <a:t>✅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5D8CDEF-A1BB-5FD1-2C31-702A20927AD6}"/>
              </a:ext>
            </a:extLst>
          </p:cNvPr>
          <p:cNvSpPr txBox="1"/>
          <p:nvPr/>
        </p:nvSpPr>
        <p:spPr>
          <a:xfrm>
            <a:off x="1463040" y="4052824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一致性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4A123AC-8878-5A28-1E45-D5A34BE843B2}"/>
              </a:ext>
            </a:extLst>
          </p:cNvPr>
          <p:cNvSpPr txBox="1"/>
          <p:nvPr/>
        </p:nvSpPr>
        <p:spPr>
          <a:xfrm>
            <a:off x="1463040" y="4418584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結果是否與規格書吻合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D22B16F9-AFE1-F52B-D21B-2591E454A749}"/>
              </a:ext>
            </a:extLst>
          </p:cNvPr>
          <p:cNvSpPr/>
          <p:nvPr/>
        </p:nvSpPr>
        <p:spPr>
          <a:xfrm>
            <a:off x="731520" y="5058664"/>
            <a:ext cx="5486400" cy="9144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E67BAC-396F-43DD-FA78-016C80244AC2}"/>
              </a:ext>
            </a:extLst>
          </p:cNvPr>
          <p:cNvSpPr txBox="1"/>
          <p:nvPr/>
        </p:nvSpPr>
        <p:spPr>
          <a:xfrm>
            <a:off x="914400" y="515010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D7D31"/>
                </a:solidFill>
                <a:latin typeface="Microsoft JhengHei"/>
              </a:defRPr>
            </a:pPr>
            <a:r>
              <a:rPr lang="zh-TW" dirty="0">
                <a:solidFill>
                  <a:srgbClr val="ED7D31"/>
                </a:solidFill>
              </a:rPr>
              <a:t>❌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3EE9F51-9BC3-B572-8486-45E1EFC0A6BA}"/>
              </a:ext>
            </a:extLst>
          </p:cNvPr>
          <p:cNvSpPr txBox="1"/>
          <p:nvPr/>
        </p:nvSpPr>
        <p:spPr>
          <a:xfrm>
            <a:off x="1463040" y="515010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D7D31"/>
                </a:solidFill>
                <a:latin typeface="Microsoft JhengHei"/>
              </a:defRPr>
            </a:pPr>
            <a:r>
              <a:rPr lang="zh-TW" dirty="0">
                <a:solidFill>
                  <a:srgbClr val="ED7D31"/>
                </a:solidFill>
              </a:rPr>
              <a:t>不通過時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9CF2F2B-5437-F8F6-B88C-AAFA5AC29C39}"/>
              </a:ext>
            </a:extLst>
          </p:cNvPr>
          <p:cNvSpPr txBox="1"/>
          <p:nvPr/>
        </p:nvSpPr>
        <p:spPr>
          <a:xfrm>
            <a:off x="1463040" y="5515864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精確指出哪裡有問題，不是模糊的「有錯」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94849DA7-F0F1-BCB6-0241-EFFDF02937AB}"/>
              </a:ext>
            </a:extLst>
          </p:cNvPr>
          <p:cNvSpPr/>
          <p:nvPr/>
        </p:nvSpPr>
        <p:spPr>
          <a:xfrm>
            <a:off x="6675120" y="1209040"/>
            <a:ext cx="5029200" cy="4323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72DD3E4-DD9B-F67F-C32C-5047BDC54013}"/>
              </a:ext>
            </a:extLst>
          </p:cNvPr>
          <p:cNvSpPr txBox="1"/>
          <p:nvPr/>
        </p:nvSpPr>
        <p:spPr>
          <a:xfrm>
            <a:off x="6858000" y="139192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rgbClr val="70AD47"/>
                </a:solidFill>
              </a:rPr>
              <a:t>品質檢測報告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E775DA4-2F57-75D5-E419-B7EE9E88D53F}"/>
              </a:ext>
            </a:extLst>
          </p:cNvPr>
          <p:cNvSpPr txBox="1"/>
          <p:nvPr/>
        </p:nvSpPr>
        <p:spPr>
          <a:xfrm>
            <a:off x="6858000" y="184912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600" b="0">
                <a:solidFill>
                  <a:srgbClr val="444444"/>
                </a:solidFill>
                <a:latin typeface="Consolas"/>
              </a:defRPr>
            </a:pPr>
            <a:endParaRPr/>
          </a:p>
          <a:p>
            <a:pPr algn="l">
              <a:spcAft>
                <a:spcPts val="400"/>
              </a:spcAft>
              <a:defRPr sz="1600" b="1">
                <a:solidFill>
                  <a:srgbClr val="4472C4"/>
                </a:solidFill>
                <a:latin typeface="Consolas"/>
              </a:defRPr>
            </a:pPr>
            <a:r>
              <a:rPr lang="zh-TW" dirty="0">
                <a:solidFill>
                  <a:srgbClr val="4472C4"/>
                </a:solidFill>
              </a:rPr>
              <a:t>數值正確性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70AD47"/>
                </a:solidFill>
                <a:latin typeface="Consolas"/>
              </a:defRPr>
            </a:pPr>
            <a:r>
              <a:rPr lang="zh-TW" dirty="0">
                <a:solidFill>
                  <a:srgbClr val="70AD47"/>
                </a:solidFill>
              </a:rPr>
              <a:t>  ✓ 參數值在合理範圍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70AD47"/>
                </a:solidFill>
                <a:latin typeface="Consolas"/>
              </a:defRPr>
            </a:pPr>
            <a:r>
              <a:rPr lang="zh-TW" dirty="0">
                <a:solidFill>
                  <a:srgbClr val="70AD47"/>
                </a:solidFill>
              </a:rPr>
              <a:t>  ✓ 設定值與規則一致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44444"/>
                </a:solidFill>
                <a:latin typeface="Consolas"/>
              </a:defRPr>
            </a:pPr>
            <a:endParaRPr/>
          </a:p>
          <a:p>
            <a:pPr algn="l">
              <a:spcAft>
                <a:spcPts val="400"/>
              </a:spcAft>
              <a:defRPr sz="1600" b="1">
                <a:solidFill>
                  <a:srgbClr val="4472C4"/>
                </a:solidFill>
                <a:latin typeface="Consolas"/>
              </a:defRPr>
            </a:pPr>
            <a:r>
              <a:rPr lang="zh-TW" dirty="0">
                <a:solidFill>
                  <a:srgbClr val="4472C4"/>
                </a:solidFill>
              </a:rPr>
              <a:t>完整性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70AD47"/>
                </a:solidFill>
                <a:latin typeface="Consolas"/>
              </a:defRPr>
            </a:pPr>
            <a:r>
              <a:rPr lang="zh-TW" dirty="0">
                <a:solidFill>
                  <a:srgbClr val="70AD47"/>
                </a:solidFill>
              </a:rPr>
              <a:t>  ✓ 所有必要構件已建立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70AD47"/>
                </a:solidFill>
                <a:latin typeface="Consolas"/>
              </a:defRPr>
            </a:pPr>
            <a:r>
              <a:rPr lang="zh-TW" dirty="0">
                <a:solidFill>
                  <a:srgbClr val="70AD47"/>
                </a:solidFill>
              </a:rPr>
              <a:t>  ✓ 載重型態完整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44444"/>
                </a:solidFill>
                <a:latin typeface="Consolas"/>
              </a:defRPr>
            </a:pPr>
            <a:endParaRPr/>
          </a:p>
          <a:p>
            <a:pPr algn="l">
              <a:spcAft>
                <a:spcPts val="400"/>
              </a:spcAft>
              <a:defRPr sz="1600" b="1">
                <a:solidFill>
                  <a:srgbClr val="4472C4"/>
                </a:solidFill>
                <a:latin typeface="Consolas"/>
              </a:defRPr>
            </a:pPr>
            <a:r>
              <a:rPr lang="zh-TW" dirty="0">
                <a:solidFill>
                  <a:srgbClr val="4472C4"/>
                </a:solidFill>
              </a:rPr>
              <a:t>一致性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70AD47"/>
                </a:solidFill>
                <a:latin typeface="Consolas"/>
              </a:defRPr>
            </a:pPr>
            <a:r>
              <a:rPr lang="zh-TW" dirty="0">
                <a:solidFill>
                  <a:srgbClr val="70AD47"/>
                </a:solidFill>
              </a:rPr>
              <a:t>  ✓ 結果與規格書吻合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70AD47"/>
                </a:solidFill>
                <a:latin typeface="Consolas"/>
              </a:defRPr>
            </a:pPr>
            <a:r>
              <a:rPr lang="zh-TW" dirty="0">
                <a:solidFill>
                  <a:srgbClr val="70AD47"/>
                </a:solidFill>
              </a:rPr>
              <a:t>  ✓ 命名規則正確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44444"/>
                </a:solidFill>
                <a:latin typeface="Consolas"/>
              </a:defRPr>
            </a:pPr>
            <a:endParaRPr/>
          </a:p>
          <a:p>
            <a:pPr algn="l">
              <a:spcAft>
                <a:spcPts val="400"/>
              </a:spcAft>
              <a:defRPr sz="1600" b="1">
                <a:solidFill>
                  <a:srgbClr val="70AD47"/>
                </a:solidFill>
                <a:latin typeface="Consolas"/>
              </a:defRPr>
            </a:pPr>
            <a:r>
              <a:rPr lang="zh-TW" dirty="0">
                <a:solidFill>
                  <a:srgbClr val="70AD47"/>
                </a:solidFill>
              </a:rPr>
              <a:t>════ ALL PASSED ════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CFEF5C7-6F10-55FE-F7D3-9637EE1F7B87}"/>
              </a:ext>
            </a:extLst>
          </p:cNvPr>
          <p:cNvSpPr txBox="1"/>
          <p:nvPr/>
        </p:nvSpPr>
        <p:spPr>
          <a:xfrm>
            <a:off x="6903720" y="5607304"/>
            <a:ext cx="4572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472C4"/>
                </a:solidFill>
                <a:latin typeface="Microsoft JhengHei"/>
              </a:defRPr>
            </a:pPr>
            <a:r>
              <a:rPr lang="zh-TW" dirty="0">
                <a:solidFill>
                  <a:srgbClr val="4472C4"/>
                </a:solidFill>
              </a:rPr>
              <a:t>出廠品管 — 每一件產品離開產線前都要過 QC</a:t>
            </a:r>
            <a:endParaRPr lang="en-US" altLang="zh-TW" dirty="0">
              <a:solidFill>
                <a:srgbClr val="4472C4"/>
              </a:solidFill>
            </a:endParaRPr>
          </a:p>
          <a:p>
            <a:pPr algn="ctr">
              <a:defRPr sz="1600" b="0">
                <a:solidFill>
                  <a:srgbClr val="4472C4"/>
                </a:solidFill>
                <a:latin typeface="Microsoft JhengHei"/>
              </a:defRPr>
            </a:pPr>
            <a:r>
              <a:rPr lang="zh-TW" dirty="0">
                <a:solidFill>
                  <a:srgbClr val="4472C4"/>
                </a:solidFill>
              </a:rPr>
              <a:t>不合格不出貨</a:t>
            </a:r>
          </a:p>
        </p:txBody>
      </p:sp>
    </p:spTree>
    <p:extLst>
      <p:ext uri="{BB962C8B-B14F-4D97-AF65-F5344CB8AC3E}">
        <p14:creationId xmlns:p14="http://schemas.microsoft.com/office/powerpoint/2010/main" val="22347531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11480"/>
            <a:ext cx="1097280" cy="54864"/>
          </a:xfrm>
          <a:prstGeom prst="rect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各取所長 — AI 理解 + 程式執行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概念篇 · 總結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11 / 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572000" cy="32004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4389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4472C4"/>
                </a:solidFill>
                <a:latin typeface="Microsoft JhengHei"/>
              </a:defRPr>
            </a:pPr>
            <a:r>
              <a:rPr lang="zh-TW" dirty="0">
                <a:solidFill>
                  <a:srgbClr val="4472C4"/>
                </a:solidFill>
              </a:rPr>
              <a:t>🧠 AI 擅長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860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◆  理解自然語言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8346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◆  判讀圖紙與文件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3832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◆  處理模糊、不完整的資訊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93192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◆  跨領域知識整合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0" y="1463040"/>
            <a:ext cx="4572000" cy="32004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949440" y="1554480"/>
            <a:ext cx="4389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rgbClr val="70AD47"/>
                </a:solidFill>
              </a:rPr>
              <a:t>⚙️ 程式擅長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22860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◆  精準執行指令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8346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◆  數值計算零誤差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33832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◆  同輸入 = 同輸出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393192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◆  毫秒級大量重複操作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0" y="4865190"/>
            <a:ext cx="3931920" cy="109728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E27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06240" y="4956630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27026"/>
                </a:solidFill>
                <a:latin typeface="Microsoft JhengHei"/>
              </a:defRPr>
            </a:pPr>
            <a:r>
              <a:rPr lang="zh-TW" dirty="0">
                <a:solidFill>
                  <a:srgbClr val="E27026"/>
                </a:solidFill>
              </a:rPr>
              <a:t>📄 結構化設定檔（規格書）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5505270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AI 產出 ←→ 程式讀取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2743200" y="4754880"/>
            <a:ext cx="365760" cy="548640"/>
          </a:xfrm>
          <a:prstGeom prst="downArrow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011680" y="46634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472C4"/>
                </a:solidFill>
                <a:latin typeface="Microsoft JhengHei"/>
              </a:defRPr>
            </a:pPr>
            <a:r>
              <a:rPr lang="zh-TW" dirty="0">
                <a:solidFill>
                  <a:srgbClr val="4472C4"/>
                </a:solidFill>
              </a:rPr>
              <a:t>AI 產出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8961120" y="4754880"/>
            <a:ext cx="365760" cy="548640"/>
          </a:xfrm>
          <a:prstGeom prst="downArrow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326880" y="46634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rgbClr val="70AD47"/>
                </a:solidFill>
              </a:rPr>
              <a:t>程式讀取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70480" y="5964165"/>
            <a:ext cx="7051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C000"/>
                </a:solidFill>
                <a:latin typeface="Microsoft JhengHei"/>
              </a:defRPr>
            </a:pPr>
            <a:r>
              <a:rPr lang="zh-TW" dirty="0">
                <a:solidFill>
                  <a:srgbClr val="FFC000"/>
                </a:solidFill>
              </a:rPr>
              <a:t>核心原則：讓 AI 做 AI 擅長的事，讓程式做程式擅長的事</a:t>
            </a:r>
          </a:p>
        </p:txBody>
      </p:sp>
    </p:spTree>
    <p:extLst>
      <p:ext uri="{BB962C8B-B14F-4D97-AF65-F5344CB8AC3E}">
        <p14:creationId xmlns:p14="http://schemas.microsoft.com/office/powerpoint/2010/main" val="5118774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11480"/>
            <a:ext cx="1097280" cy="54864"/>
          </a:xfrm>
          <a:prstGeom prst="rect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案例：AI 驅動的 ETABS 自動建模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應用篇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12 / 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029200" cy="18288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D7D31"/>
                </a:solidFill>
                <a:latin typeface="Microsoft JhengHei"/>
              </a:defRPr>
            </a:pPr>
            <a:r>
              <a:rPr lang="zh-TW" dirty="0">
                <a:solidFill>
                  <a:srgbClr val="ED7D31"/>
                </a:solidFill>
              </a:rPr>
              <a:t>痛點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4846320" cy="9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99"/>
              </a:spcAft>
              <a:defRPr sz="17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一棟 20 層建築 → ETABS 建模需 </a:t>
            </a:r>
            <a:r>
              <a:rPr lang="en-US" altLang="zh-TW" dirty="0">
                <a:solidFill>
                  <a:srgbClr val="444444"/>
                </a:solidFill>
              </a:rPr>
              <a:t>1</a:t>
            </a:r>
            <a:r>
              <a:rPr lang="zh-TW" dirty="0">
                <a:solidFill>
                  <a:srgbClr val="444444"/>
                </a:solidFill>
              </a:rPr>
              <a:t>-</a:t>
            </a:r>
            <a:r>
              <a:rPr lang="en-US" altLang="zh-TW" dirty="0">
                <a:solidFill>
                  <a:srgbClr val="444444"/>
                </a:solidFill>
              </a:rPr>
              <a:t>2</a:t>
            </a:r>
            <a:r>
              <a:rPr lang="zh-TW" dirty="0">
                <a:solidFill>
                  <a:srgbClr val="444444"/>
                </a:solidFill>
              </a:rPr>
              <a:t> 天</a:t>
            </a:r>
          </a:p>
          <a:p>
            <a:pPr algn="l">
              <a:spcAft>
                <a:spcPts val="699"/>
              </a:spcAft>
              <a:defRPr sz="15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讀圖→Grid→斷面→柱梁牆→配筋→載重→檢查，</a:t>
            </a:r>
            <a:endParaRPr lang="en-US" altLang="zh-TW" dirty="0">
              <a:solidFill>
                <a:srgbClr val="555555"/>
              </a:solidFill>
            </a:endParaRPr>
          </a:p>
          <a:p>
            <a:pPr algn="l">
              <a:spcAft>
                <a:spcPts val="699"/>
              </a:spcAft>
              <a:defRPr sz="15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全程</a:t>
            </a:r>
            <a:r>
              <a:rPr lang="zh-TW" altLang="en-US" dirty="0">
                <a:solidFill>
                  <a:srgbClr val="555555"/>
                </a:solidFill>
              </a:rPr>
              <a:t>人工</a:t>
            </a:r>
            <a:r>
              <a:rPr lang="zh-TW" dirty="0">
                <a:solidFill>
                  <a:srgbClr val="555555"/>
                </a:solidFill>
              </a:rPr>
              <a:t>手動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303520" cy="18288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09360" y="155448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rgbClr val="70AD47"/>
                </a:solidFill>
              </a:rPr>
              <a:t>解決方案：套用六層架構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58717"/>
            <a:ext cx="5120640" cy="705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99"/>
              </a:spcAft>
              <a:defRPr sz="17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全程 </a:t>
            </a:r>
            <a:r>
              <a:rPr lang="zh-TW" altLang="en-US" dirty="0">
                <a:solidFill>
                  <a:srgbClr val="444444"/>
                </a:solidFill>
              </a:rPr>
              <a:t>約</a:t>
            </a:r>
            <a:r>
              <a:rPr lang="en-US" altLang="zh-TW" dirty="0">
                <a:solidFill>
                  <a:srgbClr val="444444"/>
                </a:solidFill>
              </a:rPr>
              <a:t>60</a:t>
            </a:r>
            <a:r>
              <a:rPr lang="zh-TW" dirty="0">
                <a:solidFill>
                  <a:srgbClr val="444444"/>
                </a:solidFill>
              </a:rPr>
              <a:t> 分鐘，</a:t>
            </a:r>
            <a:r>
              <a:rPr lang="zh-TW" altLang="en-US" dirty="0">
                <a:solidFill>
                  <a:srgbClr val="444444"/>
                </a:solidFill>
              </a:rPr>
              <a:t>極少人為介入</a:t>
            </a:r>
            <a:endParaRPr lang="en-US" altLang="zh-TW" dirty="0">
              <a:solidFill>
                <a:srgbClr val="444444"/>
              </a:solidFill>
            </a:endParaRPr>
          </a:p>
          <a:p>
            <a:pPr algn="l">
              <a:spcAft>
                <a:spcPts val="699"/>
              </a:spcAft>
              <a:defRPr sz="17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AI 讀圖理解 + 確定性程式碼建模 + 自動驗證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3474720" cy="22860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420624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4472C4"/>
                </a:solidFill>
                <a:latin typeface="Microsoft JhengHei"/>
              </a:defRPr>
            </a:pPr>
            <a:r>
              <a:rPr lang="zh-TW" dirty="0">
                <a:solidFill>
                  <a:srgbClr val="4472C4"/>
                </a:solidFill>
              </a:rPr>
              <a:t>AI 讀圖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7548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判讀結構圖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329833"/>
            <a:ext cx="32918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C000"/>
                </a:solidFill>
                <a:latin typeface="Microsoft JhengHei"/>
              </a:defRPr>
            </a:pPr>
            <a:r>
              <a:rPr lang="en-US" altLang="zh-TW" dirty="0">
                <a:solidFill>
                  <a:srgbClr val="FFC000"/>
                </a:solidFill>
              </a:rPr>
              <a:t>15</a:t>
            </a:r>
            <a:r>
              <a:rPr lang="zh-TW" dirty="0">
                <a:solidFill>
                  <a:srgbClr val="FFC000"/>
                </a:solidFill>
              </a:rPr>
              <a:t>~</a:t>
            </a:r>
            <a:r>
              <a:rPr lang="en-US" altLang="zh-TW" dirty="0">
                <a:solidFill>
                  <a:srgbClr val="FFC000"/>
                </a:solidFill>
              </a:rPr>
              <a:t>20</a:t>
            </a:r>
            <a:r>
              <a:rPr lang="zh-TW" dirty="0">
                <a:solidFill>
                  <a:srgbClr val="FFC000"/>
                </a:solidFill>
              </a:rPr>
              <a:t> 分鐘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160520" y="4846320"/>
            <a:ext cx="274320" cy="365760"/>
          </a:xfrm>
          <a:prstGeom prst="rightArrow">
            <a:avLst/>
          </a:prstGeom>
          <a:solidFill>
            <a:srgbClr val="445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572000" y="3840480"/>
            <a:ext cx="3474720" cy="22860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E27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0" y="420624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E27026"/>
                </a:solidFill>
                <a:latin typeface="Microsoft JhengHei"/>
              </a:defRPr>
            </a:pPr>
            <a:r>
              <a:rPr lang="zh-TW" dirty="0">
                <a:solidFill>
                  <a:srgbClr val="E27026"/>
                </a:solidFill>
              </a:rPr>
              <a:t>AI 整合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47548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生成規格書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5303520"/>
            <a:ext cx="32918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C000"/>
                </a:solidFill>
                <a:latin typeface="Microsoft JhengHei"/>
              </a:defRPr>
            </a:pPr>
            <a:r>
              <a:rPr lang="en-US" altLang="zh-TW" dirty="0">
                <a:solidFill>
                  <a:srgbClr val="FFC000"/>
                </a:solidFill>
              </a:rPr>
              <a:t>10</a:t>
            </a:r>
            <a:r>
              <a:rPr lang="zh-TW" dirty="0">
                <a:solidFill>
                  <a:srgbClr val="FFC000"/>
                </a:solidFill>
              </a:rPr>
              <a:t>~</a:t>
            </a:r>
            <a:r>
              <a:rPr lang="en-US" altLang="zh-TW" dirty="0">
                <a:solidFill>
                  <a:srgbClr val="FFC000"/>
                </a:solidFill>
              </a:rPr>
              <a:t>15</a:t>
            </a:r>
            <a:r>
              <a:rPr lang="zh-TW" altLang="en-US" dirty="0">
                <a:solidFill>
                  <a:srgbClr val="FFC000"/>
                </a:solidFill>
              </a:rPr>
              <a:t> </a:t>
            </a:r>
            <a:r>
              <a:rPr lang="zh-TW" dirty="0">
                <a:solidFill>
                  <a:srgbClr val="FFC000"/>
                </a:solidFill>
              </a:rPr>
              <a:t>分鐘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001000" y="4846320"/>
            <a:ext cx="274320" cy="365760"/>
          </a:xfrm>
          <a:prstGeom prst="rightArrow">
            <a:avLst/>
          </a:prstGeom>
          <a:solidFill>
            <a:srgbClr val="445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412480" y="3840480"/>
            <a:ext cx="3474720" cy="22860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98205" y="420624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rgbClr val="70AD47"/>
                </a:solidFill>
              </a:rPr>
              <a:t>程式建模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98205" y="47548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11 步確定性執行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8205" y="5303520"/>
            <a:ext cx="32918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C000"/>
                </a:solidFill>
                <a:latin typeface="Microsoft JhengHei"/>
              </a:defRPr>
            </a:pPr>
            <a:r>
              <a:rPr lang="zh-TW" dirty="0">
                <a:solidFill>
                  <a:srgbClr val="FFC000"/>
                </a:solidFill>
              </a:rPr>
              <a:t>~</a:t>
            </a:r>
            <a:r>
              <a:rPr lang="en-US" altLang="zh-TW" dirty="0">
                <a:solidFill>
                  <a:srgbClr val="FFC000"/>
                </a:solidFill>
              </a:rPr>
              <a:t>30</a:t>
            </a:r>
            <a:r>
              <a:rPr lang="zh-TW" dirty="0">
                <a:solidFill>
                  <a:srgbClr val="FFC000"/>
                </a:solidFill>
              </a:rPr>
              <a:t> 分鐘</a:t>
            </a:r>
          </a:p>
        </p:txBody>
      </p:sp>
    </p:spTree>
    <p:extLst>
      <p:ext uri="{BB962C8B-B14F-4D97-AF65-F5344CB8AC3E}">
        <p14:creationId xmlns:p14="http://schemas.microsoft.com/office/powerpoint/2010/main" val="10365358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3F7FB-0320-0AAB-929F-DE23A0053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1B7D2F0-853C-18AB-E2AA-BA25C227F058}"/>
              </a:ext>
            </a:extLst>
          </p:cNvPr>
          <p:cNvSpPr/>
          <p:nvPr/>
        </p:nvSpPr>
        <p:spPr>
          <a:xfrm>
            <a:off x="548640" y="411480"/>
            <a:ext cx="1097280" cy="54864"/>
          </a:xfrm>
          <a:prstGeom prst="rect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9F5EBB-A118-A5FB-6887-52A08DC1D238}"/>
              </a:ext>
            </a:extLst>
          </p:cNvPr>
          <p:cNvSpPr txBox="1"/>
          <p:nvPr/>
        </p:nvSpPr>
        <p:spPr>
          <a:xfrm>
            <a:off x="548640" y="50292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案例：AI 驅動的 ETABS 自動建模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9C4788-68B9-3E97-8DDB-3386CA82DC0F}"/>
              </a:ext>
            </a:extLst>
          </p:cNvPr>
          <p:cNvSpPr txBox="1"/>
          <p:nvPr/>
        </p:nvSpPr>
        <p:spPr>
          <a:xfrm>
            <a:off x="9601200" y="411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應用篇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E7B4F9-F3C8-42CA-E13F-BC8D5BACBACA}"/>
              </a:ext>
            </a:extLst>
          </p:cNvPr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12 / 16</a:t>
            </a: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C50F261C-9C3E-2CBE-B99C-F02B8D3F24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2500" y="2503351"/>
            <a:ext cx="7586999" cy="3568700"/>
          </a:xfrm>
          <a:prstGeom prst="rect">
            <a:avLst/>
          </a:prstGeom>
        </p:spPr>
      </p:pic>
      <p:sp>
        <p:nvSpPr>
          <p:cNvPr id="30" name="矩形 29">
            <a:extLst>
              <a:ext uri="{FF2B5EF4-FFF2-40B4-BE49-F238E27FC236}">
                <a16:creationId xmlns:a16="http://schemas.microsoft.com/office/drawing/2014/main" id="{E1F60195-6D3F-145E-3EF0-01AA3CBA7153}"/>
              </a:ext>
            </a:extLst>
          </p:cNvPr>
          <p:cNvSpPr/>
          <p:nvPr/>
        </p:nvSpPr>
        <p:spPr>
          <a:xfrm>
            <a:off x="6832600" y="2440867"/>
            <a:ext cx="1625600" cy="51968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" name="Rounded Rectangle 5">
            <a:extLst>
              <a:ext uri="{FF2B5EF4-FFF2-40B4-BE49-F238E27FC236}">
                <a16:creationId xmlns:a16="http://schemas.microsoft.com/office/drawing/2014/main" id="{F32E9B6A-163F-22F7-2EF5-7BFD3956E742}"/>
              </a:ext>
            </a:extLst>
          </p:cNvPr>
          <p:cNvSpPr/>
          <p:nvPr/>
        </p:nvSpPr>
        <p:spPr>
          <a:xfrm>
            <a:off x="3581399" y="1278636"/>
            <a:ext cx="5029200" cy="104394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dirty="0">
                <a:solidFill>
                  <a:schemeClr val="tx1"/>
                </a:solidFill>
              </a:rPr>
              <a:t>設定</a:t>
            </a:r>
            <a:r>
              <a:rPr lang="en-US" altLang="zh-TW" sz="2000" dirty="0">
                <a:solidFill>
                  <a:schemeClr val="tx1"/>
                </a:solidFill>
              </a:rPr>
              <a:t>/</a:t>
            </a:r>
            <a:r>
              <a:rPr lang="zh-TW" altLang="en-US" sz="2000" dirty="0">
                <a:solidFill>
                  <a:schemeClr val="tx1"/>
                </a:solidFill>
              </a:rPr>
              <a:t>快捷鍵，將指令格式化，</a:t>
            </a:r>
            <a:endParaRPr lang="en-US" altLang="zh-TW" sz="2000" dirty="0">
              <a:solidFill>
                <a:schemeClr val="tx1"/>
              </a:solidFill>
            </a:endParaRPr>
          </a:p>
          <a:p>
            <a:pPr algn="ctr"/>
            <a:r>
              <a:rPr lang="zh-TW" altLang="en-US" sz="2000" dirty="0">
                <a:solidFill>
                  <a:schemeClr val="tx1"/>
                </a:solidFill>
              </a:rPr>
              <a:t>讓</a:t>
            </a:r>
            <a:r>
              <a:rPr lang="en-US" altLang="zh-TW" sz="2000" dirty="0">
                <a:solidFill>
                  <a:schemeClr val="tx1"/>
                </a:solidFill>
              </a:rPr>
              <a:t>AI</a:t>
            </a:r>
            <a:r>
              <a:rPr lang="zh-TW" altLang="en-US" sz="2000" dirty="0">
                <a:solidFill>
                  <a:schemeClr val="tx1"/>
                </a:solidFill>
              </a:rPr>
              <a:t>快速進入工作框架</a:t>
            </a:r>
            <a:endParaRPr sz="2000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03F6831-4DAF-8D6B-C60D-ABFD56228278}"/>
              </a:ext>
            </a:extLst>
          </p:cNvPr>
          <p:cNvSpPr/>
          <p:nvPr/>
        </p:nvSpPr>
        <p:spPr>
          <a:xfrm>
            <a:off x="6571488" y="3693595"/>
            <a:ext cx="426720" cy="355092"/>
          </a:xfrm>
          <a:prstGeom prst="rect">
            <a:avLst/>
          </a:prstGeom>
          <a:pattFill prst="ltUpDiag">
            <a:fgClr>
              <a:schemeClr val="accent1"/>
            </a:fgClr>
            <a:bgClr>
              <a:schemeClr val="bg1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A2A8DED-F386-79EF-D169-0F29FD949D5D}"/>
              </a:ext>
            </a:extLst>
          </p:cNvPr>
          <p:cNvSpPr/>
          <p:nvPr/>
        </p:nvSpPr>
        <p:spPr>
          <a:xfrm>
            <a:off x="3154679" y="2523163"/>
            <a:ext cx="426720" cy="355092"/>
          </a:xfrm>
          <a:prstGeom prst="rect">
            <a:avLst/>
          </a:prstGeom>
          <a:pattFill prst="ltUpDiag">
            <a:fgClr>
              <a:schemeClr val="accent1"/>
            </a:fgClr>
            <a:bgClr>
              <a:schemeClr val="bg1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91742C8-CB31-9018-7A58-2DF701A1A362}"/>
              </a:ext>
            </a:extLst>
          </p:cNvPr>
          <p:cNvSpPr/>
          <p:nvPr/>
        </p:nvSpPr>
        <p:spPr>
          <a:xfrm>
            <a:off x="3658107" y="4201087"/>
            <a:ext cx="426720" cy="355092"/>
          </a:xfrm>
          <a:prstGeom prst="rect">
            <a:avLst/>
          </a:prstGeom>
          <a:pattFill prst="ltUpDiag">
            <a:fgClr>
              <a:schemeClr val="accent1"/>
            </a:fgClr>
            <a:bgClr>
              <a:schemeClr val="bg1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92532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67A98-0B69-34C8-B624-0470259AD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D8DEBE8-10B0-A43A-C55F-1C20447D22FD}"/>
              </a:ext>
            </a:extLst>
          </p:cNvPr>
          <p:cNvSpPr/>
          <p:nvPr/>
        </p:nvSpPr>
        <p:spPr>
          <a:xfrm>
            <a:off x="548640" y="411480"/>
            <a:ext cx="1097280" cy="54864"/>
          </a:xfrm>
          <a:prstGeom prst="rect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AB0756-9E12-7CAC-609E-C84CCE2F4E45}"/>
              </a:ext>
            </a:extLst>
          </p:cNvPr>
          <p:cNvSpPr txBox="1"/>
          <p:nvPr/>
        </p:nvSpPr>
        <p:spPr>
          <a:xfrm>
            <a:off x="548640" y="50292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案例：AI 驅動的 ETABS 自動建模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B9F6CF-77CE-5E39-DCC7-7615F331926A}"/>
              </a:ext>
            </a:extLst>
          </p:cNvPr>
          <p:cNvSpPr txBox="1"/>
          <p:nvPr/>
        </p:nvSpPr>
        <p:spPr>
          <a:xfrm>
            <a:off x="9601200" y="411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應用篇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0B7CCA-AEBC-52A5-AE6C-98FB30B25CF6}"/>
              </a:ext>
            </a:extLst>
          </p:cNvPr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12 / 16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812FB9A1-6C4C-BC5A-452A-C83610C200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3300" y="2609520"/>
            <a:ext cx="4241800" cy="4157040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D6D87C0E-277C-4640-3DF0-37AFC4A5FA9D}"/>
              </a:ext>
            </a:extLst>
          </p:cNvPr>
          <p:cNvSpPr/>
          <p:nvPr/>
        </p:nvSpPr>
        <p:spPr>
          <a:xfrm>
            <a:off x="838200" y="3886200"/>
            <a:ext cx="3898900" cy="27051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Rounded Rectangle 5">
            <a:extLst>
              <a:ext uri="{FF2B5EF4-FFF2-40B4-BE49-F238E27FC236}">
                <a16:creationId xmlns:a16="http://schemas.microsoft.com/office/drawing/2014/main" id="{84516336-5EA0-7AD1-F284-CB8B238947BD}"/>
              </a:ext>
            </a:extLst>
          </p:cNvPr>
          <p:cNvSpPr/>
          <p:nvPr/>
        </p:nvSpPr>
        <p:spPr>
          <a:xfrm>
            <a:off x="548640" y="1431334"/>
            <a:ext cx="5029200" cy="104394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dirty="0">
                <a:solidFill>
                  <a:schemeClr val="tx1"/>
                </a:solidFill>
              </a:rPr>
              <a:t>從快捷指令呼叫</a:t>
            </a:r>
            <a:r>
              <a:rPr lang="en-US" altLang="zh-TW" sz="2000" dirty="0">
                <a:solidFill>
                  <a:schemeClr val="tx1"/>
                </a:solidFill>
              </a:rPr>
              <a:t>agents</a:t>
            </a:r>
          </a:p>
          <a:p>
            <a:pPr algn="ctr"/>
            <a:r>
              <a:rPr lang="zh-TW" altLang="en-US" sz="2000" dirty="0">
                <a:solidFill>
                  <a:schemeClr val="tx1"/>
                </a:solidFill>
              </a:rPr>
              <a:t>啟動</a:t>
            </a:r>
            <a:r>
              <a:rPr lang="en-US" altLang="zh-TW" sz="2000" dirty="0">
                <a:solidFill>
                  <a:schemeClr val="tx1"/>
                </a:solidFill>
              </a:rPr>
              <a:t>agent team</a:t>
            </a: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80DE8040-C8A6-8D24-01FE-9D67EDDB28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7743" y="3454970"/>
            <a:ext cx="4696057" cy="1325500"/>
          </a:xfrm>
          <a:prstGeom prst="rect">
            <a:avLst/>
          </a:prstGeom>
        </p:spPr>
      </p:pic>
      <p:sp>
        <p:nvSpPr>
          <p:cNvPr id="12" name="Right Arrow 15">
            <a:extLst>
              <a:ext uri="{FF2B5EF4-FFF2-40B4-BE49-F238E27FC236}">
                <a16:creationId xmlns:a16="http://schemas.microsoft.com/office/drawing/2014/main" id="{D843F109-EB30-F7BC-2104-9346B379A4F5}"/>
              </a:ext>
            </a:extLst>
          </p:cNvPr>
          <p:cNvSpPr/>
          <p:nvPr/>
        </p:nvSpPr>
        <p:spPr>
          <a:xfrm>
            <a:off x="5814261" y="4117720"/>
            <a:ext cx="274320" cy="365760"/>
          </a:xfrm>
          <a:prstGeom prst="rightArrow">
            <a:avLst/>
          </a:prstGeom>
          <a:solidFill>
            <a:srgbClr val="445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5">
            <a:extLst>
              <a:ext uri="{FF2B5EF4-FFF2-40B4-BE49-F238E27FC236}">
                <a16:creationId xmlns:a16="http://schemas.microsoft.com/office/drawing/2014/main" id="{0C27ABC9-B37E-FE4A-D165-03042095354D}"/>
              </a:ext>
            </a:extLst>
          </p:cNvPr>
          <p:cNvSpPr/>
          <p:nvPr/>
        </p:nvSpPr>
        <p:spPr>
          <a:xfrm>
            <a:off x="6491171" y="1431334"/>
            <a:ext cx="5029200" cy="104394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dirty="0">
                <a:solidFill>
                  <a:schemeClr val="tx1"/>
                </a:solidFill>
              </a:rPr>
              <a:t>可以監督各</a:t>
            </a:r>
            <a:r>
              <a:rPr lang="en-US" altLang="zh-TW" sz="2000" dirty="0">
                <a:solidFill>
                  <a:schemeClr val="tx1"/>
                </a:solidFill>
              </a:rPr>
              <a:t>agent</a:t>
            </a:r>
            <a:r>
              <a:rPr lang="zh-TW" altLang="en-US" sz="2000" dirty="0">
                <a:solidFill>
                  <a:schemeClr val="tx1"/>
                </a:solidFill>
              </a:rPr>
              <a:t>工作執行階段</a:t>
            </a:r>
            <a:r>
              <a:rPr lang="en-US" altLang="zh-TW" sz="2000" dirty="0">
                <a:solidFill>
                  <a:schemeClr val="tx1"/>
                </a:solidFill>
              </a:rPr>
              <a:t>/</a:t>
            </a:r>
            <a:r>
              <a:rPr lang="zh-TW" altLang="en-US" sz="2000" dirty="0">
                <a:solidFill>
                  <a:schemeClr val="tx1"/>
                </a:solidFill>
              </a:rPr>
              <a:t>狀況</a:t>
            </a:r>
            <a:endParaRPr lang="en-US" altLang="zh-TW" sz="2000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1047149-C557-3BC1-FA03-310243DB23E8}"/>
              </a:ext>
            </a:extLst>
          </p:cNvPr>
          <p:cNvSpPr/>
          <p:nvPr/>
        </p:nvSpPr>
        <p:spPr>
          <a:xfrm>
            <a:off x="4737100" y="3575237"/>
            <a:ext cx="287528" cy="176717"/>
          </a:xfrm>
          <a:prstGeom prst="rect">
            <a:avLst/>
          </a:prstGeom>
          <a:pattFill prst="ltUpDiag">
            <a:fgClr>
              <a:schemeClr val="accent1"/>
            </a:fgClr>
            <a:bgClr>
              <a:schemeClr val="bg1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086380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05BF8-EC98-904A-FA8F-43F911FCC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0855EF4-3A5D-2B0C-247D-E29670D8BD41}"/>
              </a:ext>
            </a:extLst>
          </p:cNvPr>
          <p:cNvSpPr/>
          <p:nvPr/>
        </p:nvSpPr>
        <p:spPr>
          <a:xfrm>
            <a:off x="548640" y="411480"/>
            <a:ext cx="1097280" cy="54864"/>
          </a:xfrm>
          <a:prstGeom prst="rect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069BC6-A154-0C2E-4D44-7E16D8FE20C1}"/>
              </a:ext>
            </a:extLst>
          </p:cNvPr>
          <p:cNvSpPr txBox="1"/>
          <p:nvPr/>
        </p:nvSpPr>
        <p:spPr>
          <a:xfrm>
            <a:off x="548640" y="50292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案例：AI 驅動的 ETABS 自動建模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9DF1C0-1C54-A36E-3DF1-DD450150ECD9}"/>
              </a:ext>
            </a:extLst>
          </p:cNvPr>
          <p:cNvSpPr txBox="1"/>
          <p:nvPr/>
        </p:nvSpPr>
        <p:spPr>
          <a:xfrm>
            <a:off x="9601200" y="411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應用篇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3E9C57-D40D-5BB8-1F48-D8F603E9AA76}"/>
              </a:ext>
            </a:extLst>
          </p:cNvPr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12 / 16</a:t>
            </a:r>
          </a:p>
        </p:txBody>
      </p:sp>
      <p:sp>
        <p:nvSpPr>
          <p:cNvPr id="8" name="Rounded Rectangle 5">
            <a:extLst>
              <a:ext uri="{FF2B5EF4-FFF2-40B4-BE49-F238E27FC236}">
                <a16:creationId xmlns:a16="http://schemas.microsoft.com/office/drawing/2014/main" id="{16156378-7560-AC32-FD75-0B7E54208468}"/>
              </a:ext>
            </a:extLst>
          </p:cNvPr>
          <p:cNvSpPr/>
          <p:nvPr/>
        </p:nvSpPr>
        <p:spPr>
          <a:xfrm>
            <a:off x="3581400" y="1234440"/>
            <a:ext cx="5029200" cy="89916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dirty="0">
                <a:solidFill>
                  <a:schemeClr val="tx1"/>
                </a:solidFill>
              </a:rPr>
              <a:t>簡單案例成果</a:t>
            </a:r>
            <a:r>
              <a:rPr lang="en-US" altLang="zh-TW" sz="2000" dirty="0">
                <a:solidFill>
                  <a:schemeClr val="tx1"/>
                </a:solidFill>
              </a:rPr>
              <a:t>(</a:t>
            </a:r>
            <a:r>
              <a:rPr lang="zh-TW" altLang="en-US" sz="2000" dirty="0">
                <a:solidFill>
                  <a:schemeClr val="tx1"/>
                </a:solidFill>
              </a:rPr>
              <a:t>大梁</a:t>
            </a:r>
            <a:r>
              <a:rPr lang="en-US" altLang="zh-TW" sz="2000" dirty="0">
                <a:solidFill>
                  <a:schemeClr val="tx1"/>
                </a:solidFill>
              </a:rPr>
              <a:t>/</a:t>
            </a:r>
            <a:r>
              <a:rPr lang="zh-TW" altLang="en-US" sz="2000" dirty="0">
                <a:solidFill>
                  <a:schemeClr val="tx1"/>
                </a:solidFill>
              </a:rPr>
              <a:t>柱</a:t>
            </a:r>
            <a:r>
              <a:rPr lang="en-US" altLang="zh-TW" sz="2000" dirty="0">
                <a:solidFill>
                  <a:schemeClr val="tx1"/>
                </a:solidFill>
              </a:rPr>
              <a:t>/</a:t>
            </a:r>
            <a:r>
              <a:rPr lang="zh-TW" altLang="en-US" sz="2000" dirty="0">
                <a:solidFill>
                  <a:schemeClr val="tx1"/>
                </a:solidFill>
              </a:rPr>
              <a:t>牆</a:t>
            </a:r>
            <a:r>
              <a:rPr lang="en-US" altLang="zh-TW" sz="2000" dirty="0">
                <a:solidFill>
                  <a:schemeClr val="tx1"/>
                </a:solidFill>
              </a:rPr>
              <a:t>)</a:t>
            </a: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6E5F6237-F366-11C6-E56A-4EF224EC28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4258" y="2191417"/>
            <a:ext cx="5750201" cy="3960000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76202EFC-AC9B-419E-4EFF-8B6D9B53CC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2273589"/>
            <a:ext cx="4122911" cy="39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03899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11480"/>
            <a:ext cx="1097280" cy="54864"/>
          </a:xfrm>
          <a:prstGeom prst="rect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2E"/>
                </a:solidFill>
                <a:latin typeface="Microsoft JhengHei"/>
              </a:defRPr>
            </a:pPr>
            <a:r>
              <a:rPr lang="zh-TW" dirty="0">
                <a:solidFill>
                  <a:srgbClr val="1A1A2E"/>
                </a:solidFill>
              </a:rPr>
              <a:t>數字會說話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應用篇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8300" y="6419215"/>
            <a:ext cx="13716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14 / 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6100" y="1270000"/>
            <a:ext cx="11099800" cy="558800"/>
          </a:xfrm>
          <a:prstGeom prst="roundRect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73100" y="1320800"/>
            <a:ext cx="254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項目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0100" y="1320800"/>
            <a:ext cx="3683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🔴 傳統方式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50100" y="1320800"/>
            <a:ext cx="4749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🟢 AI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6100" y="1828800"/>
            <a:ext cx="11099800" cy="6350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3100" y="1930400"/>
            <a:ext cx="2540000" cy="43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2E"/>
                </a:solidFill>
                <a:latin typeface="Microsoft JhengHei"/>
              </a:defRPr>
            </a:pPr>
            <a:r>
              <a:rPr lang="zh-TW" dirty="0">
                <a:solidFill>
                  <a:srgbClr val="1A1A2E"/>
                </a:solidFill>
              </a:rPr>
              <a:t>建模時間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0100" y="1930400"/>
            <a:ext cx="3683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D7D31"/>
                </a:solidFill>
                <a:latin typeface="Microsoft JhengHei"/>
              </a:defRPr>
            </a:pPr>
            <a:r>
              <a:rPr lang="en-US" altLang="zh-TW" dirty="0">
                <a:solidFill>
                  <a:srgbClr val="ED7D31"/>
                </a:solidFill>
              </a:rPr>
              <a:t>1</a:t>
            </a:r>
            <a:r>
              <a:rPr lang="zh-TW" dirty="0">
                <a:solidFill>
                  <a:srgbClr val="ED7D31"/>
                </a:solidFill>
              </a:rPr>
              <a:t>–</a:t>
            </a:r>
            <a:r>
              <a:rPr lang="en-US" altLang="zh-TW" dirty="0">
                <a:solidFill>
                  <a:srgbClr val="ED7D31"/>
                </a:solidFill>
              </a:rPr>
              <a:t>2</a:t>
            </a:r>
            <a:r>
              <a:rPr lang="zh-TW" dirty="0">
                <a:solidFill>
                  <a:srgbClr val="ED7D31"/>
                </a:solidFill>
              </a:rPr>
              <a:t> 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50100" y="1930400"/>
            <a:ext cx="4749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70AD47"/>
                </a:solidFill>
                <a:latin typeface="Microsoft JhengHei"/>
              </a:defRPr>
            </a:pPr>
            <a:r>
              <a:rPr lang="en-US" altLang="zh-TW" dirty="0">
                <a:solidFill>
                  <a:srgbClr val="70AD47"/>
                </a:solidFill>
              </a:rPr>
              <a:t>60</a:t>
            </a:r>
            <a:r>
              <a:rPr lang="zh-TW" dirty="0">
                <a:solidFill>
                  <a:srgbClr val="70AD47"/>
                </a:solidFill>
              </a:rPr>
              <a:t>分鐘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6100" y="2463800"/>
            <a:ext cx="11099800" cy="635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3100" y="2565400"/>
            <a:ext cx="2540000" cy="43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2E"/>
                </a:solidFill>
                <a:latin typeface="Microsoft JhengHei"/>
              </a:defRPr>
            </a:pPr>
            <a:r>
              <a:rPr lang="zh-TW" dirty="0">
                <a:solidFill>
                  <a:srgbClr val="1A1A2E"/>
                </a:solidFill>
              </a:rPr>
              <a:t>人工介入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0100" y="2565400"/>
            <a:ext cx="3683000" cy="43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D7D31"/>
                </a:solidFill>
                <a:latin typeface="Microsoft JhengHei"/>
              </a:defRPr>
            </a:pPr>
            <a:r>
              <a:rPr lang="zh-TW" dirty="0">
                <a:solidFill>
                  <a:srgbClr val="ED7D31"/>
                </a:solidFill>
              </a:rPr>
              <a:t>全程手動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0100" y="2565400"/>
            <a:ext cx="4749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rgbClr val="70AD47"/>
                </a:solidFill>
              </a:rPr>
              <a:t>僅</a:t>
            </a:r>
            <a:r>
              <a:rPr lang="zh-TW" altLang="en-US" dirty="0">
                <a:solidFill>
                  <a:srgbClr val="70AD47"/>
                </a:solidFill>
              </a:rPr>
              <a:t>參數</a:t>
            </a:r>
            <a:r>
              <a:rPr lang="zh-TW" dirty="0">
                <a:solidFill>
                  <a:srgbClr val="70AD47"/>
                </a:solidFill>
              </a:rPr>
              <a:t>確認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6100" y="3098800"/>
            <a:ext cx="11099800" cy="6350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3100" y="3200400"/>
            <a:ext cx="2540000" cy="43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2E"/>
                </a:solidFill>
                <a:latin typeface="Microsoft JhengHei"/>
              </a:defRPr>
            </a:pPr>
            <a:r>
              <a:rPr lang="zh-TW" dirty="0">
                <a:solidFill>
                  <a:srgbClr val="1A1A2E"/>
                </a:solidFill>
              </a:rPr>
              <a:t>參數錯誤率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40100" y="3200400"/>
            <a:ext cx="3683000" cy="43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D7D31"/>
                </a:solidFill>
                <a:latin typeface="Microsoft JhengHei"/>
              </a:defRPr>
            </a:pPr>
            <a:r>
              <a:rPr lang="zh-TW" dirty="0">
                <a:solidFill>
                  <a:srgbClr val="ED7D31"/>
                </a:solidFill>
              </a:rPr>
              <a:t>偶發（難全檢）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50100" y="3200400"/>
            <a:ext cx="4749800" cy="43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70AD47"/>
                </a:solidFill>
                <a:latin typeface="Microsoft JhengHei"/>
              </a:defRPr>
            </a:pPr>
            <a:r>
              <a:rPr lang="zh-TW" sz="1600" b="1" dirty="0">
                <a:solidFill>
                  <a:srgbClr val="70AD47"/>
                </a:solidFill>
                <a:latin typeface="Microsoft JhengHei"/>
              </a:rPr>
              <a:t>0（規則寫在程式碼裡）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6100" y="3733800"/>
            <a:ext cx="11099800" cy="635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3100" y="3835400"/>
            <a:ext cx="2540000" cy="43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2E"/>
                </a:solidFill>
                <a:latin typeface="Microsoft JhengHei"/>
              </a:defRPr>
            </a:pPr>
            <a:r>
              <a:rPr lang="zh-TW" dirty="0">
                <a:solidFill>
                  <a:srgbClr val="1A1A2E"/>
                </a:solidFill>
              </a:rPr>
              <a:t>可重現性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40100" y="3835400"/>
            <a:ext cx="3683000" cy="43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D7D31"/>
                </a:solidFill>
                <a:latin typeface="Microsoft JhengHei"/>
              </a:defRPr>
            </a:pPr>
            <a:r>
              <a:rPr lang="zh-TW" dirty="0">
                <a:solidFill>
                  <a:srgbClr val="ED7D31"/>
                </a:solidFill>
              </a:rPr>
              <a:t>低（因人而異）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0100" y="3835400"/>
            <a:ext cx="4749800" cy="43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70AD47"/>
                </a:solidFill>
                <a:latin typeface="Microsoft JhengHei"/>
              </a:defRPr>
            </a:pPr>
            <a:r>
              <a:rPr lang="zh-TW" sz="1600" b="1" dirty="0">
                <a:solidFill>
                  <a:srgbClr val="70AD47"/>
                </a:solidFill>
                <a:latin typeface="Microsoft JhengHei"/>
              </a:rPr>
              <a:t>100%（同規格＝同結果）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6100" y="4368800"/>
            <a:ext cx="11099800" cy="6350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73100" y="4470400"/>
            <a:ext cx="2540000" cy="43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2E"/>
                </a:solidFill>
                <a:latin typeface="Microsoft JhengHei"/>
              </a:defRPr>
            </a:pPr>
            <a:r>
              <a:rPr lang="zh-TW" dirty="0">
                <a:solidFill>
                  <a:srgbClr val="1A1A2E"/>
                </a:solidFill>
              </a:rPr>
              <a:t>品質驗證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40100" y="4470400"/>
            <a:ext cx="3683000" cy="43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D7D31"/>
                </a:solidFill>
                <a:latin typeface="Microsoft JhengHei"/>
              </a:defRPr>
            </a:pPr>
            <a:r>
              <a:rPr lang="zh-TW" dirty="0">
                <a:solidFill>
                  <a:srgbClr val="ED7D31"/>
                </a:solidFill>
              </a:rPr>
              <a:t>人工目視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50100" y="4470400"/>
            <a:ext cx="4749800" cy="43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rgbClr val="70AD47"/>
                </a:solidFill>
              </a:rPr>
              <a:t>自動化測試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59100" y="5252105"/>
            <a:ext cx="4445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C000"/>
                </a:solidFill>
                <a:latin typeface="Microsoft JhengHei"/>
              </a:defRPr>
            </a:pPr>
            <a:r>
              <a:rPr lang="zh-TW" dirty="0">
                <a:solidFill>
                  <a:srgbClr val="FFC000"/>
                </a:solidFill>
              </a:rPr>
              <a:t>省 100+ 天/年 工程師工時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59500" y="5232400"/>
            <a:ext cx="5486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rgbClr val="70AD47"/>
                </a:solidFill>
              </a:rPr>
              <a:t>又快又準，每次一致</a:t>
            </a:r>
          </a:p>
        </p:txBody>
      </p:sp>
    </p:spTree>
    <p:extLst>
      <p:ext uri="{BB962C8B-B14F-4D97-AF65-F5344CB8AC3E}">
        <p14:creationId xmlns:p14="http://schemas.microsoft.com/office/powerpoint/2010/main" val="31126215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11480"/>
            <a:ext cx="1097280" cy="54864"/>
          </a:xfrm>
          <a:prstGeom prst="rect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44444"/>
                </a:solidFill>
                <a:latin typeface="Microsoft JhengHei"/>
              </a:defRPr>
            </a:pPr>
            <a:r>
              <a:rPr lang="zh-TW" dirty="0">
                <a:solidFill>
                  <a:srgbClr val="444444"/>
                </a:solidFill>
              </a:rPr>
              <a:t>不只是結構建模 — 架構可移植到任何場景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應用篇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44546A"/>
                </a:solidFill>
                <a:latin typeface="Microsoft JhengHei"/>
              </a:defRPr>
            </a:pPr>
            <a:r>
              <a:rPr lang="zh-TW" dirty="0">
                <a:solidFill>
                  <a:srgbClr val="44546A"/>
                </a:solidFill>
              </a:rPr>
              <a:t>15 / 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87267"/>
            <a:ext cx="10698480" cy="109728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278707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C000"/>
                </a:solidFill>
                <a:latin typeface="Microsoft JhengHei"/>
              </a:defRPr>
            </a:pPr>
            <a:r>
              <a:rPr lang="zh-TW" dirty="0">
                <a:solidFill>
                  <a:srgbClr val="FFC000"/>
                </a:solidFill>
              </a:rPr>
              <a:t>六層架構的核心邏輯：AI 理解 + 確定性執行 + 自動驗證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5907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只要符合這個模式的工作流，都能套用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58867"/>
            <a:ext cx="2697480" cy="32004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650307"/>
            <a:ext cx="2606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472C4"/>
                </a:solidFill>
                <a:latin typeface="Microsoft JhengHei"/>
              </a:defRPr>
            </a:pPr>
            <a:r>
              <a:rPr lang="zh-TW" dirty="0">
                <a:solidFill>
                  <a:srgbClr val="4472C4"/>
                </a:solidFill>
              </a:rPr>
              <a:t>🏗️  結構建模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3198947"/>
            <a:ext cx="1965960" cy="27432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381827"/>
            <a:ext cx="2423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1400" b="1">
                <a:solidFill>
                  <a:srgbClr val="4472C4"/>
                </a:solidFill>
                <a:latin typeface="Microsoft JhengHei"/>
              </a:defRPr>
            </a:pPr>
            <a:r>
              <a:rPr lang="zh-TW" dirty="0">
                <a:solidFill>
                  <a:srgbClr val="4472C4"/>
                </a:solidFill>
              </a:rPr>
              <a:t>AI 理解</a:t>
            </a:r>
          </a:p>
          <a:p>
            <a:pPr algn="l">
              <a:spcAft>
                <a:spcPts val="660"/>
              </a:spcAft>
              <a:defRPr sz="13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AI 讀懂結構圖</a:t>
            </a:r>
          </a:p>
          <a:p>
            <a:pPr algn="l">
              <a:spcAft>
                <a:spcPts val="660"/>
              </a:spcAft>
              <a:defRPr sz="600" b="0">
                <a:solidFill>
                  <a:srgbClr val="444444"/>
                </a:solidFill>
                <a:latin typeface="Microsoft JhengHei"/>
              </a:defRPr>
            </a:pPr>
            <a:endParaRPr/>
          </a:p>
          <a:p>
            <a:pPr algn="l">
              <a:spcAft>
                <a:spcPts val="660"/>
              </a:spcAft>
              <a:defRPr sz="1400" b="1">
                <a:solidFill>
                  <a:srgbClr val="4472C4"/>
                </a:solidFill>
                <a:latin typeface="Microsoft JhengHei"/>
              </a:defRPr>
            </a:pPr>
            <a:r>
              <a:rPr lang="zh-TW" dirty="0">
                <a:solidFill>
                  <a:srgbClr val="4472C4"/>
                </a:solidFill>
              </a:rPr>
              <a:t>確定性執行</a:t>
            </a:r>
          </a:p>
          <a:p>
            <a:pPr algn="l">
              <a:spcAft>
                <a:spcPts val="660"/>
              </a:spcAft>
              <a:defRPr sz="13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自動建 ETABS 模型</a:t>
            </a:r>
          </a:p>
          <a:p>
            <a:pPr algn="l">
              <a:spcAft>
                <a:spcPts val="660"/>
              </a:spcAft>
              <a:defRPr sz="600" b="0">
                <a:solidFill>
                  <a:srgbClr val="444444"/>
                </a:solidFill>
                <a:latin typeface="Microsoft JhengHei"/>
              </a:defRPr>
            </a:pPr>
            <a:endParaRPr/>
          </a:p>
          <a:p>
            <a:pPr algn="l">
              <a:spcAft>
                <a:spcPts val="660"/>
              </a:spcAft>
              <a:defRPr sz="1400" b="1">
                <a:solidFill>
                  <a:srgbClr val="4472C4"/>
                </a:solidFill>
                <a:latin typeface="Microsoft JhengHei"/>
              </a:defRPr>
            </a:pPr>
            <a:r>
              <a:rPr lang="zh-TW" dirty="0">
                <a:solidFill>
                  <a:srgbClr val="4472C4"/>
                </a:solidFill>
              </a:rPr>
              <a:t>自動驗證</a:t>
            </a:r>
          </a:p>
          <a:p>
            <a:pPr algn="l">
              <a:spcAft>
                <a:spcPts val="660"/>
              </a:spcAft>
              <a:defRPr sz="13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參數/構件品質檢查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2558867"/>
            <a:ext cx="2697480" cy="32004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E27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720" y="2650307"/>
            <a:ext cx="2606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27026"/>
                </a:solidFill>
                <a:latin typeface="Microsoft JhengHei"/>
              </a:defRPr>
            </a:pPr>
            <a:r>
              <a:rPr lang="zh-TW" dirty="0">
                <a:solidFill>
                  <a:srgbClr val="E27026"/>
                </a:solidFill>
              </a:rPr>
              <a:t>📄  報告生成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94760" y="3198947"/>
            <a:ext cx="1965960" cy="27432"/>
          </a:xfrm>
          <a:prstGeom prst="rect">
            <a:avLst/>
          </a:prstGeom>
          <a:solidFill>
            <a:srgbClr val="E27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66160" y="3381827"/>
            <a:ext cx="2423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1400" b="1">
                <a:solidFill>
                  <a:srgbClr val="E27026"/>
                </a:solidFill>
                <a:latin typeface="Microsoft JhengHei"/>
              </a:defRPr>
            </a:pPr>
            <a:r>
              <a:rPr lang="zh-TW" dirty="0">
                <a:solidFill>
                  <a:srgbClr val="E27026"/>
                </a:solidFill>
              </a:rPr>
              <a:t>AI 理解</a:t>
            </a:r>
          </a:p>
          <a:p>
            <a:pPr algn="l">
              <a:spcAft>
                <a:spcPts val="660"/>
              </a:spcAft>
              <a:defRPr sz="13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AI 讀懂分析結果</a:t>
            </a:r>
          </a:p>
          <a:p>
            <a:pPr algn="l">
              <a:spcAft>
                <a:spcPts val="660"/>
              </a:spcAft>
              <a:defRPr sz="600" b="0">
                <a:solidFill>
                  <a:srgbClr val="444444"/>
                </a:solidFill>
                <a:latin typeface="Microsoft JhengHei"/>
              </a:defRPr>
            </a:pPr>
            <a:endParaRPr/>
          </a:p>
          <a:p>
            <a:pPr algn="l">
              <a:spcAft>
                <a:spcPts val="660"/>
              </a:spcAft>
              <a:defRPr sz="1400" b="1">
                <a:solidFill>
                  <a:srgbClr val="E27026"/>
                </a:solidFill>
                <a:latin typeface="Microsoft JhengHei"/>
              </a:defRPr>
            </a:pPr>
            <a:r>
              <a:rPr lang="zh-TW" dirty="0">
                <a:solidFill>
                  <a:srgbClr val="E27026"/>
                </a:solidFill>
              </a:rPr>
              <a:t>確定性執行</a:t>
            </a:r>
          </a:p>
          <a:p>
            <a:pPr algn="l">
              <a:spcAft>
                <a:spcPts val="660"/>
              </a:spcAft>
              <a:defRPr sz="13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自動排版出報告</a:t>
            </a:r>
          </a:p>
          <a:p>
            <a:pPr algn="l">
              <a:spcAft>
                <a:spcPts val="660"/>
              </a:spcAft>
              <a:defRPr sz="600" b="0">
                <a:solidFill>
                  <a:srgbClr val="444444"/>
                </a:solidFill>
                <a:latin typeface="Microsoft JhengHei"/>
              </a:defRPr>
            </a:pPr>
            <a:endParaRPr/>
          </a:p>
          <a:p>
            <a:pPr algn="l">
              <a:spcAft>
                <a:spcPts val="660"/>
              </a:spcAft>
              <a:defRPr sz="1400" b="1">
                <a:solidFill>
                  <a:srgbClr val="E27026"/>
                </a:solidFill>
                <a:latin typeface="Microsoft JhengHei"/>
              </a:defRPr>
            </a:pPr>
            <a:r>
              <a:rPr lang="zh-TW" dirty="0">
                <a:solidFill>
                  <a:srgbClr val="E27026"/>
                </a:solidFill>
              </a:rPr>
              <a:t>自動驗證</a:t>
            </a:r>
          </a:p>
          <a:p>
            <a:pPr algn="l">
              <a:spcAft>
                <a:spcPts val="660"/>
              </a:spcAft>
              <a:defRPr sz="13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格式/內容完整性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59" y="2558867"/>
            <a:ext cx="2697480" cy="32004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55079" y="2650307"/>
            <a:ext cx="2606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rgbClr val="70AD47"/>
                </a:solidFill>
              </a:rPr>
              <a:t>📐  圖紙審查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0" y="3198947"/>
            <a:ext cx="1965960" cy="27432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46520" y="3381827"/>
            <a:ext cx="2423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1400" b="1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rgbClr val="70AD47"/>
                </a:solidFill>
              </a:rPr>
              <a:t>AI 理解</a:t>
            </a:r>
          </a:p>
          <a:p>
            <a:pPr algn="l">
              <a:spcAft>
                <a:spcPts val="660"/>
              </a:spcAft>
              <a:defRPr sz="13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AI 讀懂圖紙</a:t>
            </a:r>
          </a:p>
          <a:p>
            <a:pPr algn="l">
              <a:spcAft>
                <a:spcPts val="660"/>
              </a:spcAft>
              <a:defRPr sz="600" b="0">
                <a:solidFill>
                  <a:srgbClr val="444444"/>
                </a:solidFill>
                <a:latin typeface="Microsoft JhengHei"/>
              </a:defRPr>
            </a:pPr>
            <a:endParaRPr/>
          </a:p>
          <a:p>
            <a:pPr algn="l">
              <a:spcAft>
                <a:spcPts val="660"/>
              </a:spcAft>
              <a:defRPr sz="1400" b="1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rgbClr val="70AD47"/>
                </a:solidFill>
              </a:rPr>
              <a:t>確定性執行</a:t>
            </a:r>
          </a:p>
          <a:p>
            <a:pPr algn="l">
              <a:spcAft>
                <a:spcPts val="660"/>
              </a:spcAft>
              <a:defRPr sz="13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自動比對規範</a:t>
            </a:r>
          </a:p>
          <a:p>
            <a:pPr algn="l">
              <a:spcAft>
                <a:spcPts val="660"/>
              </a:spcAft>
              <a:defRPr sz="600" b="0">
                <a:solidFill>
                  <a:srgbClr val="444444"/>
                </a:solidFill>
                <a:latin typeface="Microsoft JhengHei"/>
              </a:defRPr>
            </a:pPr>
            <a:endParaRPr/>
          </a:p>
          <a:p>
            <a:pPr algn="l">
              <a:spcAft>
                <a:spcPts val="660"/>
              </a:spcAft>
              <a:defRPr sz="1400" b="1">
                <a:solidFill>
                  <a:srgbClr val="70AD47"/>
                </a:solidFill>
                <a:latin typeface="Microsoft JhengHei"/>
              </a:defRPr>
            </a:pPr>
            <a:r>
              <a:rPr lang="zh-TW" dirty="0">
                <a:solidFill>
                  <a:srgbClr val="70AD47"/>
                </a:solidFill>
              </a:rPr>
              <a:t>自動驗證</a:t>
            </a:r>
          </a:p>
          <a:p>
            <a:pPr algn="l">
              <a:spcAft>
                <a:spcPts val="660"/>
              </a:spcAft>
              <a:defRPr sz="13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違規項目清單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19" y="2558867"/>
            <a:ext cx="2697480" cy="320040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B47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235440" y="2650307"/>
            <a:ext cx="2606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B47EFF"/>
                </a:solidFill>
                <a:latin typeface="Microsoft JhengHei"/>
              </a:defRPr>
            </a:pPr>
            <a:r>
              <a:rPr lang="zh-TW" dirty="0">
                <a:solidFill>
                  <a:srgbClr val="B47EFF"/>
                </a:solidFill>
              </a:rPr>
              <a:t>📊  數據處理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55480" y="3198947"/>
            <a:ext cx="1965960" cy="27432"/>
          </a:xfrm>
          <a:prstGeom prst="rect">
            <a:avLst/>
          </a:prstGeom>
          <a:solidFill>
            <a:srgbClr val="B47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326880" y="3381827"/>
            <a:ext cx="2423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1400" b="1">
                <a:solidFill>
                  <a:srgbClr val="B47EFF"/>
                </a:solidFill>
                <a:latin typeface="Microsoft JhengHei"/>
              </a:defRPr>
            </a:pPr>
            <a:r>
              <a:rPr lang="zh-TW" dirty="0">
                <a:solidFill>
                  <a:srgbClr val="B47EFF"/>
                </a:solidFill>
              </a:rPr>
              <a:t>AI 理解</a:t>
            </a:r>
          </a:p>
          <a:p>
            <a:pPr algn="l">
              <a:spcAft>
                <a:spcPts val="660"/>
              </a:spcAft>
              <a:defRPr sz="13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AI 理解數據意義</a:t>
            </a:r>
          </a:p>
          <a:p>
            <a:pPr algn="l">
              <a:spcAft>
                <a:spcPts val="660"/>
              </a:spcAft>
              <a:defRPr sz="600" b="0">
                <a:solidFill>
                  <a:srgbClr val="444444"/>
                </a:solidFill>
                <a:latin typeface="Microsoft JhengHei"/>
              </a:defRPr>
            </a:pPr>
            <a:endParaRPr/>
          </a:p>
          <a:p>
            <a:pPr algn="l">
              <a:spcAft>
                <a:spcPts val="660"/>
              </a:spcAft>
              <a:defRPr sz="1400" b="1">
                <a:solidFill>
                  <a:srgbClr val="B47EFF"/>
                </a:solidFill>
                <a:latin typeface="Microsoft JhengHei"/>
              </a:defRPr>
            </a:pPr>
            <a:r>
              <a:rPr lang="zh-TW" dirty="0">
                <a:solidFill>
                  <a:srgbClr val="B47EFF"/>
                </a:solidFill>
              </a:rPr>
              <a:t>確定性執行</a:t>
            </a:r>
          </a:p>
          <a:p>
            <a:pPr algn="l">
              <a:spcAft>
                <a:spcPts val="660"/>
              </a:spcAft>
              <a:defRPr sz="13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批次清洗/轉換</a:t>
            </a:r>
          </a:p>
          <a:p>
            <a:pPr algn="l">
              <a:spcAft>
                <a:spcPts val="660"/>
              </a:spcAft>
              <a:defRPr sz="600" b="0">
                <a:solidFill>
                  <a:srgbClr val="444444"/>
                </a:solidFill>
                <a:latin typeface="Microsoft JhengHei"/>
              </a:defRPr>
            </a:pPr>
            <a:endParaRPr/>
          </a:p>
          <a:p>
            <a:pPr algn="l">
              <a:spcAft>
                <a:spcPts val="660"/>
              </a:spcAft>
              <a:defRPr sz="1400" b="1">
                <a:solidFill>
                  <a:srgbClr val="B47EFF"/>
                </a:solidFill>
                <a:latin typeface="Microsoft JhengHei"/>
              </a:defRPr>
            </a:pPr>
            <a:r>
              <a:rPr lang="zh-TW" dirty="0">
                <a:solidFill>
                  <a:srgbClr val="B47EFF"/>
                </a:solidFill>
              </a:rPr>
              <a:t>自動驗證</a:t>
            </a:r>
          </a:p>
          <a:p>
            <a:pPr algn="l">
              <a:spcAft>
                <a:spcPts val="660"/>
              </a:spcAft>
              <a:defRPr sz="1300" b="0">
                <a:solidFill>
                  <a:srgbClr val="555555"/>
                </a:solidFill>
                <a:latin typeface="Microsoft JhengHei"/>
              </a:defRPr>
            </a:pPr>
            <a:r>
              <a:rPr lang="zh-TW" dirty="0">
                <a:solidFill>
                  <a:srgbClr val="555555"/>
                </a:solidFill>
              </a:rPr>
              <a:t>資料一致性檢查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898606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C000"/>
                </a:solidFill>
                <a:latin typeface="Microsoft JhengHei"/>
              </a:defRPr>
            </a:pPr>
            <a:r>
              <a:rPr lang="zh-TW" dirty="0">
                <a:solidFill>
                  <a:srgbClr val="FFC000"/>
                </a:solidFill>
              </a:rPr>
              <a:t>關鍵：架構是通用的，專業知識是可抽換的</a:t>
            </a:r>
          </a:p>
        </p:txBody>
      </p:sp>
    </p:spTree>
    <p:extLst>
      <p:ext uri="{BB962C8B-B14F-4D97-AF65-F5344CB8AC3E}">
        <p14:creationId xmlns:p14="http://schemas.microsoft.com/office/powerpoint/2010/main" val="1265279155"/>
      </p:ext>
    </p:extLst>
  </p:cSld>
  <p:clrMapOvr>
    <a:masterClrMapping/>
  </p:clrMapOvr>
</p:sld>
</file>

<file path=ppt/theme/theme1.xml><?xml version="1.0" encoding="utf-8"?>
<a:theme xmlns:a="http://schemas.openxmlformats.org/drawingml/2006/main" name="ELEMENTS_2019範本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訂 3">
      <a:majorFont>
        <a:latin typeface="Calibri"/>
        <a:ea typeface="微軟正黑體"/>
        <a:cs typeface=""/>
      </a:majorFont>
      <a:minorFont>
        <a:latin typeface="Calibri"/>
        <a:ea typeface="微軟正黑體"/>
        <a:cs typeface="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簡報1" id="{9A669315-8256-42D5-9633-6B3D51CDEE15}" vid="{C038AB15-52E3-4206-98D0-7B2D1E5663BB}"/>
    </a:ext>
  </a:extLst>
</a:theme>
</file>

<file path=ppt/theme/theme2.xml><?xml version="1.0" encoding="utf-8"?>
<a:theme xmlns:a="http://schemas.openxmlformats.org/drawingml/2006/main" name="elements green">
  <a:themeElements>
    <a:clrScheme name="綠色">
      <a:dk1>
        <a:sysClr val="windowText" lastClr="000000"/>
      </a:dk1>
      <a:lt1>
        <a:sysClr val="window" lastClr="FFFFFF"/>
      </a:lt1>
      <a:dk2>
        <a:srgbClr val="455F51"/>
      </a:dk2>
      <a:lt2>
        <a:srgbClr val="E3DED1"/>
      </a:lt2>
      <a:accent1>
        <a:srgbClr val="549E39"/>
      </a:accent1>
      <a:accent2>
        <a:srgbClr val="8AB833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6B9F25"/>
      </a:hlink>
      <a:folHlink>
        <a:srgbClr val="BA6906"/>
      </a:folHlink>
    </a:clrScheme>
    <a:fontScheme name="自訂 2">
      <a:majorFont>
        <a:latin typeface="Calibri"/>
        <a:ea typeface="微軟正黑體"/>
        <a:cs typeface=""/>
      </a:majorFont>
      <a:minorFont>
        <a:latin typeface="Calibri"/>
        <a:ea typeface="微軟正黑體"/>
        <a:cs typeface="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簡報1" id="{9A669315-8256-42D5-9633-6B3D51CDEE15}" vid="{CAD78A8B-EB94-488A-B5CB-86DC33F2A061}"/>
    </a:ext>
  </a:extLst>
</a:theme>
</file>

<file path=ppt/theme/theme3.xml><?xml version="1.0" encoding="utf-8"?>
<a:theme xmlns:a="http://schemas.openxmlformats.org/drawingml/2006/main" name="elements purple">
  <a:themeElements>
    <a:clrScheme name="紫蘿蘭色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自訂 2">
      <a:majorFont>
        <a:latin typeface="Calibri"/>
        <a:ea typeface="微軟正黑體"/>
        <a:cs typeface=""/>
      </a:majorFont>
      <a:minorFont>
        <a:latin typeface="Calibri"/>
        <a:ea typeface="微軟正黑體"/>
        <a:cs typeface="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簡報1" id="{9A669315-8256-42D5-9633-6B3D51CDEE15}" vid="{C49F6DA5-2C38-4953-A598-F6F4600445F3}"/>
    </a:ext>
  </a:extLst>
</a:theme>
</file>

<file path=ppt/theme/theme4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5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AC048EB-2646-45CA-BCA2-E989F96C6C17}">
  <we:reference id="wa200010001" version="1.0.0.0" store="zh-TW" storeType="OMEX"/>
  <we:alternateReferences>
    <we:reference id="wa200010001" version="1.0.0.0" store="WA200010001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2022第四季圓方PPT範本</Template>
  <TotalTime>680</TotalTime>
  <Words>2876</Words>
  <Application>Microsoft Office PowerPoint</Application>
  <PresentationFormat>寬螢幕</PresentationFormat>
  <Paragraphs>668</Paragraphs>
  <Slides>25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3</vt:i4>
      </vt:variant>
      <vt:variant>
        <vt:lpstr>投影片標題</vt:lpstr>
      </vt:variant>
      <vt:variant>
        <vt:i4>25</vt:i4>
      </vt:variant>
    </vt:vector>
  </HeadingPairs>
  <TitlesOfParts>
    <vt:vector size="36" baseType="lpstr">
      <vt:lpstr>Arial Unicode MS</vt:lpstr>
      <vt:lpstr>Microsoft JhengHei</vt:lpstr>
      <vt:lpstr>Microsoft JhengHei</vt:lpstr>
      <vt:lpstr>Aptos</vt:lpstr>
      <vt:lpstr>Arial</vt:lpstr>
      <vt:lpstr>Calibri</vt:lpstr>
      <vt:lpstr>Calibri Light</vt:lpstr>
      <vt:lpstr>Tw Cen MT</vt:lpstr>
      <vt:lpstr>ELEMENTS_2019範本</vt:lpstr>
      <vt:lpstr>elements green</vt:lpstr>
      <vt:lpstr>elements purple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User9 Elements</cp:lastModifiedBy>
  <cp:revision>93</cp:revision>
  <dcterms:created xsi:type="dcterms:W3CDTF">2013-01-27T09:14:16Z</dcterms:created>
  <dcterms:modified xsi:type="dcterms:W3CDTF">2026-03-11T07:17:15Z</dcterms:modified>
  <cp:category/>
</cp:coreProperties>
</file>